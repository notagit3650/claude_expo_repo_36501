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is matters" id="{fd277712-4e8e-8b51-596a-d00b97d0eda8}">
          <p14:sldIdLst>
            <p14:sldId id="256"/>
            <p14:sldId id="257"/>
            <p14:sldId id="258"/>
          </p14:sldIdLst>
        </p14:section>
        <p14:section name="Way 1: the knowledge is already there" id="{fd99ba7e-5a98-4fbb-9184-c75685c25a04}">
          <p14:sldIdLst>
            <p14:sldId id="259"/>
            <p14:sldId id="260"/>
            <p14:sldId id="261"/>
          </p14:sldIdLst>
        </p14:section>
        <p14:section name="Way 2: genuinely new knowledge" id="{86bf0625-d082-062d-08c0-e38e262fcc2e}">
          <p14:sldIdLst>
            <p14:sldId id="262"/>
            <p14:sldId id="263"/>
            <p14:sldId id="264"/>
            <p14:sldId id="265"/>
            <p14:sldId id="266"/>
            <p14:sldId id="267"/>
            <p14:sldId id="268"/>
            <p14:sldId id="269"/>
            <p14:sldId id="270"/>
          </p14:sldIdLst>
        </p14:section>
        <p14:section name="Ongoing work and summary" id="{24e1a31e-a281-e527-cc9a-198dc477be6e}">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question for today: when an AI needs to know something new, do we retrain it, or can we teach it? And a second one I spent this year on: does it matter which language it learns in? Very high level, almost no numbers, and I'll leave you with a question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amazing models out there, but doctors hesitate: in the latest AMA survey, 86% of physicians need data-privacy assurances before adopting AI, because the big models run on someone else's cluster. We want a small model that runs locally and still understands medicine. Can we make a model understand a domain without retraining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fix: train it some more. Two problems. Expensive: about 48 billion words, weeks on 8 GPUs. And it forgets: after medical training the model gets worse at simple things it could do before. Catastrophic forgetting. Can we teach instead of retrain?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well a model answers a fact depends on how often it has seen it. The curve rises steeply with repetition, but even a fact seen once leaves a small, real trace. For rare facts the information is in there, weakly, and it gets drowned out by higher-level computation on the way to the output. If the knowledge is already there, we don't need training. We need to help it out. (Bar heights sketch the log-linear trend; exact numbers in the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opened the black box. Inside one layer, each dot a sentence, medical sentences sit in their own corner, cleanly separated. Knowledge has an address. So we can point at it: one arrow, v, from everything-else to medical.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model answers, add that arrow to its activity at one layer. One addition, no training, nothing forgotten. And where you add it matters: at the MLP layers, the memory blocks, factual recall improves by 45%, more than double the usual spot. Facts live in the MLPs. But steering can only surface what the model has already read. For yesterday's news: Way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language model is trained once on a giant snapshot of text, then frozen. The models we use stopped reading around the end of 2023. Everything after that it never saw. Ask it and it guesses, confidently. So: how do we keep it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Rebuilding from scratch: Llama 3 took 15.6 trillion words and about 30 million GPU-hours. Instead we keep training the existing model on six billion words of fresh news, 2,500 times less text. It learns the news. It still forgets a little. Can we minimise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therapy, people open up in their own language: Dewaele and Costa followed 182 multilingual clients and found they switch to their first language when the emotional tone rises. So our models must work in German and French too. Training once per language multiplies the cost. If what it learns in one language carries over, we train once.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model, no chain-of-thought. It reads the news in English only. I ask about the same event in German or French. Does it keep the answer? We updated models on English, German or French news, then asked the exact same facts, about fifteen thousand, translated, in all three languages. Who thinks it transfers?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 mostly. About 70% of the accuracy gain survives when you ask in another language, between 57 and 88% depending on direction. French to English travels better than English to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 facts from before 2023: kept, slightly up. General skills on twenty tests in three languages: they slip. French-only loses 1.2, German 1.3, English 0.5. Test the French model only in French and it looks fine. Catastrophic forgetting in a new disguise, and the multilingual lens makes it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idea: don't read only German, mix all three newspapers. A balanced mix learns more facts than any single language and loses much less. Can we do even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three single-language models and average their weights: add the numbers, divide by three. No training. Model soups, Wortsman et al. 2022. As many new facts as the mixture, plus 5.1, and zero skill loss. It beats every single-language model on both axes. Language-specific updates can be trained separately and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in one picture. Right means more new facts learned; up means general skills kept. Each single-language update learns but forgets. The mixture learns the most and forgets less. The average of the three single-language models, no extra training, sits top right: as many facts as the mixture and nothing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new knowledge live? In the same place steering found: keep only the MLP changes and about 95% of the new facts survive, mostly in the first half of the layers. And the three language updates point in different directions; the average is the good one. So: if we know where and which way, maybe we probe the MLPs, find that direction and nudge there directly, like steering, instead of training three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the three reasons this matters. A local medical model: steer it. Genuinely new knowledge: hand it the newspaper, then average the language versions. Every language: train once, mostly, and test in every language. The thread: knowledge has an address and a direction. Next step: find the direction without training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ph idx="102" type="body" hasCustomPrompt="1"/>
          </p:nvPr>
        </p:nvSpPr>
        <p:spPr>
          <a:xfrm>
            <a:off x="640080" y="5989320"/>
            <a:ext cx="10908792" cy="548640"/>
          </a:xfrm>
          <a:prstGeom prst="rect">
            <a:avLst/>
          </a:prstGeom>
          <a:noFill/>
          <a:ln/>
        </p:spPr>
        <p:txBody>
          <a:bodyPr wrap="square" rtlCol="0"/>
          <a:lstStyle>
            <a:lvl1pPr indent="0" marL="0">
              <a:buNone/>
              <a:defRPr lang="en-US" sz="1800" b="1" dirty="0">
                <a:solidFill>
                  <a:schemeClr val="tx1"/>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10908792" cy="320040"/>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640080" y="1828800"/>
            <a:ext cx="10908792" cy="1463040"/>
          </a:xfrm>
          <a:prstGeom prst="rect">
            <a:avLst/>
          </a:prstGeom>
          <a:noFill/>
          <a:ln/>
        </p:spPr>
        <p:txBody>
          <a:bodyPr wrap="square" rtlCol="0"/>
          <a:lstStyle>
            <a:lvl1pPr algn="l" indent="0" marL="0">
              <a:buNone/>
              <a:defRPr lang="en-US" sz="6600" b="1" dirty="0">
                <a:solidFill>
                  <a:schemeClr val="tx1"/>
                </a:solidFill>
              </a:defRPr>
            </a:lvl1pPr>
          </a:lstStyle>
          <a:p>
            <a:pPr algn="l" indent="0" marL="0">
              <a:buNone/>
            </a:pPr>
            <a:endParaRPr lang="en-US" sz="6600" dirty="0"/>
          </a:p>
        </p:txBody>
      </p:sp>
      <p:sp>
        <p:nvSpPr>
          <p:cNvPr id="4" name="Text 0"/>
          <p:cNvSpPr/>
          <p:nvPr>
            <p:ph idx="102" type="body" hasCustomPrompt="1"/>
          </p:nvPr>
        </p:nvSpPr>
        <p:spPr>
          <a:xfrm>
            <a:off x="640080" y="3383280"/>
            <a:ext cx="10908792" cy="914400"/>
          </a:xfrm>
          <a:prstGeom prst="rect">
            <a:avLst/>
          </a:prstGeom>
          <a:noFill/>
          <a:ln/>
        </p:spPr>
        <p:txBody>
          <a:bodyPr wrap="square" rtlCol="0"/>
          <a:lstStyle>
            <a:lvl1pPr indent="0" marL="0">
              <a:buNone/>
              <a:defRPr lang="en-US" sz="2800" dirty="0">
                <a:solidFill>
                  <a:schemeClr val="tx2"/>
                </a:solidFill>
              </a:defRPr>
            </a:lvl1pPr>
          </a:lstStyle>
          <a:p>
            <a:pPr indent="0" marL="0">
              <a:buNone/>
            </a:pPr>
            <a:endParaRPr lang="en-US" sz="2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46304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MHM LAB MEETING</a:t>
            </a:r>
            <a:endParaRPr lang="en-US" sz="1200" dirty="0"/>
          </a:p>
        </p:txBody>
      </p:sp>
      <p:sp>
        <p:nvSpPr>
          <p:cNvPr id="3" name="Text 0"/>
          <p:cNvSpPr/>
          <p:nvPr>
            <p:ph idx="101" type="title" hasCustomPrompt="1"/>
          </p:nvPr>
        </p:nvSpPr>
        <p:spPr>
          <a:xfrm>
            <a:off x="640080" y="1828800"/>
            <a:ext cx="10908792" cy="1463040"/>
          </a:xfrm>
          <a:prstGeom prst="rect">
            <a:avLst/>
          </a:prstGeom>
          <a:noFill/>
          <a:ln/>
        </p:spPr>
        <p:txBody>
          <a:bodyPr wrap="square" lIns="0" tIns="0" rIns="0" bIns="0" rtlCol="0" anchor="t"/>
          <a:lstStyle/>
          <a:p>
            <a:pPr algn="l" indent="0" marL="0">
              <a:buNone/>
            </a:pPr>
            <a:r>
              <a:rPr lang="en-US" sz="6600" b="1" dirty="0">
                <a:solidFill>
                  <a:schemeClr val="tx1"/>
                </a:solidFill>
              </a:rPr>
              <a:t>Retrain or teach?</a:t>
            </a:r>
            <a:endParaRPr lang="en-US" sz="6600" dirty="0"/>
          </a:p>
        </p:txBody>
      </p:sp>
      <p:sp>
        <p:nvSpPr>
          <p:cNvPr id="4" name="Text 0"/>
          <p:cNvSpPr/>
          <p:nvPr>
            <p:ph idx="102" type="body" hasCustomPrompt="1"/>
          </p:nvPr>
        </p:nvSpPr>
        <p:spPr>
          <a:xfrm>
            <a:off x="640080" y="3383280"/>
            <a:ext cx="10908792" cy="914400"/>
          </a:xfrm>
          <a:prstGeom prst="rect">
            <a:avLst/>
          </a:prstGeom>
          <a:noFill/>
          <a:ln/>
        </p:spPr>
        <p:txBody>
          <a:bodyPr wrap="square" lIns="0" tIns="0" rIns="0" bIns="0" rtlCol="0" anchor="t"/>
          <a:lstStyle/>
          <a:p>
            <a:pPr indent="0" marL="0">
              <a:buNone/>
            </a:pPr>
            <a:r>
              <a:rPr lang="en-US" sz="2800" dirty="0">
                <a:solidFill>
                  <a:schemeClr val="tx2"/>
                </a:solidFill>
              </a:rPr>
              <a:t>How AI learns after it's built. </a:t>
            </a:r>
            <a:pPr indent="0" marL="0">
              <a:buNone/>
            </a:pPr>
            <a:r>
              <a:rPr lang="en-US" sz="2800" i="1" dirty="0">
                <a:solidFill>
                  <a:srgbClr val="6B7280"/>
                </a:solidFill>
              </a:rPr>
              <a:t>Does the language matter?</a:t>
            </a:r>
            <a:endParaRPr lang="en-US" sz="2800" dirty="0"/>
          </a:p>
        </p:txBody>
      </p:sp>
      <p:sp>
        <p:nvSpPr>
          <p:cNvPr id="5" name="Shape 3"/>
          <p:cNvSpPr/>
          <p:nvPr/>
        </p:nvSpPr>
        <p:spPr>
          <a:xfrm>
            <a:off x="640080" y="4892040"/>
            <a:ext cx="10908792" cy="0"/>
          </a:xfrm>
          <a:prstGeom prst="line">
            <a:avLst/>
          </a:prstGeom>
          <a:noFill/>
          <a:ln w="12700">
            <a:solidFill>
              <a:srgbClr val="E5E7EB"/>
            </a:solidFill>
            <a:prstDash val="solid"/>
          </a:ln>
        </p:spPr>
      </p:sp>
      <p:sp>
        <p:nvSpPr>
          <p:cNvPr id="6" name="Text 4"/>
          <p:cNvSpPr txBox="1"/>
          <p:nvPr/>
        </p:nvSpPr>
        <p:spPr>
          <a:xfrm>
            <a:off x="640080" y="5074920"/>
            <a:ext cx="2377440" cy="365760"/>
          </a:xfrm>
          <a:prstGeom prst="rect">
            <a:avLst/>
          </a:prstGeom>
          <a:noFill/>
          <a:ln/>
        </p:spPr>
        <p:txBody>
          <a:bodyPr wrap="square" lIns="0" tIns="0" rIns="0" bIns="0" rtlCol="0" anchor="ctr"/>
          <a:lstStyle/>
          <a:p>
            <a:pPr indent="0" marL="0">
              <a:buNone/>
            </a:pPr>
            <a:r>
              <a:rPr lang="en-US" sz="1700" b="1" dirty="0">
                <a:solidFill>
                  <a:srgbClr val="111827"/>
                </a:solidFill>
              </a:rPr>
              <a:t>Nitin Sharma</a:t>
            </a:r>
            <a:endParaRPr lang="en-US" sz="1700" dirty="0"/>
          </a:p>
        </p:txBody>
      </p:sp>
      <p:sp>
        <p:nvSpPr>
          <p:cNvPr id="7" name="Text 5"/>
          <p:cNvSpPr txBox="1"/>
          <p:nvPr/>
        </p:nvSpPr>
        <p:spPr>
          <a:xfrm>
            <a:off x="640080" y="5440680"/>
            <a:ext cx="2377440" cy="731520"/>
          </a:xfrm>
          <a:prstGeom prst="rect">
            <a:avLst/>
          </a:prstGeom>
          <a:noFill/>
          <a:ln/>
        </p:spPr>
        <p:txBody>
          <a:bodyPr wrap="square" lIns="0" tIns="0" rIns="0" bIns="0" rtlCol="0" anchor="t"/>
          <a:lstStyle/>
          <a:p>
            <a:pPr indent="0" marL="0">
              <a:buNone/>
            </a:pPr>
            <a:r>
              <a:rPr lang="en-US" sz="1150" dirty="0">
                <a:solidFill>
                  <a:srgbClr val="6B7280"/>
                </a:solidFill>
              </a:rPr>
              <a:t>Research Assistant</a:t>
            </a:r>
            <a:endParaRPr lang="en-US" sz="1150" dirty="0"/>
          </a:p>
          <a:p>
            <a:pPr indent="0" marL="0">
              <a:buNone/>
            </a:pPr>
            <a:r>
              <a:rPr lang="en-US" sz="1150" dirty="0">
                <a:solidFill>
                  <a:srgbClr val="6B7280"/>
                </a:solidFill>
              </a:rPr>
              <a:t>UKT Tübingen</a:t>
            </a:r>
            <a:endParaRPr lang="en-US" sz="1150" dirty="0"/>
          </a:p>
        </p:txBody>
      </p:sp>
      <p:sp>
        <p:nvSpPr>
          <p:cNvPr id="8" name="Text 6"/>
          <p:cNvSpPr txBox="1"/>
          <p:nvPr/>
        </p:nvSpPr>
        <p:spPr>
          <a:xfrm>
            <a:off x="3291840" y="5074920"/>
            <a:ext cx="3108960" cy="365760"/>
          </a:xfrm>
          <a:prstGeom prst="rect">
            <a:avLst/>
          </a:prstGeom>
          <a:noFill/>
          <a:ln/>
        </p:spPr>
        <p:txBody>
          <a:bodyPr wrap="square" lIns="0" tIns="0" rIns="0" bIns="0" rtlCol="0" anchor="ctr"/>
          <a:lstStyle/>
          <a:p>
            <a:pPr indent="0" marL="0">
              <a:buNone/>
            </a:pPr>
            <a:r>
              <a:rPr lang="en-US" sz="1500" b="1" dirty="0">
                <a:solidFill>
                  <a:srgbClr val="111827"/>
                </a:solidFill>
              </a:rPr>
              <a:t>Prof. Dr. Thomas Wolfers</a:t>
            </a:r>
            <a:endParaRPr lang="en-US" sz="1500" dirty="0"/>
          </a:p>
        </p:txBody>
      </p:sp>
      <p:sp>
        <p:nvSpPr>
          <p:cNvPr id="9" name="Text 7"/>
          <p:cNvSpPr txBox="1"/>
          <p:nvPr/>
        </p:nvSpPr>
        <p:spPr>
          <a:xfrm>
            <a:off x="3291840" y="5440680"/>
            <a:ext cx="3108960" cy="731520"/>
          </a:xfrm>
          <a:prstGeom prst="rect">
            <a:avLst/>
          </a:prstGeom>
          <a:noFill/>
          <a:ln/>
        </p:spPr>
        <p:txBody>
          <a:bodyPr wrap="square" lIns="0" tIns="0" rIns="0" bIns="0" rtlCol="0" anchor="t"/>
          <a:lstStyle/>
          <a:p>
            <a:pPr indent="0" marL="0">
              <a:buNone/>
            </a:pPr>
            <a:r>
              <a:rPr lang="en-US" sz="1150" dirty="0">
                <a:solidFill>
                  <a:srgbClr val="6B7280"/>
                </a:solidFill>
              </a:rPr>
              <a:t>Carl Zeiss Professor for AI in Neural Systems Imaging, FSU Jena</a:t>
            </a:r>
            <a:endParaRPr lang="en-US" sz="1150" dirty="0"/>
          </a:p>
        </p:txBody>
      </p:sp>
      <p:sp>
        <p:nvSpPr>
          <p:cNvPr id="10" name="Text 8"/>
          <p:cNvSpPr txBox="1"/>
          <p:nvPr/>
        </p:nvSpPr>
        <p:spPr>
          <a:xfrm>
            <a:off x="6675120" y="5074920"/>
            <a:ext cx="3108960" cy="365760"/>
          </a:xfrm>
          <a:prstGeom prst="rect">
            <a:avLst/>
          </a:prstGeom>
          <a:noFill/>
          <a:ln/>
        </p:spPr>
        <p:txBody>
          <a:bodyPr wrap="square" lIns="0" tIns="0" rIns="0" bIns="0" rtlCol="0" anchor="ctr"/>
          <a:lstStyle/>
          <a:p>
            <a:pPr indent="0" marL="0">
              <a:buNone/>
            </a:pPr>
            <a:r>
              <a:rPr lang="en-US" sz="1500" b="1" dirty="0">
                <a:solidFill>
                  <a:srgbClr val="111827"/>
                </a:solidFill>
              </a:rPr>
              <a:t>Dr. Çağatay Yıldız</a:t>
            </a:r>
            <a:endParaRPr lang="en-US" sz="1500" dirty="0"/>
          </a:p>
        </p:txBody>
      </p:sp>
      <p:sp>
        <p:nvSpPr>
          <p:cNvPr id="11" name="Text 9"/>
          <p:cNvSpPr txBox="1"/>
          <p:nvPr/>
        </p:nvSpPr>
        <p:spPr>
          <a:xfrm>
            <a:off x="6675120" y="5440680"/>
            <a:ext cx="3108960" cy="731520"/>
          </a:xfrm>
          <a:prstGeom prst="rect">
            <a:avLst/>
          </a:prstGeom>
          <a:noFill/>
          <a:ln/>
        </p:spPr>
        <p:txBody>
          <a:bodyPr wrap="square" lIns="0" tIns="0" rIns="0" bIns="0" rtlCol="0" anchor="t"/>
          <a:lstStyle/>
          <a:p>
            <a:pPr indent="0" marL="0">
              <a:buNone/>
            </a:pPr>
            <a:r>
              <a:rPr lang="en-US" sz="1150" dirty="0">
                <a:solidFill>
                  <a:srgbClr val="6B7280"/>
                </a:solidFill>
              </a:rPr>
              <a:t>Cluster of Excellence ML for Science, University of Tübingen</a:t>
            </a:r>
            <a:endParaRPr lang="en-US" sz="1150" dirty="0"/>
          </a:p>
        </p:txBody>
      </p:sp>
      <p:sp>
        <p:nvSpPr>
          <p:cNvPr id="12" name="Text 10"/>
          <p:cNvSpPr txBox="1"/>
          <p:nvPr/>
        </p:nvSpPr>
        <p:spPr>
          <a:xfrm>
            <a:off x="9692640" y="5074920"/>
            <a:ext cx="1828800" cy="365760"/>
          </a:xfrm>
          <a:prstGeom prst="rect">
            <a:avLst/>
          </a:prstGeom>
          <a:noFill/>
          <a:ln/>
        </p:spPr>
        <p:txBody>
          <a:bodyPr wrap="square" lIns="0" tIns="0" rIns="0" bIns="0" rtlCol="0" anchor="ctr"/>
          <a:lstStyle/>
          <a:p>
            <a:pPr algn="r" indent="0" marL="0">
              <a:buNone/>
            </a:pPr>
            <a:r>
              <a:rPr lang="en-US" sz="1500" b="1" dirty="0">
                <a:solidFill>
                  <a:srgbClr val="111827"/>
                </a:solidFill>
              </a:rPr>
              <a:t>MHM Lab</a:t>
            </a:r>
            <a:endParaRPr lang="en-US" sz="1500" dirty="0"/>
          </a:p>
        </p:txBody>
      </p:sp>
      <p:sp>
        <p:nvSpPr>
          <p:cNvPr id="13" name="Text 11"/>
          <p:cNvSpPr txBox="1"/>
          <p:nvPr/>
        </p:nvSpPr>
        <p:spPr>
          <a:xfrm>
            <a:off x="9144000" y="5440680"/>
            <a:ext cx="2377440" cy="365760"/>
          </a:xfrm>
          <a:prstGeom prst="rect">
            <a:avLst/>
          </a:prstGeom>
          <a:noFill/>
          <a:ln/>
        </p:spPr>
        <p:txBody>
          <a:bodyPr wrap="square" lIns="0" tIns="0" rIns="0" bIns="0" rtlCol="0" anchor="ctr"/>
          <a:lstStyle/>
          <a:p>
            <a:pPr algn="r" indent="0" marL="0">
              <a:buNone/>
            </a:pPr>
            <a:r>
              <a:rPr lang="en-US" sz="1150" dirty="0">
                <a:solidFill>
                  <a:srgbClr val="6B7280"/>
                </a:solidFill>
              </a:rPr>
              <a:t>Mental Health Mapping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WHY THIS MATTERS · 1</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Doctors want AI. </a:t>
            </a:r>
            <a:pPr algn="l" indent="0" marL="0">
              <a:buNone/>
            </a:pPr>
            <a:r>
              <a:rPr lang="en-US" sz="3200" b="1" i="1" dirty="0">
                <a:solidFill>
                  <a:srgbClr val="6B7280"/>
                </a:solidFill>
              </a:rPr>
              <a:t>Not on someone else's computer.</a:t>
            </a:r>
            <a:endParaRPr lang="en-US" sz="3200" dirty="0"/>
          </a:p>
        </p:txBody>
      </p:sp>
      <p:sp>
        <p:nvSpPr>
          <p:cNvPr id="4" name="Text 2"/>
          <p:cNvSpPr txBox="1"/>
          <p:nvPr/>
        </p:nvSpPr>
        <p:spPr>
          <a:xfrm>
            <a:off x="640080" y="2103120"/>
            <a:ext cx="4754880" cy="1737360"/>
          </a:xfrm>
          <a:prstGeom prst="rect">
            <a:avLst/>
          </a:prstGeom>
          <a:noFill/>
          <a:ln/>
        </p:spPr>
        <p:txBody>
          <a:bodyPr wrap="square" lIns="0" tIns="0" rIns="0" bIns="0" rtlCol="0" anchor="ctr"/>
          <a:lstStyle/>
          <a:p>
            <a:pPr algn="ctr" indent="0" marL="0">
              <a:buNone/>
            </a:pPr>
            <a:r>
              <a:rPr lang="en-US" sz="12000" b="1" dirty="0">
                <a:solidFill>
                  <a:srgbClr val="C2410C"/>
                </a:solidFill>
                <a:latin typeface="Cambria" pitchFamily="34" charset="0"/>
                <a:ea typeface="Cambria" pitchFamily="34" charset="-122"/>
                <a:cs typeface="Cambria" pitchFamily="34" charset="-120"/>
              </a:rPr>
              <a:t>86%</a:t>
            </a:r>
            <a:endParaRPr lang="en-US" sz="12000" dirty="0"/>
          </a:p>
        </p:txBody>
      </p:sp>
      <p:sp>
        <p:nvSpPr>
          <p:cNvPr id="5" name="Text 3"/>
          <p:cNvSpPr txBox="1"/>
          <p:nvPr/>
        </p:nvSpPr>
        <p:spPr>
          <a:xfrm>
            <a:off x="914400" y="3931920"/>
            <a:ext cx="4206240" cy="822960"/>
          </a:xfrm>
          <a:prstGeom prst="rect">
            <a:avLst/>
          </a:prstGeom>
          <a:noFill/>
          <a:ln/>
        </p:spPr>
        <p:txBody>
          <a:bodyPr wrap="square" lIns="0" tIns="0" rIns="0" bIns="0" rtlCol="0" anchor="ctr"/>
          <a:lstStyle/>
          <a:p>
            <a:pPr algn="ctr" indent="0" marL="0">
              <a:buNone/>
            </a:pPr>
            <a:r>
              <a:rPr lang="en-US" sz="1600" dirty="0">
                <a:solidFill>
                  <a:srgbClr val="374151"/>
                </a:solidFill>
              </a:rPr>
              <a:t>of physicians need data-privacy assurances before they would adopt AI in practice</a:t>
            </a:r>
            <a:endParaRPr lang="en-US" sz="1600" dirty="0"/>
          </a:p>
        </p:txBody>
      </p:sp>
      <p:sp>
        <p:nvSpPr>
          <p:cNvPr id="6" name="Text 4"/>
          <p:cNvSpPr txBox="1"/>
          <p:nvPr/>
        </p:nvSpPr>
        <p:spPr>
          <a:xfrm>
            <a:off x="640080" y="4800600"/>
            <a:ext cx="4754880" cy="320040"/>
          </a:xfrm>
          <a:prstGeom prst="rect">
            <a:avLst/>
          </a:prstGeom>
          <a:noFill/>
          <a:ln/>
        </p:spPr>
        <p:txBody>
          <a:bodyPr wrap="square" lIns="0" tIns="0" rIns="0" bIns="0" rtlCol="0" anchor="ctr"/>
          <a:lstStyle/>
          <a:p>
            <a:pPr algn="ctr" indent="0" marL="0">
              <a:buNone/>
            </a:pPr>
            <a:r>
              <a:rPr lang="en-US" sz="1200" dirty="0">
                <a:solidFill>
                  <a:srgbClr val="9CA3AF"/>
                </a:solidFill>
              </a:rPr>
              <a:t>AMA physician survey, 2026</a:t>
            </a:r>
            <a:endParaRPr lang="en-US" sz="1200" dirty="0"/>
          </a:p>
        </p:txBody>
      </p:sp>
      <p:sp>
        <p:nvSpPr>
          <p:cNvPr id="7" name="Shape 5"/>
          <p:cNvSpPr/>
          <p:nvPr/>
        </p:nvSpPr>
        <p:spPr>
          <a:xfrm>
            <a:off x="6217920" y="2651760"/>
            <a:ext cx="5303520" cy="1097280"/>
          </a:xfrm>
          <a:prstGeom prst="roundRect">
            <a:avLst>
              <a:gd name="adj" fmla="val 10000"/>
            </a:avLst>
          </a:prstGeom>
          <a:solidFill>
            <a:srgbClr val="F9FAFB"/>
          </a:solidFill>
          <a:ln w="12700">
            <a:solidFill>
              <a:srgbClr val="E5E7EB"/>
            </a:solidFill>
            <a:prstDash val="solid"/>
          </a:ln>
        </p:spPr>
      </p:sp>
      <p:pic>
        <p:nvPicPr>
          <p:cNvPr id="8" name="Image 0" descr="preencoded.png">    </p:cNvPr>
          <p:cNvPicPr>
            <a:picLocks noChangeAspect="1"/>
          </p:cNvPicPr>
          <p:nvPr/>
        </p:nvPicPr>
        <p:blipFill>
          <a:blip r:embed="rId1"/>
          <a:stretch>
            <a:fillRect/>
          </a:stretch>
        </p:blipFill>
        <p:spPr>
          <a:xfrm>
            <a:off x="6446520" y="2880360"/>
            <a:ext cx="640080" cy="640080"/>
          </a:xfrm>
          <a:prstGeom prst="rect">
            <a:avLst/>
          </a:prstGeom>
        </p:spPr>
      </p:pic>
      <p:sp>
        <p:nvSpPr>
          <p:cNvPr id="9" name="Text 6"/>
          <p:cNvSpPr txBox="1"/>
          <p:nvPr/>
        </p:nvSpPr>
        <p:spPr>
          <a:xfrm>
            <a:off x="7269480" y="2651760"/>
            <a:ext cx="4114800" cy="1097280"/>
          </a:xfrm>
          <a:prstGeom prst="rect">
            <a:avLst/>
          </a:prstGeom>
          <a:noFill/>
          <a:ln/>
        </p:spPr>
        <p:txBody>
          <a:bodyPr wrap="square" lIns="0" tIns="0" rIns="0" bIns="0" rtlCol="0" anchor="ctr"/>
          <a:lstStyle/>
          <a:p>
            <a:pPr indent="0" marL="0">
              <a:buNone/>
            </a:pPr>
            <a:r>
              <a:rPr lang="en-US" sz="1800" b="1" dirty="0">
                <a:solidFill>
                  <a:srgbClr val="6B7280"/>
                </a:solidFill>
              </a:rPr>
              <a:t>Big model: patient data leaves the clinic</a:t>
            </a:r>
            <a:endParaRPr lang="en-US" sz="1800" dirty="0"/>
          </a:p>
        </p:txBody>
      </p:sp>
      <p:sp>
        <p:nvSpPr>
          <p:cNvPr id="10" name="Shape 7"/>
          <p:cNvSpPr/>
          <p:nvPr/>
        </p:nvSpPr>
        <p:spPr>
          <a:xfrm>
            <a:off x="6217920" y="4023360"/>
            <a:ext cx="5303520" cy="1097280"/>
          </a:xfrm>
          <a:prstGeom prst="roundRect">
            <a:avLst>
              <a:gd name="adj" fmla="val 10000"/>
            </a:avLst>
          </a:prstGeom>
          <a:solidFill>
            <a:srgbClr val="FFF7ED"/>
          </a:solidFill>
          <a:ln w="12700">
            <a:solidFill>
              <a:srgbClr val="FDBA74"/>
            </a:solidFill>
            <a:prstDash val="solid"/>
          </a:ln>
        </p:spPr>
      </p:sp>
      <p:pic>
        <p:nvPicPr>
          <p:cNvPr id="11" name="Image 1" descr="preencoded.png">    </p:cNvPr>
          <p:cNvPicPr>
            <a:picLocks noChangeAspect="1"/>
          </p:cNvPicPr>
          <p:nvPr/>
        </p:nvPicPr>
        <p:blipFill>
          <a:blip r:embed="rId2"/>
          <a:stretch>
            <a:fillRect/>
          </a:stretch>
        </p:blipFill>
        <p:spPr>
          <a:xfrm>
            <a:off x="6446520" y="4251960"/>
            <a:ext cx="640080" cy="640080"/>
          </a:xfrm>
          <a:prstGeom prst="rect">
            <a:avLst/>
          </a:prstGeom>
        </p:spPr>
      </p:pic>
      <p:sp>
        <p:nvSpPr>
          <p:cNvPr id="12" name="Text 8"/>
          <p:cNvSpPr txBox="1"/>
          <p:nvPr/>
        </p:nvSpPr>
        <p:spPr>
          <a:xfrm>
            <a:off x="7269480" y="4023360"/>
            <a:ext cx="4114800" cy="1097280"/>
          </a:xfrm>
          <a:prstGeom prst="rect">
            <a:avLst/>
          </a:prstGeom>
          <a:noFill/>
          <a:ln/>
        </p:spPr>
        <p:txBody>
          <a:bodyPr wrap="square" lIns="0" tIns="0" rIns="0" bIns="0" rtlCol="0" anchor="ctr"/>
          <a:lstStyle/>
          <a:p>
            <a:pPr indent="0" marL="0">
              <a:buNone/>
            </a:pPr>
            <a:r>
              <a:rPr lang="en-US" sz="1800" b="1" dirty="0">
                <a:solidFill>
                  <a:srgbClr val="111827"/>
                </a:solidFill>
              </a:rPr>
              <a:t>Small model: runs locally, still knows medicine</a:t>
            </a:r>
            <a:endParaRPr lang="en-US" sz="1800" dirty="0"/>
          </a:p>
        </p:txBody>
      </p:sp>
      <p:sp>
        <p:nvSpPr>
          <p:cNvPr id="13"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We need small models that run in the clinic. </a:t>
            </a:r>
            <a:pPr indent="0" marL="0">
              <a:buNone/>
            </a:pPr>
            <a:r>
              <a:rPr lang="en-US" sz="1800" b="1" i="1" dirty="0">
                <a:solidFill>
                  <a:srgbClr val="6B7280"/>
                </a:solidFill>
              </a:rPr>
              <a:t>Can we make one understand medicine without retraining it?</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THE USUAL FIX</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Send it back to school. </a:t>
            </a:r>
            <a:pPr algn="l" indent="0" marL="0">
              <a:buNone/>
            </a:pPr>
            <a:r>
              <a:rPr lang="en-US" sz="3200" b="1" i="1" dirty="0">
                <a:solidFill>
                  <a:srgbClr val="6B7280"/>
                </a:solidFill>
              </a:rPr>
              <a:t>Expensive, and it forgets.</a:t>
            </a:r>
            <a:endParaRPr lang="en-US" sz="3200" dirty="0"/>
          </a:p>
        </p:txBody>
      </p:sp>
      <p:sp>
        <p:nvSpPr>
          <p:cNvPr id="4" name="Shape 2"/>
          <p:cNvSpPr/>
          <p:nvPr/>
        </p:nvSpPr>
        <p:spPr>
          <a:xfrm>
            <a:off x="640080" y="2194560"/>
            <a:ext cx="5257800" cy="3291840"/>
          </a:xfrm>
          <a:prstGeom prst="roundRect">
            <a:avLst>
              <a:gd name="adj" fmla="val 3333"/>
            </a:avLst>
          </a:prstGeom>
          <a:solidFill>
            <a:srgbClr val="F9FAFB"/>
          </a:solidFill>
          <a:ln w="12700">
            <a:solidFill>
              <a:srgbClr val="E5E7EB"/>
            </a:solidFill>
            <a:prstDash val="solid"/>
          </a:ln>
        </p:spPr>
      </p:sp>
      <p:sp>
        <p:nvSpPr>
          <p:cNvPr id="5" name="Text 3"/>
          <p:cNvSpPr txBox="1"/>
          <p:nvPr/>
        </p:nvSpPr>
        <p:spPr>
          <a:xfrm>
            <a:off x="640080" y="2423160"/>
            <a:ext cx="5257800" cy="274320"/>
          </a:xfrm>
          <a:prstGeom prst="rect">
            <a:avLst/>
          </a:prstGeom>
          <a:noFill/>
          <a:ln/>
        </p:spPr>
        <p:txBody>
          <a:bodyPr wrap="square" lIns="0" tIns="0" rIns="0" bIns="0" rtlCol="0" anchor="ctr"/>
          <a:lstStyle/>
          <a:p>
            <a:pPr algn="ctr" indent="0" marL="0">
              <a:buNone/>
            </a:pPr>
            <a:r>
              <a:rPr lang="en-US" sz="1100" b="1" spc="200" kern="0" dirty="0">
                <a:solidFill>
                  <a:srgbClr val="6B7280"/>
                </a:solidFill>
              </a:rPr>
              <a:t>TO TEACH IT MEDICINE</a:t>
            </a:r>
            <a:endParaRPr lang="en-US" sz="1100" dirty="0"/>
          </a:p>
        </p:txBody>
      </p:sp>
      <p:sp>
        <p:nvSpPr>
          <p:cNvPr id="6" name="Text 4"/>
          <p:cNvSpPr txBox="1"/>
          <p:nvPr/>
        </p:nvSpPr>
        <p:spPr>
          <a:xfrm>
            <a:off x="640080" y="2788920"/>
            <a:ext cx="5257800" cy="1280160"/>
          </a:xfrm>
          <a:prstGeom prst="rect">
            <a:avLst/>
          </a:prstGeom>
          <a:noFill/>
          <a:ln/>
        </p:spPr>
        <p:txBody>
          <a:bodyPr wrap="square" lIns="0" tIns="0" rIns="0" bIns="0" rtlCol="0" anchor="ctr"/>
          <a:lstStyle/>
          <a:p>
            <a:pPr algn="ctr" indent="0" marL="0">
              <a:buNone/>
            </a:pPr>
            <a:r>
              <a:rPr lang="en-US" sz="7200" b="1" dirty="0">
                <a:solidFill>
                  <a:srgbClr val="111827"/>
                </a:solidFill>
                <a:latin typeface="Cambria" pitchFamily="34" charset="0"/>
                <a:ea typeface="Cambria" pitchFamily="34" charset="-122"/>
                <a:cs typeface="Cambria" pitchFamily="34" charset="-120"/>
              </a:rPr>
              <a:t>~48B</a:t>
            </a:r>
            <a:endParaRPr lang="en-US" sz="7200" dirty="0"/>
          </a:p>
        </p:txBody>
      </p:sp>
      <p:sp>
        <p:nvSpPr>
          <p:cNvPr id="7" name="Text 5"/>
          <p:cNvSpPr txBox="1"/>
          <p:nvPr/>
        </p:nvSpPr>
        <p:spPr>
          <a:xfrm>
            <a:off x="1005840" y="4206240"/>
            <a:ext cx="4526280" cy="731520"/>
          </a:xfrm>
          <a:prstGeom prst="rect">
            <a:avLst/>
          </a:prstGeom>
          <a:noFill/>
          <a:ln/>
        </p:spPr>
        <p:txBody>
          <a:bodyPr wrap="square" lIns="0" tIns="0" rIns="0" bIns="0" rtlCol="0" anchor="ctr"/>
          <a:lstStyle/>
          <a:p>
            <a:pPr algn="ctr" indent="0" marL="0">
              <a:buNone/>
            </a:pPr>
            <a:r>
              <a:rPr lang="en-US" sz="1500" dirty="0">
                <a:solidFill>
                  <a:srgbClr val="374151"/>
                </a:solidFill>
              </a:rPr>
              <a:t>words of training, weeks on 8 GPUs</a:t>
            </a:r>
            <a:endParaRPr lang="en-US" sz="1500" dirty="0"/>
          </a:p>
        </p:txBody>
      </p:sp>
      <p:sp>
        <p:nvSpPr>
          <p:cNvPr id="8" name="Shape 6"/>
          <p:cNvSpPr/>
          <p:nvPr/>
        </p:nvSpPr>
        <p:spPr>
          <a:xfrm>
            <a:off x="6263640" y="2194560"/>
            <a:ext cx="5257800" cy="3291840"/>
          </a:xfrm>
          <a:prstGeom prst="roundRect">
            <a:avLst>
              <a:gd name="adj" fmla="val 3333"/>
            </a:avLst>
          </a:prstGeom>
          <a:solidFill>
            <a:srgbClr val="FFF7ED"/>
          </a:solidFill>
          <a:ln w="12700">
            <a:solidFill>
              <a:srgbClr val="FDBA74"/>
            </a:solidFill>
            <a:prstDash val="solid"/>
          </a:ln>
        </p:spPr>
      </p:sp>
      <p:sp>
        <p:nvSpPr>
          <p:cNvPr id="9" name="Text 7"/>
          <p:cNvSpPr txBox="1"/>
          <p:nvPr/>
        </p:nvSpPr>
        <p:spPr>
          <a:xfrm>
            <a:off x="6263640" y="2423160"/>
            <a:ext cx="5257800" cy="274320"/>
          </a:xfrm>
          <a:prstGeom prst="rect">
            <a:avLst/>
          </a:prstGeom>
          <a:noFill/>
          <a:ln/>
        </p:spPr>
        <p:txBody>
          <a:bodyPr wrap="square" lIns="0" tIns="0" rIns="0" bIns="0" rtlCol="0" anchor="ctr"/>
          <a:lstStyle/>
          <a:p>
            <a:pPr algn="ctr" indent="0" marL="0">
              <a:buNone/>
            </a:pPr>
            <a:r>
              <a:rPr lang="en-US" sz="1100" b="1" spc="200" kern="0" dirty="0">
                <a:solidFill>
                  <a:srgbClr val="C2410C"/>
                </a:solidFill>
              </a:rPr>
              <a:t>AND AFTERWARDS</a:t>
            </a:r>
            <a:endParaRPr lang="en-US" sz="1100" dirty="0"/>
          </a:p>
        </p:txBody>
      </p:sp>
      <p:sp>
        <p:nvSpPr>
          <p:cNvPr id="10" name="Text 8"/>
          <p:cNvSpPr txBox="1"/>
          <p:nvPr/>
        </p:nvSpPr>
        <p:spPr>
          <a:xfrm>
            <a:off x="6583680" y="2788920"/>
            <a:ext cx="4617720" cy="822960"/>
          </a:xfrm>
          <a:prstGeom prst="rect">
            <a:avLst/>
          </a:prstGeom>
          <a:noFill/>
          <a:ln/>
        </p:spPr>
        <p:txBody>
          <a:bodyPr wrap="square" lIns="0" tIns="0" rIns="0" bIns="0" rtlCol="0" anchor="ctr"/>
          <a:lstStyle/>
          <a:p>
            <a:pPr algn="ctr" indent="0" marL="0">
              <a:buNone/>
            </a:pPr>
            <a:r>
              <a:rPr lang="en-US" sz="1600" i="1" dirty="0">
                <a:solidFill>
                  <a:srgbClr val="374151"/>
                </a:solidFill>
              </a:rPr>
              <a:t>“Anna passed the file to Ben. Ben passed it to Clara. Who has it?”</a:t>
            </a:r>
            <a:endParaRPr lang="en-US" sz="1600" dirty="0"/>
          </a:p>
        </p:txBody>
      </p:sp>
      <p:sp>
        <p:nvSpPr>
          <p:cNvPr id="11" name="Shape 9"/>
          <p:cNvSpPr/>
          <p:nvPr/>
        </p:nvSpPr>
        <p:spPr>
          <a:xfrm>
            <a:off x="6858000" y="3794760"/>
            <a:ext cx="2011680" cy="1188720"/>
          </a:xfrm>
          <a:prstGeom prst="roundRect">
            <a:avLst>
              <a:gd name="adj" fmla="val 9231"/>
            </a:avLst>
          </a:prstGeom>
          <a:solidFill>
            <a:srgbClr val="FFFFFF"/>
          </a:solidFill>
          <a:ln w="19050">
            <a:solidFill>
              <a:srgbClr val="E5E7EB"/>
            </a:solidFill>
            <a:prstDash val="solid"/>
          </a:ln>
        </p:spPr>
      </p:sp>
      <p:sp>
        <p:nvSpPr>
          <p:cNvPr id="12" name="Text 10"/>
          <p:cNvSpPr txBox="1"/>
          <p:nvPr/>
        </p:nvSpPr>
        <p:spPr>
          <a:xfrm>
            <a:off x="6858000" y="3886200"/>
            <a:ext cx="2011680" cy="320040"/>
          </a:xfrm>
          <a:prstGeom prst="rect">
            <a:avLst/>
          </a:prstGeom>
          <a:noFill/>
          <a:ln/>
        </p:spPr>
        <p:txBody>
          <a:bodyPr wrap="square" lIns="0" tIns="0" rIns="0" bIns="0" rtlCol="0" anchor="ctr"/>
          <a:lstStyle/>
          <a:p>
            <a:pPr algn="ctr" indent="0" marL="0">
              <a:buNone/>
            </a:pPr>
            <a:r>
              <a:rPr lang="en-US" sz="1200" dirty="0">
                <a:solidFill>
                  <a:srgbClr val="6B7280"/>
                </a:solidFill>
              </a:rPr>
              <a:t>before</a:t>
            </a:r>
            <a:endParaRPr lang="en-US" sz="1200" dirty="0"/>
          </a:p>
        </p:txBody>
      </p:sp>
      <p:sp>
        <p:nvSpPr>
          <p:cNvPr id="13" name="Text 11"/>
          <p:cNvSpPr txBox="1"/>
          <p:nvPr/>
        </p:nvSpPr>
        <p:spPr>
          <a:xfrm>
            <a:off x="6858000" y="4206240"/>
            <a:ext cx="2011680" cy="640080"/>
          </a:xfrm>
          <a:prstGeom prst="rect">
            <a:avLst/>
          </a:prstGeom>
          <a:noFill/>
          <a:ln/>
        </p:spPr>
        <p:txBody>
          <a:bodyPr wrap="square" lIns="0" tIns="0" rIns="0" bIns="0" rtlCol="0" anchor="ctr"/>
          <a:lstStyle/>
          <a:p>
            <a:pPr algn="ctr" indent="0" marL="0">
              <a:buNone/>
            </a:pPr>
            <a:r>
              <a:rPr lang="en-US" sz="2400" b="1" dirty="0">
                <a:solidFill>
                  <a:srgbClr val="111827"/>
                </a:solidFill>
              </a:rPr>
              <a:t>Clara ✓</a:t>
            </a:r>
            <a:endParaRPr lang="en-US" sz="2400" dirty="0"/>
          </a:p>
        </p:txBody>
      </p:sp>
      <p:sp>
        <p:nvSpPr>
          <p:cNvPr id="14" name="Shape 12"/>
          <p:cNvSpPr/>
          <p:nvPr/>
        </p:nvSpPr>
        <p:spPr>
          <a:xfrm>
            <a:off x="9144000" y="3794760"/>
            <a:ext cx="2011680" cy="1188720"/>
          </a:xfrm>
          <a:prstGeom prst="roundRect">
            <a:avLst>
              <a:gd name="adj" fmla="val 9231"/>
            </a:avLst>
          </a:prstGeom>
          <a:solidFill>
            <a:srgbClr val="FFFFFF"/>
          </a:solidFill>
          <a:ln w="19050">
            <a:solidFill>
              <a:srgbClr val="FDBA74"/>
            </a:solidFill>
            <a:prstDash val="solid"/>
          </a:ln>
        </p:spPr>
      </p:sp>
      <p:sp>
        <p:nvSpPr>
          <p:cNvPr id="15" name="Text 13"/>
          <p:cNvSpPr txBox="1"/>
          <p:nvPr/>
        </p:nvSpPr>
        <p:spPr>
          <a:xfrm>
            <a:off x="9144000" y="3886200"/>
            <a:ext cx="2011680" cy="320040"/>
          </a:xfrm>
          <a:prstGeom prst="rect">
            <a:avLst/>
          </a:prstGeom>
          <a:noFill/>
          <a:ln/>
        </p:spPr>
        <p:txBody>
          <a:bodyPr wrap="square" lIns="0" tIns="0" rIns="0" bIns="0" rtlCol="0" anchor="ctr"/>
          <a:lstStyle/>
          <a:p>
            <a:pPr algn="ctr" indent="0" marL="0">
              <a:buNone/>
            </a:pPr>
            <a:r>
              <a:rPr lang="en-US" sz="1200" dirty="0">
                <a:solidFill>
                  <a:srgbClr val="C2410C"/>
                </a:solidFill>
              </a:rPr>
              <a:t>after</a:t>
            </a:r>
            <a:endParaRPr lang="en-US" sz="1200" dirty="0"/>
          </a:p>
        </p:txBody>
      </p:sp>
      <p:sp>
        <p:nvSpPr>
          <p:cNvPr id="16" name="Text 14"/>
          <p:cNvSpPr txBox="1"/>
          <p:nvPr/>
        </p:nvSpPr>
        <p:spPr>
          <a:xfrm>
            <a:off x="9144000" y="4206240"/>
            <a:ext cx="2011680" cy="640080"/>
          </a:xfrm>
          <a:prstGeom prst="rect">
            <a:avLst/>
          </a:prstGeom>
          <a:noFill/>
          <a:ln/>
        </p:spPr>
        <p:txBody>
          <a:bodyPr wrap="square" lIns="0" tIns="0" rIns="0" bIns="0" rtlCol="0" anchor="ctr"/>
          <a:lstStyle/>
          <a:p>
            <a:pPr algn="ctr" indent="0" marL="0">
              <a:buNone/>
            </a:pPr>
            <a:r>
              <a:rPr lang="en-US" sz="2400" b="1" dirty="0">
                <a:solidFill>
                  <a:srgbClr val="C2410C"/>
                </a:solidFill>
              </a:rPr>
              <a:t>Anna ✗</a:t>
            </a:r>
            <a:endParaRPr lang="en-US" sz="2400" dirty="0"/>
          </a:p>
        </p:txBody>
      </p:sp>
      <p:sp>
        <p:nvSpPr>
          <p:cNvPr id="17"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Training has a cost: what it used to know. </a:t>
            </a:r>
            <a:pPr indent="0" marL="0">
              <a:buNone/>
            </a:pPr>
            <a:r>
              <a:rPr lang="en-US" sz="1800" b="1" i="1" dirty="0">
                <a:solidFill>
                  <a:srgbClr val="6B7280"/>
                </a:solidFill>
              </a:rPr>
              <a:t>Can we avoid training altogether?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1 · THE HUNCH</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The knowledge is already in there. </a:t>
            </a:r>
            <a:pPr algn="l" indent="0" marL="0">
              <a:buNone/>
            </a:pPr>
            <a:r>
              <a:rPr lang="en-US" sz="3200" b="1" i="1" dirty="0">
                <a:solidFill>
                  <a:srgbClr val="6B7280"/>
                </a:solidFill>
              </a:rPr>
              <a:t>It gets lost on the way out.</a:t>
            </a:r>
            <a:endParaRPr lang="en-US" sz="3200" dirty="0"/>
          </a:p>
        </p:txBody>
      </p:sp>
      <p:sp>
        <p:nvSpPr>
          <p:cNvPr id="4" name="Shape 2"/>
          <p:cNvSpPr/>
          <p:nvPr/>
        </p:nvSpPr>
        <p:spPr>
          <a:xfrm>
            <a:off x="822960" y="4937760"/>
            <a:ext cx="822960" cy="182880"/>
          </a:xfrm>
          <a:prstGeom prst="rect">
            <a:avLst/>
          </a:prstGeom>
          <a:solidFill>
            <a:srgbClr val="FDBA74"/>
          </a:solidFill>
          <a:ln w="12700">
            <a:solidFill>
              <a:srgbClr val="FDBA74"/>
            </a:solidFill>
            <a:prstDash val="solid"/>
          </a:ln>
        </p:spPr>
      </p:sp>
      <p:sp>
        <p:nvSpPr>
          <p:cNvPr id="5" name="Text 3"/>
          <p:cNvSpPr txBox="1"/>
          <p:nvPr/>
        </p:nvSpPr>
        <p:spPr>
          <a:xfrm>
            <a:off x="640080" y="4553712"/>
            <a:ext cx="1188720" cy="365760"/>
          </a:xfrm>
          <a:prstGeom prst="rect">
            <a:avLst/>
          </a:prstGeom>
          <a:noFill/>
          <a:ln/>
        </p:spPr>
        <p:txBody>
          <a:bodyPr wrap="square" lIns="0" tIns="0" rIns="0" bIns="0" rtlCol="0" anchor="ctr"/>
          <a:lstStyle/>
          <a:p>
            <a:pPr algn="ctr" indent="0" marL="0">
              <a:buNone/>
            </a:pPr>
            <a:r>
              <a:rPr lang="en-US" sz="1600" b="1" dirty="0">
                <a:solidFill>
                  <a:srgbClr val="6B7280"/>
                </a:solidFill>
              </a:rPr>
              <a:t>+1</a:t>
            </a:r>
            <a:endParaRPr lang="en-US" sz="1600" dirty="0"/>
          </a:p>
        </p:txBody>
      </p:sp>
      <p:sp>
        <p:nvSpPr>
          <p:cNvPr id="6" name="Text 4"/>
          <p:cNvSpPr txBox="1"/>
          <p:nvPr/>
        </p:nvSpPr>
        <p:spPr>
          <a:xfrm>
            <a:off x="73152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once</a:t>
            </a:r>
            <a:endParaRPr lang="en-US" sz="1300" dirty="0"/>
          </a:p>
        </p:txBody>
      </p:sp>
      <p:sp>
        <p:nvSpPr>
          <p:cNvPr id="7" name="Shape 5"/>
          <p:cNvSpPr/>
          <p:nvPr/>
        </p:nvSpPr>
        <p:spPr>
          <a:xfrm>
            <a:off x="1920240" y="4709160"/>
            <a:ext cx="822960" cy="411480"/>
          </a:xfrm>
          <a:prstGeom prst="rect">
            <a:avLst/>
          </a:prstGeom>
          <a:solidFill>
            <a:srgbClr val="FB923C"/>
          </a:solidFill>
          <a:ln w="12700">
            <a:solidFill>
              <a:srgbClr val="FB923C"/>
            </a:solidFill>
            <a:prstDash val="solid"/>
          </a:ln>
        </p:spPr>
      </p:sp>
      <p:sp>
        <p:nvSpPr>
          <p:cNvPr id="8" name="Text 6"/>
          <p:cNvSpPr txBox="1"/>
          <p:nvPr/>
        </p:nvSpPr>
        <p:spPr>
          <a:xfrm>
            <a:off x="1737360" y="4325112"/>
            <a:ext cx="1188720" cy="365760"/>
          </a:xfrm>
          <a:prstGeom prst="rect">
            <a:avLst/>
          </a:prstGeom>
          <a:noFill/>
          <a:ln/>
        </p:spPr>
        <p:txBody>
          <a:bodyPr wrap="square" lIns="0" tIns="0" rIns="0" bIns="0" rtlCol="0" anchor="ctr"/>
          <a:lstStyle/>
          <a:p>
            <a:pPr algn="ctr" indent="0" marL="0">
              <a:buNone/>
            </a:pPr>
            <a:r>
              <a:rPr lang="en-US" sz="1600" b="1" dirty="0">
                <a:solidFill>
                  <a:srgbClr val="6B7280"/>
                </a:solidFill>
              </a:rPr>
              <a:t>+2</a:t>
            </a:r>
            <a:endParaRPr lang="en-US" sz="1600" dirty="0"/>
          </a:p>
        </p:txBody>
      </p:sp>
      <p:sp>
        <p:nvSpPr>
          <p:cNvPr id="9" name="Text 7"/>
          <p:cNvSpPr txBox="1"/>
          <p:nvPr/>
        </p:nvSpPr>
        <p:spPr>
          <a:xfrm>
            <a:off x="182880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a few</a:t>
            </a:r>
            <a:endParaRPr lang="en-US" sz="1300" dirty="0"/>
          </a:p>
        </p:txBody>
      </p:sp>
      <p:sp>
        <p:nvSpPr>
          <p:cNvPr id="10" name="Shape 8"/>
          <p:cNvSpPr/>
          <p:nvPr/>
        </p:nvSpPr>
        <p:spPr>
          <a:xfrm>
            <a:off x="3017520" y="4114800"/>
            <a:ext cx="822960" cy="1005840"/>
          </a:xfrm>
          <a:prstGeom prst="rect">
            <a:avLst/>
          </a:prstGeom>
          <a:solidFill>
            <a:srgbClr val="F97316"/>
          </a:solidFill>
          <a:ln w="12700">
            <a:solidFill>
              <a:srgbClr val="F97316"/>
            </a:solidFill>
            <a:prstDash val="solid"/>
          </a:ln>
        </p:spPr>
      </p:sp>
      <p:sp>
        <p:nvSpPr>
          <p:cNvPr id="11" name="Text 9"/>
          <p:cNvSpPr txBox="1"/>
          <p:nvPr/>
        </p:nvSpPr>
        <p:spPr>
          <a:xfrm>
            <a:off x="2834640" y="373075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+5</a:t>
            </a:r>
            <a:endParaRPr lang="en-US" sz="1600" dirty="0"/>
          </a:p>
        </p:txBody>
      </p:sp>
      <p:sp>
        <p:nvSpPr>
          <p:cNvPr id="12" name="Text 10"/>
          <p:cNvSpPr txBox="1"/>
          <p:nvPr/>
        </p:nvSpPr>
        <p:spPr>
          <a:xfrm>
            <a:off x="292608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dozens</a:t>
            </a:r>
            <a:endParaRPr lang="en-US" sz="1300" dirty="0"/>
          </a:p>
        </p:txBody>
      </p:sp>
      <p:sp>
        <p:nvSpPr>
          <p:cNvPr id="13" name="Shape 11"/>
          <p:cNvSpPr/>
          <p:nvPr/>
        </p:nvSpPr>
        <p:spPr>
          <a:xfrm>
            <a:off x="4114800" y="3474720"/>
            <a:ext cx="822960" cy="1645920"/>
          </a:xfrm>
          <a:prstGeom prst="rect">
            <a:avLst/>
          </a:prstGeom>
          <a:solidFill>
            <a:srgbClr val="EA580C"/>
          </a:solidFill>
          <a:ln w="12700">
            <a:solidFill>
              <a:srgbClr val="EA580C"/>
            </a:solidFill>
            <a:prstDash val="solid"/>
          </a:ln>
        </p:spPr>
      </p:sp>
      <p:sp>
        <p:nvSpPr>
          <p:cNvPr id="14" name="Text 12"/>
          <p:cNvSpPr txBox="1"/>
          <p:nvPr/>
        </p:nvSpPr>
        <p:spPr>
          <a:xfrm>
            <a:off x="3931920" y="309067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+8</a:t>
            </a:r>
            <a:endParaRPr lang="en-US" sz="1600" dirty="0"/>
          </a:p>
        </p:txBody>
      </p:sp>
      <p:sp>
        <p:nvSpPr>
          <p:cNvPr id="15" name="Text 13"/>
          <p:cNvSpPr txBox="1"/>
          <p:nvPr/>
        </p:nvSpPr>
        <p:spPr>
          <a:xfrm>
            <a:off x="402336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~100</a:t>
            </a:r>
            <a:endParaRPr lang="en-US" sz="1300" dirty="0"/>
          </a:p>
        </p:txBody>
      </p:sp>
      <p:sp>
        <p:nvSpPr>
          <p:cNvPr id="16" name="Shape 14"/>
          <p:cNvSpPr/>
          <p:nvPr/>
        </p:nvSpPr>
        <p:spPr>
          <a:xfrm>
            <a:off x="5212080" y="2651760"/>
            <a:ext cx="822960" cy="2468880"/>
          </a:xfrm>
          <a:prstGeom prst="rect">
            <a:avLst/>
          </a:prstGeom>
          <a:solidFill>
            <a:srgbClr val="C2410C"/>
          </a:solidFill>
          <a:ln w="12700">
            <a:solidFill>
              <a:srgbClr val="C2410C"/>
            </a:solidFill>
            <a:prstDash val="solid"/>
          </a:ln>
        </p:spPr>
      </p:sp>
      <p:sp>
        <p:nvSpPr>
          <p:cNvPr id="17" name="Text 15"/>
          <p:cNvSpPr txBox="1"/>
          <p:nvPr/>
        </p:nvSpPr>
        <p:spPr>
          <a:xfrm>
            <a:off x="5029200" y="2267712"/>
            <a:ext cx="1188720" cy="365760"/>
          </a:xfrm>
          <a:prstGeom prst="rect">
            <a:avLst/>
          </a:prstGeom>
          <a:noFill/>
          <a:ln/>
        </p:spPr>
        <p:txBody>
          <a:bodyPr wrap="square" lIns="0" tIns="0" rIns="0" bIns="0" rtlCol="0" anchor="ctr"/>
          <a:lstStyle/>
          <a:p>
            <a:pPr algn="ctr" indent="0" marL="0">
              <a:buNone/>
            </a:pPr>
            <a:r>
              <a:rPr lang="en-US" sz="1600" b="1" dirty="0">
                <a:solidFill>
                  <a:srgbClr val="C2410C"/>
                </a:solidFill>
              </a:rPr>
              <a:t>+12</a:t>
            </a:r>
            <a:endParaRPr lang="en-US" sz="1600" dirty="0"/>
          </a:p>
        </p:txBody>
      </p:sp>
      <p:sp>
        <p:nvSpPr>
          <p:cNvPr id="18" name="Text 16"/>
          <p:cNvSpPr txBox="1"/>
          <p:nvPr/>
        </p:nvSpPr>
        <p:spPr>
          <a:xfrm>
            <a:off x="5120640" y="5193792"/>
            <a:ext cx="1005840" cy="274320"/>
          </a:xfrm>
          <a:prstGeom prst="rect">
            <a:avLst/>
          </a:prstGeom>
          <a:noFill/>
          <a:ln/>
        </p:spPr>
        <p:txBody>
          <a:bodyPr wrap="square" lIns="0" tIns="0" rIns="0" bIns="0" rtlCol="0" anchor="ctr"/>
          <a:lstStyle/>
          <a:p>
            <a:pPr algn="ctr" indent="0" marL="0">
              <a:buNone/>
            </a:pPr>
            <a:r>
              <a:rPr lang="en-US" sz="1300" dirty="0">
                <a:solidFill>
                  <a:srgbClr val="6B7280"/>
                </a:solidFill>
              </a:rPr>
              <a:t>200+</a:t>
            </a:r>
            <a:endParaRPr lang="en-US" sz="1300" dirty="0"/>
          </a:p>
        </p:txBody>
      </p:sp>
      <p:sp>
        <p:nvSpPr>
          <p:cNvPr id="19" name="Shape 17"/>
          <p:cNvSpPr/>
          <p:nvPr/>
        </p:nvSpPr>
        <p:spPr>
          <a:xfrm>
            <a:off x="731520" y="5120640"/>
            <a:ext cx="5486400" cy="0"/>
          </a:xfrm>
          <a:prstGeom prst="line">
            <a:avLst/>
          </a:prstGeom>
          <a:noFill/>
          <a:ln w="25400">
            <a:solidFill>
              <a:srgbClr val="111827"/>
            </a:solidFill>
            <a:prstDash val="solid"/>
          </a:ln>
        </p:spPr>
      </p:sp>
      <p:sp>
        <p:nvSpPr>
          <p:cNvPr id="20" name="Text 18"/>
          <p:cNvSpPr txBox="1"/>
          <p:nvPr/>
        </p:nvSpPr>
        <p:spPr>
          <a:xfrm>
            <a:off x="731520" y="5504688"/>
            <a:ext cx="5486400" cy="274320"/>
          </a:xfrm>
          <a:prstGeom prst="rect">
            <a:avLst/>
          </a:prstGeom>
          <a:noFill/>
          <a:ln/>
        </p:spPr>
        <p:txBody>
          <a:bodyPr wrap="square" lIns="0" tIns="0" rIns="0" bIns="0" rtlCol="0" anchor="ctr"/>
          <a:lstStyle/>
          <a:p>
            <a:pPr indent="0" marL="0">
              <a:buNone/>
            </a:pPr>
            <a:r>
              <a:rPr lang="en-US" sz="1200" dirty="0">
                <a:solidFill>
                  <a:srgbClr val="6B7280"/>
                </a:solidFill>
              </a:rPr>
              <a:t>how often the model has seen a fact → how well it answers</a:t>
            </a:r>
            <a:endParaRPr lang="en-US" sz="1200" dirty="0"/>
          </a:p>
        </p:txBody>
      </p:sp>
      <p:sp>
        <p:nvSpPr>
          <p:cNvPr id="21" name="Shape 19"/>
          <p:cNvSpPr/>
          <p:nvPr/>
        </p:nvSpPr>
        <p:spPr>
          <a:xfrm>
            <a:off x="6949440" y="2377440"/>
            <a:ext cx="4572000" cy="566928"/>
          </a:xfrm>
          <a:prstGeom prst="roundRect">
            <a:avLst>
              <a:gd name="adj" fmla="val 12903"/>
            </a:avLst>
          </a:prstGeom>
          <a:solidFill>
            <a:srgbClr val="E5E7EB"/>
          </a:solidFill>
          <a:ln w="12700">
            <a:solidFill>
              <a:srgbClr val="E5E7EB"/>
            </a:solidFill>
            <a:prstDash val="solid"/>
          </a:ln>
        </p:spPr>
      </p:sp>
      <p:sp>
        <p:nvSpPr>
          <p:cNvPr id="22" name="Text 20"/>
          <p:cNvSpPr txBox="1"/>
          <p:nvPr/>
        </p:nvSpPr>
        <p:spPr>
          <a:xfrm>
            <a:off x="6949440" y="2377440"/>
            <a:ext cx="4572000" cy="566928"/>
          </a:xfrm>
          <a:prstGeom prst="rect">
            <a:avLst/>
          </a:prstGeom>
          <a:noFill/>
          <a:ln/>
        </p:spPr>
        <p:txBody>
          <a:bodyPr wrap="square" lIns="0" tIns="0" rIns="0" bIns="0" rtlCol="0" anchor="ctr"/>
          <a:lstStyle/>
          <a:p>
            <a:pPr algn="ctr" indent="0" marL="0">
              <a:buNone/>
            </a:pPr>
            <a:r>
              <a:rPr lang="en-US" sz="1500" b="1" dirty="0">
                <a:solidFill>
                  <a:srgbClr val="6B7280"/>
                </a:solidFill>
              </a:rPr>
              <a:t>late layers: assemble the answer</a:t>
            </a:r>
            <a:endParaRPr lang="en-US" sz="1500" dirty="0"/>
          </a:p>
        </p:txBody>
      </p:sp>
      <p:sp>
        <p:nvSpPr>
          <p:cNvPr id="23" name="Shape 21"/>
          <p:cNvSpPr/>
          <p:nvPr/>
        </p:nvSpPr>
        <p:spPr>
          <a:xfrm>
            <a:off x="6949440" y="3063240"/>
            <a:ext cx="4572000" cy="566928"/>
          </a:xfrm>
          <a:prstGeom prst="roundRect">
            <a:avLst>
              <a:gd name="adj" fmla="val 12903"/>
            </a:avLst>
          </a:prstGeom>
          <a:solidFill>
            <a:srgbClr val="E5E7EB"/>
          </a:solidFill>
          <a:ln w="12700">
            <a:solidFill>
              <a:srgbClr val="E5E7EB"/>
            </a:solidFill>
            <a:prstDash val="solid"/>
          </a:ln>
        </p:spPr>
      </p:sp>
      <p:sp>
        <p:nvSpPr>
          <p:cNvPr id="24" name="Text 22"/>
          <p:cNvSpPr txBox="1"/>
          <p:nvPr/>
        </p:nvSpPr>
        <p:spPr>
          <a:xfrm>
            <a:off x="6949440" y="3063240"/>
            <a:ext cx="4572000" cy="566928"/>
          </a:xfrm>
          <a:prstGeom prst="rect">
            <a:avLst/>
          </a:prstGeom>
          <a:noFill/>
          <a:ln/>
        </p:spPr>
        <p:txBody>
          <a:bodyPr wrap="square" lIns="0" tIns="0" rIns="0" bIns="0" rtlCol="0" anchor="ctr"/>
          <a:lstStyle/>
          <a:p>
            <a:pPr algn="ctr" indent="0" marL="0">
              <a:buNone/>
            </a:pPr>
            <a:r>
              <a:rPr lang="en-US" sz="1500" b="1" dirty="0">
                <a:solidFill>
                  <a:srgbClr val="6B7280"/>
                </a:solidFill>
              </a:rPr>
              <a:t>…</a:t>
            </a:r>
            <a:endParaRPr lang="en-US" sz="1500" dirty="0"/>
          </a:p>
        </p:txBody>
      </p:sp>
      <p:sp>
        <p:nvSpPr>
          <p:cNvPr id="25" name="Shape 23"/>
          <p:cNvSpPr/>
          <p:nvPr/>
        </p:nvSpPr>
        <p:spPr>
          <a:xfrm>
            <a:off x="6949440" y="3749040"/>
            <a:ext cx="4572000" cy="566928"/>
          </a:xfrm>
          <a:prstGeom prst="roundRect">
            <a:avLst>
              <a:gd name="adj" fmla="val 12903"/>
            </a:avLst>
          </a:prstGeom>
          <a:solidFill>
            <a:srgbClr val="C2410C"/>
          </a:solidFill>
          <a:ln w="12700">
            <a:solidFill>
              <a:srgbClr val="C2410C"/>
            </a:solidFill>
            <a:prstDash val="solid"/>
          </a:ln>
        </p:spPr>
      </p:sp>
      <p:sp>
        <p:nvSpPr>
          <p:cNvPr id="26" name="Text 24"/>
          <p:cNvSpPr txBox="1"/>
          <p:nvPr/>
        </p:nvSpPr>
        <p:spPr>
          <a:xfrm>
            <a:off x="6949440" y="3749040"/>
            <a:ext cx="4572000" cy="566928"/>
          </a:xfrm>
          <a:prstGeom prst="rect">
            <a:avLst/>
          </a:prstGeom>
          <a:noFill/>
          <a:ln/>
        </p:spPr>
        <p:txBody>
          <a:bodyPr wrap="square" lIns="0" tIns="0" rIns="0" bIns="0" rtlCol="0" anchor="ctr"/>
          <a:lstStyle/>
          <a:p>
            <a:pPr algn="ctr" indent="0" marL="0">
              <a:buNone/>
            </a:pPr>
            <a:r>
              <a:rPr lang="en-US" sz="1500" b="1" dirty="0">
                <a:solidFill>
                  <a:srgbClr val="FFFFFF"/>
                </a:solidFill>
              </a:rPr>
              <a:t>early layers: look up the facts</a:t>
            </a:r>
            <a:endParaRPr lang="en-US" sz="1500" dirty="0"/>
          </a:p>
        </p:txBody>
      </p:sp>
      <p:sp>
        <p:nvSpPr>
          <p:cNvPr id="27" name="Shape 25"/>
          <p:cNvSpPr/>
          <p:nvPr/>
        </p:nvSpPr>
        <p:spPr>
          <a:xfrm>
            <a:off x="6949440" y="4434840"/>
            <a:ext cx="4572000" cy="566928"/>
          </a:xfrm>
          <a:prstGeom prst="roundRect">
            <a:avLst>
              <a:gd name="adj" fmla="val 12903"/>
            </a:avLst>
          </a:prstGeom>
          <a:solidFill>
            <a:srgbClr val="C2410C"/>
          </a:solidFill>
          <a:ln w="12700">
            <a:solidFill>
              <a:srgbClr val="C2410C"/>
            </a:solidFill>
            <a:prstDash val="solid"/>
          </a:ln>
        </p:spPr>
      </p:sp>
      <p:sp>
        <p:nvSpPr>
          <p:cNvPr id="28" name="Text 26"/>
          <p:cNvSpPr txBox="1"/>
          <p:nvPr/>
        </p:nvSpPr>
        <p:spPr>
          <a:xfrm>
            <a:off x="6949440" y="4434840"/>
            <a:ext cx="4572000" cy="566928"/>
          </a:xfrm>
          <a:prstGeom prst="rect">
            <a:avLst/>
          </a:prstGeom>
          <a:noFill/>
          <a:ln/>
        </p:spPr>
        <p:txBody>
          <a:bodyPr wrap="square" lIns="0" tIns="0" rIns="0" bIns="0" rtlCol="0" anchor="ctr"/>
          <a:lstStyle/>
          <a:p>
            <a:pPr algn="ctr" indent="0" marL="0">
              <a:buNone/>
            </a:pPr>
            <a:r>
              <a:rPr lang="en-US" sz="1500" b="1" dirty="0">
                <a:solidFill>
                  <a:srgbClr val="FFFFFF"/>
                </a:solidFill>
              </a:rPr>
              <a:t>early layers: look up the facts</a:t>
            </a:r>
            <a:endParaRPr lang="en-US" sz="1500" dirty="0"/>
          </a:p>
        </p:txBody>
      </p:sp>
      <p:sp>
        <p:nvSpPr>
          <p:cNvPr id="29" name="Text 27"/>
          <p:cNvSpPr txBox="1"/>
          <p:nvPr/>
        </p:nvSpPr>
        <p:spPr>
          <a:xfrm>
            <a:off x="6949440" y="5166360"/>
            <a:ext cx="4572000" cy="274320"/>
          </a:xfrm>
          <a:prstGeom prst="rect">
            <a:avLst/>
          </a:prstGeom>
          <a:noFill/>
          <a:ln/>
        </p:spPr>
        <p:txBody>
          <a:bodyPr wrap="square" lIns="0" tIns="0" rIns="0" bIns="0" rtlCol="0" anchor="ctr"/>
          <a:lstStyle/>
          <a:p>
            <a:pPr algn="ctr" indent="0" marL="0">
              <a:buNone/>
            </a:pPr>
            <a:r>
              <a:rPr lang="en-US" sz="1200" dirty="0">
                <a:solidFill>
                  <a:srgbClr val="9CA3AF"/>
                </a:solidFill>
              </a:rPr>
              <a:t>Geva et al., 2023</a:t>
            </a:r>
            <a:endParaRPr lang="en-US" sz="1200" dirty="0"/>
          </a:p>
        </p:txBody>
      </p:sp>
      <p:sp>
        <p:nvSpPr>
          <p:cNvPr id="30"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Even a fact read once leaves a trace. </a:t>
            </a:r>
            <a:pPr indent="0" marL="0">
              <a:buNone/>
            </a:pPr>
            <a:r>
              <a:rPr lang="en-US" sz="1800" b="1" i="1" dirty="0">
                <a:solidFill>
                  <a:srgbClr val="6B7280"/>
                </a:solidFill>
              </a:rPr>
              <a:t>A weak one gets overruled by the layers that write the answer.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1 · OPEN THE BOX</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So we looked inside. </a:t>
            </a:r>
            <a:pPr algn="l" indent="0" marL="0">
              <a:buNone/>
            </a:pPr>
            <a:r>
              <a:rPr lang="en-US" sz="3200" b="1" i="1" dirty="0">
                <a:solidFill>
                  <a:srgbClr val="6B7280"/>
                </a:solidFill>
              </a:rPr>
              <a:t>Knowledge has an address.</a:t>
            </a:r>
            <a:endParaRPr lang="en-US" sz="3200" dirty="0"/>
          </a:p>
        </p:txBody>
      </p:sp>
      <p:sp>
        <p:nvSpPr>
          <p:cNvPr id="4" name="Shape 2"/>
          <p:cNvSpPr/>
          <p:nvPr/>
        </p:nvSpPr>
        <p:spPr>
          <a:xfrm>
            <a:off x="640080" y="2286000"/>
            <a:ext cx="3291840" cy="2834640"/>
          </a:xfrm>
          <a:prstGeom prst="roundRect">
            <a:avLst>
              <a:gd name="adj" fmla="val 6452"/>
            </a:avLst>
          </a:prstGeom>
          <a:solidFill>
            <a:srgbClr val="111827"/>
          </a:solidFill>
          <a:ln w="12700">
            <a:solidFill>
              <a:srgbClr val="111827"/>
            </a:solidFill>
            <a:prstDash val="solid"/>
          </a:ln>
        </p:spPr>
      </p:sp>
      <p:sp>
        <p:nvSpPr>
          <p:cNvPr id="5" name="Text 3"/>
          <p:cNvSpPr txBox="1"/>
          <p:nvPr/>
        </p:nvSpPr>
        <p:spPr>
          <a:xfrm>
            <a:off x="640080" y="2286000"/>
            <a:ext cx="3291840" cy="2834640"/>
          </a:xfrm>
          <a:prstGeom prst="rect">
            <a:avLst/>
          </a:prstGeom>
          <a:noFill/>
          <a:ln/>
        </p:spPr>
        <p:txBody>
          <a:bodyPr wrap="square" lIns="0" tIns="0" rIns="0" bIns="0" rtlCol="0" anchor="ctr"/>
          <a:lstStyle/>
          <a:p>
            <a:pPr algn="ctr" indent="0" marL="0">
              <a:buNone/>
            </a:pPr>
            <a:r>
              <a:rPr lang="en-US" sz="8000" b="1" dirty="0">
                <a:solidFill>
                  <a:srgbClr val="4B5563"/>
                </a:solidFill>
              </a:rPr>
              <a:t>?</a:t>
            </a:r>
            <a:endParaRPr lang="en-US" sz="8000" dirty="0"/>
          </a:p>
        </p:txBody>
      </p:sp>
      <p:sp>
        <p:nvSpPr>
          <p:cNvPr id="6" name="Text 4"/>
          <p:cNvSpPr txBox="1"/>
          <p:nvPr/>
        </p:nvSpPr>
        <p:spPr>
          <a:xfrm>
            <a:off x="640080" y="5212080"/>
            <a:ext cx="3291840" cy="365760"/>
          </a:xfrm>
          <a:prstGeom prst="rect">
            <a:avLst/>
          </a:prstGeom>
          <a:noFill/>
          <a:ln/>
        </p:spPr>
        <p:txBody>
          <a:bodyPr wrap="square" lIns="0" tIns="0" rIns="0" bIns="0" rtlCol="0" anchor="ctr"/>
          <a:lstStyle/>
          <a:p>
            <a:pPr algn="ctr" indent="0" marL="0">
              <a:buNone/>
            </a:pPr>
            <a:r>
              <a:rPr lang="en-US" sz="1500" b="1" dirty="0">
                <a:solidFill>
                  <a:srgbClr val="6B7280"/>
                </a:solidFill>
              </a:rPr>
              <a:t>the black box</a:t>
            </a:r>
            <a:endParaRPr lang="en-US" sz="1500" dirty="0"/>
          </a:p>
        </p:txBody>
      </p:sp>
      <p:sp>
        <p:nvSpPr>
          <p:cNvPr id="7" name="Shape 5"/>
          <p:cNvSpPr/>
          <p:nvPr/>
        </p:nvSpPr>
        <p:spPr>
          <a:xfrm>
            <a:off x="4206240" y="3474720"/>
            <a:ext cx="914400" cy="457200"/>
          </a:xfrm>
          <a:prstGeom prst="rightArrow">
            <a:avLst/>
          </a:prstGeom>
          <a:solidFill>
            <a:srgbClr val="C2410C"/>
          </a:solidFill>
          <a:ln w="12700">
            <a:solidFill>
              <a:srgbClr val="C2410C"/>
            </a:solidFill>
            <a:prstDash val="solid"/>
          </a:ln>
        </p:spPr>
      </p:sp>
      <p:sp>
        <p:nvSpPr>
          <p:cNvPr id="8" name="Shape 6"/>
          <p:cNvSpPr/>
          <p:nvPr/>
        </p:nvSpPr>
        <p:spPr>
          <a:xfrm>
            <a:off x="5486400" y="2286000"/>
            <a:ext cx="6035040" cy="2834640"/>
          </a:xfrm>
          <a:prstGeom prst="roundRect">
            <a:avLst>
              <a:gd name="adj" fmla="val 3871"/>
            </a:avLst>
          </a:prstGeom>
          <a:solidFill>
            <a:srgbClr val="F9FAFB"/>
          </a:solidFill>
          <a:ln w="12700">
            <a:solidFill>
              <a:srgbClr val="E5E7EB"/>
            </a:solidFill>
            <a:prstDash val="solid"/>
          </a:ln>
        </p:spPr>
      </p:sp>
      <p:sp>
        <p:nvSpPr>
          <p:cNvPr id="9" name="Shape 7"/>
          <p:cNvSpPr/>
          <p:nvPr/>
        </p:nvSpPr>
        <p:spPr>
          <a:xfrm>
            <a:off x="6126480" y="3017520"/>
            <a:ext cx="219456" cy="219456"/>
          </a:xfrm>
          <a:prstGeom prst="ellipse">
            <a:avLst/>
          </a:prstGeom>
          <a:solidFill>
            <a:srgbClr val="C2410C"/>
          </a:solidFill>
          <a:ln w="12700">
            <a:solidFill>
              <a:srgbClr val="C2410C"/>
            </a:solidFill>
            <a:prstDash val="solid"/>
          </a:ln>
        </p:spPr>
      </p:sp>
      <p:sp>
        <p:nvSpPr>
          <p:cNvPr id="10" name="Shape 8"/>
          <p:cNvSpPr/>
          <p:nvPr/>
        </p:nvSpPr>
        <p:spPr>
          <a:xfrm>
            <a:off x="6583680" y="2743200"/>
            <a:ext cx="219456" cy="219456"/>
          </a:xfrm>
          <a:prstGeom prst="ellipse">
            <a:avLst/>
          </a:prstGeom>
          <a:solidFill>
            <a:srgbClr val="C2410C"/>
          </a:solidFill>
          <a:ln w="12700">
            <a:solidFill>
              <a:srgbClr val="C2410C"/>
            </a:solidFill>
            <a:prstDash val="solid"/>
          </a:ln>
        </p:spPr>
      </p:sp>
      <p:sp>
        <p:nvSpPr>
          <p:cNvPr id="11" name="Shape 9"/>
          <p:cNvSpPr/>
          <p:nvPr/>
        </p:nvSpPr>
        <p:spPr>
          <a:xfrm>
            <a:off x="6355080" y="3474720"/>
            <a:ext cx="219456" cy="219456"/>
          </a:xfrm>
          <a:prstGeom prst="ellipse">
            <a:avLst/>
          </a:prstGeom>
          <a:solidFill>
            <a:srgbClr val="C2410C"/>
          </a:solidFill>
          <a:ln w="12700">
            <a:solidFill>
              <a:srgbClr val="C2410C"/>
            </a:solidFill>
            <a:prstDash val="solid"/>
          </a:ln>
        </p:spPr>
      </p:sp>
      <p:sp>
        <p:nvSpPr>
          <p:cNvPr id="12" name="Shape 10"/>
          <p:cNvSpPr/>
          <p:nvPr/>
        </p:nvSpPr>
        <p:spPr>
          <a:xfrm>
            <a:off x="6949440" y="3246120"/>
            <a:ext cx="219456" cy="219456"/>
          </a:xfrm>
          <a:prstGeom prst="ellipse">
            <a:avLst/>
          </a:prstGeom>
          <a:solidFill>
            <a:srgbClr val="C2410C"/>
          </a:solidFill>
          <a:ln w="12700">
            <a:solidFill>
              <a:srgbClr val="C2410C"/>
            </a:solidFill>
            <a:prstDash val="solid"/>
          </a:ln>
        </p:spPr>
      </p:sp>
      <p:sp>
        <p:nvSpPr>
          <p:cNvPr id="13" name="Shape 11"/>
          <p:cNvSpPr/>
          <p:nvPr/>
        </p:nvSpPr>
        <p:spPr>
          <a:xfrm>
            <a:off x="6035040" y="3977640"/>
            <a:ext cx="219456" cy="219456"/>
          </a:xfrm>
          <a:prstGeom prst="ellipse">
            <a:avLst/>
          </a:prstGeom>
          <a:solidFill>
            <a:srgbClr val="C2410C"/>
          </a:solidFill>
          <a:ln w="12700">
            <a:solidFill>
              <a:srgbClr val="C2410C"/>
            </a:solidFill>
            <a:prstDash val="solid"/>
          </a:ln>
        </p:spPr>
      </p:sp>
      <p:sp>
        <p:nvSpPr>
          <p:cNvPr id="14" name="Shape 12"/>
          <p:cNvSpPr/>
          <p:nvPr/>
        </p:nvSpPr>
        <p:spPr>
          <a:xfrm>
            <a:off x="6675120" y="3886200"/>
            <a:ext cx="219456" cy="219456"/>
          </a:xfrm>
          <a:prstGeom prst="ellipse">
            <a:avLst/>
          </a:prstGeom>
          <a:solidFill>
            <a:srgbClr val="C2410C"/>
          </a:solidFill>
          <a:ln w="12700">
            <a:solidFill>
              <a:srgbClr val="C2410C"/>
            </a:solidFill>
            <a:prstDash val="solid"/>
          </a:ln>
        </p:spPr>
      </p:sp>
      <p:sp>
        <p:nvSpPr>
          <p:cNvPr id="15" name="Shape 13"/>
          <p:cNvSpPr/>
          <p:nvPr/>
        </p:nvSpPr>
        <p:spPr>
          <a:xfrm>
            <a:off x="7132320" y="3657600"/>
            <a:ext cx="219456" cy="219456"/>
          </a:xfrm>
          <a:prstGeom prst="ellipse">
            <a:avLst/>
          </a:prstGeom>
          <a:solidFill>
            <a:srgbClr val="C2410C"/>
          </a:solidFill>
          <a:ln w="12700">
            <a:solidFill>
              <a:srgbClr val="C2410C"/>
            </a:solidFill>
            <a:prstDash val="solid"/>
          </a:ln>
        </p:spPr>
      </p:sp>
      <p:sp>
        <p:nvSpPr>
          <p:cNvPr id="16" name="Shape 14"/>
          <p:cNvSpPr/>
          <p:nvPr/>
        </p:nvSpPr>
        <p:spPr>
          <a:xfrm>
            <a:off x="6400800" y="4389120"/>
            <a:ext cx="219456" cy="219456"/>
          </a:xfrm>
          <a:prstGeom prst="ellipse">
            <a:avLst/>
          </a:prstGeom>
          <a:solidFill>
            <a:srgbClr val="C2410C"/>
          </a:solidFill>
          <a:ln w="12700">
            <a:solidFill>
              <a:srgbClr val="C2410C"/>
            </a:solidFill>
            <a:prstDash val="solid"/>
          </a:ln>
        </p:spPr>
      </p:sp>
      <p:sp>
        <p:nvSpPr>
          <p:cNvPr id="17" name="Shape 15"/>
          <p:cNvSpPr/>
          <p:nvPr/>
        </p:nvSpPr>
        <p:spPr>
          <a:xfrm>
            <a:off x="6858000" y="4297680"/>
            <a:ext cx="219456" cy="219456"/>
          </a:xfrm>
          <a:prstGeom prst="ellipse">
            <a:avLst/>
          </a:prstGeom>
          <a:solidFill>
            <a:srgbClr val="C2410C"/>
          </a:solidFill>
          <a:ln w="12700">
            <a:solidFill>
              <a:srgbClr val="C2410C"/>
            </a:solidFill>
            <a:prstDash val="solid"/>
          </a:ln>
        </p:spPr>
      </p:sp>
      <p:sp>
        <p:nvSpPr>
          <p:cNvPr id="18" name="Shape 16"/>
          <p:cNvSpPr/>
          <p:nvPr/>
        </p:nvSpPr>
        <p:spPr>
          <a:xfrm>
            <a:off x="9601200" y="3246120"/>
            <a:ext cx="219456" cy="219456"/>
          </a:xfrm>
          <a:prstGeom prst="ellipse">
            <a:avLst/>
          </a:prstGeom>
          <a:solidFill>
            <a:srgbClr val="2563EB"/>
          </a:solidFill>
          <a:ln w="12700">
            <a:solidFill>
              <a:srgbClr val="2563EB"/>
            </a:solidFill>
            <a:prstDash val="solid"/>
          </a:ln>
        </p:spPr>
      </p:sp>
      <p:sp>
        <p:nvSpPr>
          <p:cNvPr id="19" name="Shape 17"/>
          <p:cNvSpPr/>
          <p:nvPr/>
        </p:nvSpPr>
        <p:spPr>
          <a:xfrm>
            <a:off x="10058400" y="2926080"/>
            <a:ext cx="219456" cy="219456"/>
          </a:xfrm>
          <a:prstGeom prst="ellipse">
            <a:avLst/>
          </a:prstGeom>
          <a:solidFill>
            <a:srgbClr val="2563EB"/>
          </a:solidFill>
          <a:ln w="12700">
            <a:solidFill>
              <a:srgbClr val="2563EB"/>
            </a:solidFill>
            <a:prstDash val="solid"/>
          </a:ln>
        </p:spPr>
      </p:sp>
      <p:sp>
        <p:nvSpPr>
          <p:cNvPr id="20" name="Shape 18"/>
          <p:cNvSpPr/>
          <p:nvPr/>
        </p:nvSpPr>
        <p:spPr>
          <a:xfrm>
            <a:off x="10424160" y="3474720"/>
            <a:ext cx="219456" cy="219456"/>
          </a:xfrm>
          <a:prstGeom prst="ellipse">
            <a:avLst/>
          </a:prstGeom>
          <a:solidFill>
            <a:srgbClr val="2563EB"/>
          </a:solidFill>
          <a:ln w="12700">
            <a:solidFill>
              <a:srgbClr val="2563EB"/>
            </a:solidFill>
            <a:prstDash val="solid"/>
          </a:ln>
        </p:spPr>
      </p:sp>
      <p:sp>
        <p:nvSpPr>
          <p:cNvPr id="21" name="Shape 19"/>
          <p:cNvSpPr/>
          <p:nvPr/>
        </p:nvSpPr>
        <p:spPr>
          <a:xfrm>
            <a:off x="9784080" y="3794760"/>
            <a:ext cx="219456" cy="219456"/>
          </a:xfrm>
          <a:prstGeom prst="ellipse">
            <a:avLst/>
          </a:prstGeom>
          <a:solidFill>
            <a:srgbClr val="2563EB"/>
          </a:solidFill>
          <a:ln w="12700">
            <a:solidFill>
              <a:srgbClr val="2563EB"/>
            </a:solidFill>
            <a:prstDash val="solid"/>
          </a:ln>
        </p:spPr>
      </p:sp>
      <p:sp>
        <p:nvSpPr>
          <p:cNvPr id="22" name="Shape 20"/>
          <p:cNvSpPr/>
          <p:nvPr/>
        </p:nvSpPr>
        <p:spPr>
          <a:xfrm>
            <a:off x="10241280" y="4114800"/>
            <a:ext cx="219456" cy="219456"/>
          </a:xfrm>
          <a:prstGeom prst="ellipse">
            <a:avLst/>
          </a:prstGeom>
          <a:solidFill>
            <a:srgbClr val="2563EB"/>
          </a:solidFill>
          <a:ln w="12700">
            <a:solidFill>
              <a:srgbClr val="2563EB"/>
            </a:solidFill>
            <a:prstDash val="solid"/>
          </a:ln>
        </p:spPr>
      </p:sp>
      <p:sp>
        <p:nvSpPr>
          <p:cNvPr id="23" name="Shape 21"/>
          <p:cNvSpPr/>
          <p:nvPr/>
        </p:nvSpPr>
        <p:spPr>
          <a:xfrm>
            <a:off x="10607040" y="4526280"/>
            <a:ext cx="219456" cy="219456"/>
          </a:xfrm>
          <a:prstGeom prst="ellipse">
            <a:avLst/>
          </a:prstGeom>
          <a:solidFill>
            <a:srgbClr val="2563EB"/>
          </a:solidFill>
          <a:ln w="12700">
            <a:solidFill>
              <a:srgbClr val="2563EB"/>
            </a:solidFill>
            <a:prstDash val="solid"/>
          </a:ln>
        </p:spPr>
      </p:sp>
      <p:sp>
        <p:nvSpPr>
          <p:cNvPr id="24" name="Shape 22"/>
          <p:cNvSpPr/>
          <p:nvPr/>
        </p:nvSpPr>
        <p:spPr>
          <a:xfrm>
            <a:off x="9418320" y="4434840"/>
            <a:ext cx="219456" cy="219456"/>
          </a:xfrm>
          <a:prstGeom prst="ellipse">
            <a:avLst/>
          </a:prstGeom>
          <a:solidFill>
            <a:srgbClr val="2563EB"/>
          </a:solidFill>
          <a:ln w="12700">
            <a:solidFill>
              <a:srgbClr val="2563EB"/>
            </a:solidFill>
            <a:prstDash val="solid"/>
          </a:ln>
        </p:spPr>
      </p:sp>
      <p:sp>
        <p:nvSpPr>
          <p:cNvPr id="25" name="Shape 23"/>
          <p:cNvSpPr/>
          <p:nvPr/>
        </p:nvSpPr>
        <p:spPr>
          <a:xfrm>
            <a:off x="9966960" y="4846320"/>
            <a:ext cx="219456" cy="219456"/>
          </a:xfrm>
          <a:prstGeom prst="ellipse">
            <a:avLst/>
          </a:prstGeom>
          <a:solidFill>
            <a:srgbClr val="2563EB"/>
          </a:solidFill>
          <a:ln w="12700">
            <a:solidFill>
              <a:srgbClr val="2563EB"/>
            </a:solidFill>
            <a:prstDash val="solid"/>
          </a:ln>
        </p:spPr>
      </p:sp>
      <p:sp>
        <p:nvSpPr>
          <p:cNvPr id="26" name="Shape 24"/>
          <p:cNvSpPr/>
          <p:nvPr/>
        </p:nvSpPr>
        <p:spPr>
          <a:xfrm>
            <a:off x="10515600" y="3886200"/>
            <a:ext cx="219456" cy="219456"/>
          </a:xfrm>
          <a:prstGeom prst="ellipse">
            <a:avLst/>
          </a:prstGeom>
          <a:solidFill>
            <a:srgbClr val="2563EB"/>
          </a:solidFill>
          <a:ln w="12700">
            <a:solidFill>
              <a:srgbClr val="2563EB"/>
            </a:solidFill>
            <a:prstDash val="solid"/>
          </a:ln>
        </p:spPr>
      </p:sp>
      <p:sp>
        <p:nvSpPr>
          <p:cNvPr id="27" name="Shape 25"/>
          <p:cNvSpPr/>
          <p:nvPr/>
        </p:nvSpPr>
        <p:spPr>
          <a:xfrm flipH="1">
            <a:off x="7132320" y="3657600"/>
            <a:ext cx="2926080" cy="182880"/>
          </a:xfrm>
          <a:prstGeom prst="line">
            <a:avLst/>
          </a:prstGeom>
          <a:noFill/>
          <a:ln w="38100">
            <a:solidFill>
              <a:srgbClr val="111827"/>
            </a:solidFill>
            <a:prstDash val="solid"/>
            <a:tailEnd type="triangle"/>
          </a:ln>
        </p:spPr>
      </p:sp>
      <p:sp>
        <p:nvSpPr>
          <p:cNvPr id="28" name="Text 26"/>
          <p:cNvSpPr txBox="1"/>
          <p:nvPr/>
        </p:nvSpPr>
        <p:spPr>
          <a:xfrm>
            <a:off x="8321040" y="3154680"/>
            <a:ext cx="457200" cy="457200"/>
          </a:xfrm>
          <a:prstGeom prst="rect">
            <a:avLst/>
          </a:prstGeom>
          <a:noFill/>
          <a:ln/>
        </p:spPr>
        <p:txBody>
          <a:bodyPr wrap="square" lIns="0" tIns="0" rIns="0" bIns="0" rtlCol="0" anchor="ctr"/>
          <a:lstStyle/>
          <a:p>
            <a:pPr indent="0" marL="0">
              <a:buNone/>
            </a:pPr>
            <a:r>
              <a:rPr lang="en-US" sz="2400" b="1" dirty="0">
                <a:solidFill>
                  <a:srgbClr val="111827"/>
                </a:solidFill>
              </a:rPr>
              <a:t>v</a:t>
            </a:r>
            <a:endParaRPr lang="en-US" sz="2400" dirty="0"/>
          </a:p>
        </p:txBody>
      </p:sp>
      <p:sp>
        <p:nvSpPr>
          <p:cNvPr id="29" name="Text 27"/>
          <p:cNvSpPr txBox="1"/>
          <p:nvPr/>
        </p:nvSpPr>
        <p:spPr>
          <a:xfrm>
            <a:off x="5760720" y="4709160"/>
            <a:ext cx="1828800" cy="320040"/>
          </a:xfrm>
          <a:prstGeom prst="rect">
            <a:avLst/>
          </a:prstGeom>
          <a:noFill/>
          <a:ln/>
        </p:spPr>
        <p:txBody>
          <a:bodyPr wrap="square" lIns="0" tIns="0" rIns="0" bIns="0" rtlCol="0" anchor="ctr"/>
          <a:lstStyle/>
          <a:p>
            <a:pPr indent="0" marL="0">
              <a:buNone/>
            </a:pPr>
            <a:r>
              <a:rPr lang="en-US" sz="1500" b="1" dirty="0">
                <a:solidFill>
                  <a:srgbClr val="C2410C"/>
                </a:solidFill>
              </a:rPr>
              <a:t>medical</a:t>
            </a:r>
            <a:endParaRPr lang="en-US" sz="1500" dirty="0"/>
          </a:p>
        </p:txBody>
      </p:sp>
      <p:sp>
        <p:nvSpPr>
          <p:cNvPr id="30" name="Text 28"/>
          <p:cNvSpPr txBox="1"/>
          <p:nvPr/>
        </p:nvSpPr>
        <p:spPr>
          <a:xfrm>
            <a:off x="9144000" y="2468880"/>
            <a:ext cx="2194560" cy="320040"/>
          </a:xfrm>
          <a:prstGeom prst="rect">
            <a:avLst/>
          </a:prstGeom>
          <a:noFill/>
          <a:ln/>
        </p:spPr>
        <p:txBody>
          <a:bodyPr wrap="square" lIns="0" tIns="0" rIns="0" bIns="0" rtlCol="0" anchor="ctr"/>
          <a:lstStyle/>
          <a:p>
            <a:pPr algn="r" indent="0" marL="0">
              <a:buNone/>
            </a:pPr>
            <a:r>
              <a:rPr lang="en-US" sz="1500" b="1" dirty="0">
                <a:solidFill>
                  <a:srgbClr val="2563EB"/>
                </a:solidFill>
              </a:rPr>
              <a:t>everything else</a:t>
            </a:r>
            <a:endParaRPr lang="en-US" sz="1500" dirty="0"/>
          </a:p>
        </p:txBody>
      </p:sp>
      <p:sp>
        <p:nvSpPr>
          <p:cNvPr id="31" name="Text 29"/>
          <p:cNvSpPr txBox="1"/>
          <p:nvPr/>
        </p:nvSpPr>
        <p:spPr>
          <a:xfrm>
            <a:off x="5486400" y="5212080"/>
            <a:ext cx="6035040" cy="365760"/>
          </a:xfrm>
          <a:prstGeom prst="rect">
            <a:avLst/>
          </a:prstGeom>
          <a:noFill/>
          <a:ln/>
        </p:spPr>
        <p:txBody>
          <a:bodyPr wrap="square" lIns="0" tIns="0" rIns="0" bIns="0" rtlCol="0" anchor="ctr"/>
          <a:lstStyle/>
          <a:p>
            <a:pPr algn="ctr" indent="0" marL="0">
              <a:buNone/>
            </a:pPr>
            <a:r>
              <a:rPr lang="en-US" sz="1500" b="1" dirty="0">
                <a:solidFill>
                  <a:srgbClr val="6B7280"/>
                </a:solidFill>
              </a:rPr>
              <a:t>one layer, each dot a sentence</a:t>
            </a:r>
            <a:endParaRPr lang="en-US" sz="1500" dirty="0"/>
          </a:p>
        </p:txBody>
      </p:sp>
      <p:sp>
        <p:nvSpPr>
          <p:cNvPr id="3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Medical sits in its own corner. </a:t>
            </a:r>
            <a:pPr indent="0" marL="0">
              <a:buNone/>
            </a:pPr>
            <a:r>
              <a:rPr lang="en-US" sz="1800" b="1" i="1" dirty="0">
                <a:solidFill>
                  <a:srgbClr val="6B7280"/>
                </a:solidFill>
              </a:rPr>
              <a:t>So we can point at it: one arrow, v.</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1 · THE NUDGE</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Add the arrow while it thinks. </a:t>
            </a:r>
            <a:pPr algn="l" indent="0" marL="0">
              <a:buNone/>
            </a:pPr>
            <a:r>
              <a:rPr lang="en-US" sz="3200" b="1" i="1" dirty="0">
                <a:solidFill>
                  <a:srgbClr val="6B7280"/>
                </a:solidFill>
              </a:rPr>
              <a:t>Where you add it matters.</a:t>
            </a:r>
            <a:endParaRPr lang="en-US" sz="3200" dirty="0"/>
          </a:p>
        </p:txBody>
      </p:sp>
      <p:sp>
        <p:nvSpPr>
          <p:cNvPr id="4" name="Shape 2"/>
          <p:cNvSpPr/>
          <p:nvPr/>
        </p:nvSpPr>
        <p:spPr>
          <a:xfrm>
            <a:off x="914400" y="2468880"/>
            <a:ext cx="2926080" cy="438912"/>
          </a:xfrm>
          <a:prstGeom prst="roundRect">
            <a:avLst>
              <a:gd name="adj" fmla="val 12500"/>
            </a:avLst>
          </a:prstGeom>
          <a:solidFill>
            <a:srgbClr val="E5E7EB"/>
          </a:solidFill>
          <a:ln w="12700">
            <a:solidFill>
              <a:srgbClr val="E5E7EB"/>
            </a:solidFill>
            <a:prstDash val="solid"/>
          </a:ln>
        </p:spPr>
      </p:sp>
      <p:sp>
        <p:nvSpPr>
          <p:cNvPr id="5" name="Shape 3"/>
          <p:cNvSpPr/>
          <p:nvPr/>
        </p:nvSpPr>
        <p:spPr>
          <a:xfrm>
            <a:off x="914400" y="3017520"/>
            <a:ext cx="2926080" cy="438912"/>
          </a:xfrm>
          <a:prstGeom prst="roundRect">
            <a:avLst>
              <a:gd name="adj" fmla="val 12500"/>
            </a:avLst>
          </a:prstGeom>
          <a:solidFill>
            <a:srgbClr val="E5E7EB"/>
          </a:solidFill>
          <a:ln w="12700">
            <a:solidFill>
              <a:srgbClr val="E5E7EB"/>
            </a:solidFill>
            <a:prstDash val="solid"/>
          </a:ln>
        </p:spPr>
      </p:sp>
      <p:sp>
        <p:nvSpPr>
          <p:cNvPr id="6" name="Shape 4"/>
          <p:cNvSpPr/>
          <p:nvPr/>
        </p:nvSpPr>
        <p:spPr>
          <a:xfrm>
            <a:off x="914400" y="3566160"/>
            <a:ext cx="2926080" cy="438912"/>
          </a:xfrm>
          <a:prstGeom prst="roundRect">
            <a:avLst>
              <a:gd name="adj" fmla="val 12500"/>
            </a:avLst>
          </a:prstGeom>
          <a:solidFill>
            <a:srgbClr val="C2410C"/>
          </a:solidFill>
          <a:ln w="12700">
            <a:solidFill>
              <a:srgbClr val="C2410C"/>
            </a:solidFill>
            <a:prstDash val="solid"/>
          </a:ln>
        </p:spPr>
      </p:sp>
      <p:sp>
        <p:nvSpPr>
          <p:cNvPr id="7" name="Text 5"/>
          <p:cNvSpPr txBox="1"/>
          <p:nvPr/>
        </p:nvSpPr>
        <p:spPr>
          <a:xfrm>
            <a:off x="914400" y="3566160"/>
            <a:ext cx="2926080" cy="438912"/>
          </a:xfrm>
          <a:prstGeom prst="rect">
            <a:avLst/>
          </a:prstGeom>
          <a:noFill/>
          <a:ln/>
        </p:spPr>
        <p:txBody>
          <a:bodyPr wrap="square" lIns="0" tIns="0" rIns="0" bIns="0" rtlCol="0" anchor="ctr"/>
          <a:lstStyle/>
          <a:p>
            <a:pPr algn="ctr" indent="0" marL="0">
              <a:buNone/>
            </a:pPr>
            <a:r>
              <a:rPr lang="en-US" sz="1600" b="1" dirty="0">
                <a:solidFill>
                  <a:srgbClr val="FFFFFF"/>
                </a:solidFill>
              </a:rPr>
              <a:t>MLP layer</a:t>
            </a:r>
            <a:endParaRPr lang="en-US" sz="1600" dirty="0"/>
          </a:p>
        </p:txBody>
      </p:sp>
      <p:sp>
        <p:nvSpPr>
          <p:cNvPr id="8" name="Text 6"/>
          <p:cNvSpPr txBox="1"/>
          <p:nvPr/>
        </p:nvSpPr>
        <p:spPr>
          <a:xfrm>
            <a:off x="4023360" y="3493008"/>
            <a:ext cx="1097280" cy="548640"/>
          </a:xfrm>
          <a:prstGeom prst="rect">
            <a:avLst/>
          </a:prstGeom>
          <a:noFill/>
          <a:ln/>
        </p:spPr>
        <p:txBody>
          <a:bodyPr wrap="square" lIns="0" tIns="0" rIns="0" bIns="0" rtlCol="0" anchor="ctr"/>
          <a:lstStyle/>
          <a:p>
            <a:pPr indent="0" marL="0">
              <a:buNone/>
            </a:pPr>
            <a:r>
              <a:rPr lang="en-US" sz="2800" b="1" dirty="0">
                <a:solidFill>
                  <a:srgbClr val="C2410C"/>
                </a:solidFill>
              </a:rPr>
              <a:t>+ v</a:t>
            </a:r>
            <a:endParaRPr lang="en-US" sz="2800" dirty="0"/>
          </a:p>
        </p:txBody>
      </p:sp>
      <p:sp>
        <p:nvSpPr>
          <p:cNvPr id="9" name="Shape 7"/>
          <p:cNvSpPr/>
          <p:nvPr/>
        </p:nvSpPr>
        <p:spPr>
          <a:xfrm>
            <a:off x="914400" y="4114800"/>
            <a:ext cx="2926080" cy="438912"/>
          </a:xfrm>
          <a:prstGeom prst="roundRect">
            <a:avLst>
              <a:gd name="adj" fmla="val 12500"/>
            </a:avLst>
          </a:prstGeom>
          <a:solidFill>
            <a:srgbClr val="E5E7EB"/>
          </a:solidFill>
          <a:ln w="12700">
            <a:solidFill>
              <a:srgbClr val="E5E7EB"/>
            </a:solidFill>
            <a:prstDash val="solid"/>
          </a:ln>
        </p:spPr>
      </p:sp>
      <p:sp>
        <p:nvSpPr>
          <p:cNvPr id="10" name="Shape 8"/>
          <p:cNvSpPr/>
          <p:nvPr/>
        </p:nvSpPr>
        <p:spPr>
          <a:xfrm>
            <a:off x="914400" y="4663440"/>
            <a:ext cx="2926080" cy="438912"/>
          </a:xfrm>
          <a:prstGeom prst="roundRect">
            <a:avLst>
              <a:gd name="adj" fmla="val 12500"/>
            </a:avLst>
          </a:prstGeom>
          <a:solidFill>
            <a:srgbClr val="E5E7EB"/>
          </a:solidFill>
          <a:ln w="12700">
            <a:solidFill>
              <a:srgbClr val="E5E7EB"/>
            </a:solidFill>
            <a:prstDash val="solid"/>
          </a:ln>
        </p:spPr>
      </p:sp>
      <p:sp>
        <p:nvSpPr>
          <p:cNvPr id="11" name="Text 9"/>
          <p:cNvSpPr txBox="1"/>
          <p:nvPr/>
        </p:nvSpPr>
        <p:spPr>
          <a:xfrm>
            <a:off x="914400" y="5257800"/>
            <a:ext cx="2926080" cy="365760"/>
          </a:xfrm>
          <a:prstGeom prst="rect">
            <a:avLst/>
          </a:prstGeom>
          <a:noFill/>
          <a:ln/>
        </p:spPr>
        <p:txBody>
          <a:bodyPr wrap="square" lIns="0" tIns="0" rIns="0" bIns="0" rtlCol="0" anchor="ctr"/>
          <a:lstStyle/>
          <a:p>
            <a:pPr algn="ctr" indent="0" marL="0">
              <a:buNone/>
            </a:pPr>
            <a:r>
              <a:rPr lang="en-US" sz="1400" dirty="0">
                <a:solidFill>
                  <a:srgbClr val="6B7280"/>
                </a:solidFill>
              </a:rPr>
              <a:t>the model, layer by layer</a:t>
            </a:r>
            <a:endParaRPr lang="en-US" sz="1400" dirty="0"/>
          </a:p>
        </p:txBody>
      </p:sp>
      <p:sp>
        <p:nvSpPr>
          <p:cNvPr id="12" name="Shape 10"/>
          <p:cNvSpPr/>
          <p:nvPr/>
        </p:nvSpPr>
        <p:spPr>
          <a:xfrm>
            <a:off x="6583680" y="3840480"/>
            <a:ext cx="1188720" cy="1143000"/>
          </a:xfrm>
          <a:prstGeom prst="rect">
            <a:avLst/>
          </a:prstGeom>
          <a:solidFill>
            <a:srgbClr val="9CA3AF"/>
          </a:solidFill>
          <a:ln w="12700">
            <a:solidFill>
              <a:srgbClr val="9CA3AF"/>
            </a:solidFill>
            <a:prstDash val="solid"/>
          </a:ln>
        </p:spPr>
      </p:sp>
      <p:sp>
        <p:nvSpPr>
          <p:cNvPr id="13" name="Text 11"/>
          <p:cNvSpPr txBox="1"/>
          <p:nvPr/>
        </p:nvSpPr>
        <p:spPr>
          <a:xfrm>
            <a:off x="6400800" y="3456432"/>
            <a:ext cx="1554480" cy="365760"/>
          </a:xfrm>
          <a:prstGeom prst="rect">
            <a:avLst/>
          </a:prstGeom>
          <a:noFill/>
          <a:ln/>
        </p:spPr>
        <p:txBody>
          <a:bodyPr wrap="square" lIns="0" tIns="0" rIns="0" bIns="0" rtlCol="0" anchor="ctr"/>
          <a:lstStyle/>
          <a:p>
            <a:pPr algn="ctr" indent="0" marL="0">
              <a:buNone/>
            </a:pPr>
            <a:r>
              <a:rPr lang="en-US" sz="1600" b="1" dirty="0">
                <a:solidFill>
                  <a:srgbClr val="6B7280"/>
                </a:solidFill>
              </a:rPr>
              <a:t>+21%</a:t>
            </a:r>
            <a:endParaRPr lang="en-US" sz="1600" dirty="0"/>
          </a:p>
        </p:txBody>
      </p:sp>
      <p:sp>
        <p:nvSpPr>
          <p:cNvPr id="14" name="Shape 12"/>
          <p:cNvSpPr/>
          <p:nvPr/>
        </p:nvSpPr>
        <p:spPr>
          <a:xfrm>
            <a:off x="8138160" y="3429000"/>
            <a:ext cx="1188720" cy="1554480"/>
          </a:xfrm>
          <a:prstGeom prst="rect">
            <a:avLst/>
          </a:prstGeom>
          <a:solidFill>
            <a:srgbClr val="9CA3AF"/>
          </a:solidFill>
          <a:ln w="12700">
            <a:solidFill>
              <a:srgbClr val="9CA3AF"/>
            </a:solidFill>
            <a:prstDash val="solid"/>
          </a:ln>
        </p:spPr>
      </p:sp>
      <p:sp>
        <p:nvSpPr>
          <p:cNvPr id="15" name="Text 13"/>
          <p:cNvSpPr txBox="1"/>
          <p:nvPr/>
        </p:nvSpPr>
        <p:spPr>
          <a:xfrm>
            <a:off x="7955280" y="3044952"/>
            <a:ext cx="1554480" cy="365760"/>
          </a:xfrm>
          <a:prstGeom prst="rect">
            <a:avLst/>
          </a:prstGeom>
          <a:noFill/>
          <a:ln/>
        </p:spPr>
        <p:txBody>
          <a:bodyPr wrap="square" lIns="0" tIns="0" rIns="0" bIns="0" rtlCol="0" anchor="ctr"/>
          <a:lstStyle/>
          <a:p>
            <a:pPr algn="ctr" indent="0" marL="0">
              <a:buNone/>
            </a:pPr>
            <a:r>
              <a:rPr lang="en-US" sz="1600" b="1" dirty="0">
                <a:solidFill>
                  <a:srgbClr val="6B7280"/>
                </a:solidFill>
              </a:rPr>
              <a:t>+29%</a:t>
            </a:r>
            <a:endParaRPr lang="en-US" sz="1600" dirty="0"/>
          </a:p>
        </p:txBody>
      </p:sp>
      <p:sp>
        <p:nvSpPr>
          <p:cNvPr id="16" name="Shape 14"/>
          <p:cNvSpPr/>
          <p:nvPr/>
        </p:nvSpPr>
        <p:spPr>
          <a:xfrm>
            <a:off x="9692640" y="2560320"/>
            <a:ext cx="1188720" cy="2423160"/>
          </a:xfrm>
          <a:prstGeom prst="rect">
            <a:avLst/>
          </a:prstGeom>
          <a:solidFill>
            <a:srgbClr val="C2410C"/>
          </a:solidFill>
          <a:ln w="12700">
            <a:solidFill>
              <a:srgbClr val="C2410C"/>
            </a:solidFill>
            <a:prstDash val="solid"/>
          </a:ln>
        </p:spPr>
      </p:sp>
      <p:sp>
        <p:nvSpPr>
          <p:cNvPr id="17" name="Text 15"/>
          <p:cNvSpPr txBox="1"/>
          <p:nvPr/>
        </p:nvSpPr>
        <p:spPr>
          <a:xfrm>
            <a:off x="9509760" y="2176272"/>
            <a:ext cx="1554480" cy="365760"/>
          </a:xfrm>
          <a:prstGeom prst="rect">
            <a:avLst/>
          </a:prstGeom>
          <a:noFill/>
          <a:ln/>
        </p:spPr>
        <p:txBody>
          <a:bodyPr wrap="square" lIns="0" tIns="0" rIns="0" bIns="0" rtlCol="0" anchor="ctr"/>
          <a:lstStyle/>
          <a:p>
            <a:pPr algn="ctr" indent="0" marL="0">
              <a:buNone/>
            </a:pPr>
            <a:r>
              <a:rPr lang="en-US" sz="1600" b="1" dirty="0">
                <a:solidFill>
                  <a:srgbClr val="C2410C"/>
                </a:solidFill>
              </a:rPr>
              <a:t>+45%</a:t>
            </a:r>
            <a:endParaRPr lang="en-US" sz="1600" dirty="0"/>
          </a:p>
        </p:txBody>
      </p:sp>
      <p:sp>
        <p:nvSpPr>
          <p:cNvPr id="18" name="Shape 16"/>
          <p:cNvSpPr/>
          <p:nvPr/>
        </p:nvSpPr>
        <p:spPr>
          <a:xfrm>
            <a:off x="6446520" y="4983480"/>
            <a:ext cx="4663440" cy="0"/>
          </a:xfrm>
          <a:prstGeom prst="line">
            <a:avLst/>
          </a:prstGeom>
          <a:noFill/>
          <a:ln w="25400">
            <a:solidFill>
              <a:srgbClr val="111827"/>
            </a:solidFill>
            <a:prstDash val="solid"/>
          </a:ln>
        </p:spPr>
      </p:sp>
      <p:sp>
        <p:nvSpPr>
          <p:cNvPr id="19" name="Text 17"/>
          <p:cNvSpPr txBox="1"/>
          <p:nvPr/>
        </p:nvSpPr>
        <p:spPr>
          <a:xfrm>
            <a:off x="6400800" y="5056632"/>
            <a:ext cx="1554480" cy="320040"/>
          </a:xfrm>
          <a:prstGeom prst="rect">
            <a:avLst/>
          </a:prstGeom>
          <a:noFill/>
          <a:ln/>
        </p:spPr>
        <p:txBody>
          <a:bodyPr wrap="square" lIns="0" tIns="0" rIns="0" bIns="0" rtlCol="0" anchor="ctr"/>
          <a:lstStyle/>
          <a:p>
            <a:pPr algn="ctr" indent="0" marL="0">
              <a:buNone/>
            </a:pPr>
            <a:r>
              <a:rPr lang="en-US" sz="1400" b="1" dirty="0">
                <a:solidFill>
                  <a:srgbClr val="374151"/>
                </a:solidFill>
              </a:rPr>
              <a:t>the usual spot</a:t>
            </a:r>
            <a:endParaRPr lang="en-US" sz="1400" dirty="0"/>
          </a:p>
        </p:txBody>
      </p:sp>
      <p:sp>
        <p:nvSpPr>
          <p:cNvPr id="20" name="Text 18"/>
          <p:cNvSpPr txBox="1"/>
          <p:nvPr/>
        </p:nvSpPr>
        <p:spPr>
          <a:xfrm>
            <a:off x="7955280" y="5056632"/>
            <a:ext cx="1554480" cy="320040"/>
          </a:xfrm>
          <a:prstGeom prst="rect">
            <a:avLst/>
          </a:prstGeom>
          <a:noFill/>
          <a:ln/>
        </p:spPr>
        <p:txBody>
          <a:bodyPr wrap="square" lIns="0" tIns="0" rIns="0" bIns="0" rtlCol="0" anchor="ctr"/>
          <a:lstStyle/>
          <a:p>
            <a:pPr algn="ctr" indent="0" marL="0">
              <a:buNone/>
            </a:pPr>
            <a:r>
              <a:rPr lang="en-US" sz="1400" b="1" dirty="0">
                <a:solidFill>
                  <a:srgbClr val="374151"/>
                </a:solidFill>
              </a:rPr>
              <a:t>attention</a:t>
            </a:r>
            <a:endParaRPr lang="en-US" sz="1400" dirty="0"/>
          </a:p>
        </p:txBody>
      </p:sp>
      <p:sp>
        <p:nvSpPr>
          <p:cNvPr id="21" name="Text 19"/>
          <p:cNvSpPr txBox="1"/>
          <p:nvPr/>
        </p:nvSpPr>
        <p:spPr>
          <a:xfrm>
            <a:off x="9509760" y="5056632"/>
            <a:ext cx="1554480" cy="320040"/>
          </a:xfrm>
          <a:prstGeom prst="rect">
            <a:avLst/>
          </a:prstGeom>
          <a:noFill/>
          <a:ln/>
        </p:spPr>
        <p:txBody>
          <a:bodyPr wrap="square" lIns="0" tIns="0" rIns="0" bIns="0" rtlCol="0" anchor="ctr"/>
          <a:lstStyle/>
          <a:p>
            <a:pPr algn="ctr" indent="0" marL="0">
              <a:buNone/>
            </a:pPr>
            <a:r>
              <a:rPr lang="en-US" sz="1400" b="1" dirty="0">
                <a:solidFill>
                  <a:srgbClr val="C2410C"/>
                </a:solidFill>
              </a:rPr>
              <a:t>MLP</a:t>
            </a:r>
            <a:endParaRPr lang="en-US" sz="1400" dirty="0"/>
          </a:p>
        </p:txBody>
      </p:sp>
      <p:sp>
        <p:nvSpPr>
          <p:cNvPr id="22" name="Text 20"/>
          <p:cNvSpPr txBox="1"/>
          <p:nvPr/>
        </p:nvSpPr>
        <p:spPr>
          <a:xfrm>
            <a:off x="6446520" y="5394960"/>
            <a:ext cx="4663440" cy="320040"/>
          </a:xfrm>
          <a:prstGeom prst="rect">
            <a:avLst/>
          </a:prstGeom>
          <a:noFill/>
          <a:ln/>
        </p:spPr>
        <p:txBody>
          <a:bodyPr wrap="square" lIns="0" tIns="0" rIns="0" bIns="0" rtlCol="0" anchor="ctr"/>
          <a:lstStyle/>
          <a:p>
            <a:pPr algn="ctr" indent="0" marL="0">
              <a:buNone/>
            </a:pPr>
            <a:r>
              <a:rPr lang="en-US" sz="1300" dirty="0">
                <a:solidFill>
                  <a:srgbClr val="6B7280"/>
                </a:solidFill>
              </a:rPr>
              <a:t>better at medical and law facts</a:t>
            </a:r>
            <a:endParaRPr lang="en-US" sz="1300" dirty="0"/>
          </a:p>
        </p:txBody>
      </p:sp>
      <p:sp>
        <p:nvSpPr>
          <p:cNvPr id="23"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No training, nothing forgotten. </a:t>
            </a:r>
            <a:pPr indent="0" marL="0">
              <a:buNone/>
            </a:pPr>
            <a:r>
              <a:rPr lang="en-US" sz="1800" b="1" i="1" dirty="0">
                <a:solidFill>
                  <a:srgbClr val="6B7280"/>
                </a:solidFill>
              </a:rPr>
              <a:t>But it can only surface what the model has already read.</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WHY THIS MATTERS · 2</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But what if the knowledge is genuinely new? </a:t>
            </a:r>
            <a:pPr algn="l" indent="0" marL="0">
              <a:buNone/>
            </a:pPr>
            <a:r>
              <a:rPr lang="en-US" sz="3200" b="1" i="1" dirty="0">
                <a:solidFill>
                  <a:srgbClr val="6B7280"/>
                </a:solidFill>
              </a:rPr>
              <a:t>The model finished school in 2023.</a:t>
            </a:r>
            <a:endParaRPr lang="en-US" sz="3200" dirty="0"/>
          </a:p>
        </p:txBody>
      </p:sp>
      <p:pic>
        <p:nvPicPr>
          <p:cNvPr id="4" name="Image 0" descr="preencoded.png">    </p:cNvPr>
          <p:cNvPicPr>
            <a:picLocks noChangeAspect="1"/>
          </p:cNvPicPr>
          <p:nvPr/>
        </p:nvPicPr>
        <p:blipFill>
          <a:blip r:embed="rId1"/>
          <a:stretch>
            <a:fillRect/>
          </a:stretch>
        </p:blipFill>
        <p:spPr>
          <a:xfrm>
            <a:off x="5577840" y="2148840"/>
            <a:ext cx="1005840" cy="1005840"/>
          </a:xfrm>
          <a:prstGeom prst="rect">
            <a:avLst/>
          </a:prstGeom>
        </p:spPr>
      </p:pic>
      <p:sp>
        <p:nvSpPr>
          <p:cNvPr id="5" name="Text 2"/>
          <p:cNvSpPr txBox="1"/>
          <p:nvPr/>
        </p:nvSpPr>
        <p:spPr>
          <a:xfrm>
            <a:off x="4754880" y="3200400"/>
            <a:ext cx="2651760" cy="411480"/>
          </a:xfrm>
          <a:prstGeom prst="rect">
            <a:avLst/>
          </a:prstGeom>
          <a:noFill/>
          <a:ln/>
        </p:spPr>
        <p:txBody>
          <a:bodyPr wrap="square" lIns="0" tIns="0" rIns="0" bIns="0" rtlCol="0" anchor="ctr"/>
          <a:lstStyle/>
          <a:p>
            <a:pPr algn="ctr" indent="0" marL="0">
              <a:buNone/>
            </a:pPr>
            <a:r>
              <a:rPr lang="en-US" sz="2400" b="1" dirty="0">
                <a:solidFill>
                  <a:srgbClr val="111827"/>
                </a:solidFill>
              </a:rPr>
              <a:t>Dec 2023</a:t>
            </a:r>
            <a:endParaRPr lang="en-US" sz="2400" dirty="0"/>
          </a:p>
        </p:txBody>
      </p:sp>
      <p:sp>
        <p:nvSpPr>
          <p:cNvPr id="6" name="Shape 3"/>
          <p:cNvSpPr/>
          <p:nvPr/>
        </p:nvSpPr>
        <p:spPr>
          <a:xfrm>
            <a:off x="640080" y="3749040"/>
            <a:ext cx="5303520" cy="292608"/>
          </a:xfrm>
          <a:prstGeom prst="roundRect">
            <a:avLst>
              <a:gd name="adj" fmla="val 50000"/>
            </a:avLst>
          </a:prstGeom>
          <a:solidFill>
            <a:srgbClr val="111827"/>
          </a:solidFill>
          <a:ln w="12700">
            <a:solidFill>
              <a:srgbClr val="111827"/>
            </a:solidFill>
            <a:prstDash val="solid"/>
          </a:ln>
        </p:spPr>
      </p:sp>
      <p:sp>
        <p:nvSpPr>
          <p:cNvPr id="7" name="Shape 4"/>
          <p:cNvSpPr/>
          <p:nvPr/>
        </p:nvSpPr>
        <p:spPr>
          <a:xfrm>
            <a:off x="6172200" y="3749040"/>
            <a:ext cx="384048" cy="292608"/>
          </a:xfrm>
          <a:prstGeom prst="rect">
            <a:avLst/>
          </a:prstGeom>
          <a:solidFill>
            <a:srgbClr val="C2410C"/>
          </a:solidFill>
          <a:ln w="12700">
            <a:solidFill>
              <a:srgbClr val="C2410C"/>
            </a:solidFill>
            <a:prstDash val="solid"/>
          </a:ln>
        </p:spPr>
      </p:sp>
      <p:sp>
        <p:nvSpPr>
          <p:cNvPr id="8" name="Shape 5"/>
          <p:cNvSpPr/>
          <p:nvPr/>
        </p:nvSpPr>
        <p:spPr>
          <a:xfrm>
            <a:off x="6775704" y="3749040"/>
            <a:ext cx="384048" cy="292608"/>
          </a:xfrm>
          <a:prstGeom prst="rect">
            <a:avLst/>
          </a:prstGeom>
          <a:solidFill>
            <a:srgbClr val="C2410C"/>
          </a:solidFill>
          <a:ln w="12700">
            <a:solidFill>
              <a:srgbClr val="C2410C"/>
            </a:solidFill>
            <a:prstDash val="solid"/>
          </a:ln>
        </p:spPr>
      </p:sp>
      <p:sp>
        <p:nvSpPr>
          <p:cNvPr id="9" name="Shape 6"/>
          <p:cNvSpPr/>
          <p:nvPr/>
        </p:nvSpPr>
        <p:spPr>
          <a:xfrm>
            <a:off x="7379208" y="3749040"/>
            <a:ext cx="384048" cy="292608"/>
          </a:xfrm>
          <a:prstGeom prst="rect">
            <a:avLst/>
          </a:prstGeom>
          <a:solidFill>
            <a:srgbClr val="C2410C"/>
          </a:solidFill>
          <a:ln w="12700">
            <a:solidFill>
              <a:srgbClr val="C2410C"/>
            </a:solidFill>
            <a:prstDash val="solid"/>
          </a:ln>
        </p:spPr>
      </p:sp>
      <p:sp>
        <p:nvSpPr>
          <p:cNvPr id="10" name="Shape 7"/>
          <p:cNvSpPr/>
          <p:nvPr/>
        </p:nvSpPr>
        <p:spPr>
          <a:xfrm>
            <a:off x="7982712" y="3749040"/>
            <a:ext cx="384048" cy="292608"/>
          </a:xfrm>
          <a:prstGeom prst="rect">
            <a:avLst/>
          </a:prstGeom>
          <a:solidFill>
            <a:srgbClr val="C2410C"/>
          </a:solidFill>
          <a:ln w="12700">
            <a:solidFill>
              <a:srgbClr val="C2410C"/>
            </a:solidFill>
            <a:prstDash val="solid"/>
          </a:ln>
        </p:spPr>
      </p:sp>
      <p:sp>
        <p:nvSpPr>
          <p:cNvPr id="11" name="Shape 8"/>
          <p:cNvSpPr/>
          <p:nvPr/>
        </p:nvSpPr>
        <p:spPr>
          <a:xfrm>
            <a:off x="8586216" y="3749040"/>
            <a:ext cx="384048" cy="292608"/>
          </a:xfrm>
          <a:prstGeom prst="rect">
            <a:avLst/>
          </a:prstGeom>
          <a:solidFill>
            <a:srgbClr val="C2410C"/>
          </a:solidFill>
          <a:ln w="12700">
            <a:solidFill>
              <a:srgbClr val="C2410C"/>
            </a:solidFill>
            <a:prstDash val="solid"/>
          </a:ln>
        </p:spPr>
      </p:sp>
      <p:sp>
        <p:nvSpPr>
          <p:cNvPr id="12" name="Shape 9"/>
          <p:cNvSpPr/>
          <p:nvPr/>
        </p:nvSpPr>
        <p:spPr>
          <a:xfrm>
            <a:off x="9189720" y="3749040"/>
            <a:ext cx="384048" cy="292608"/>
          </a:xfrm>
          <a:prstGeom prst="rect">
            <a:avLst/>
          </a:prstGeom>
          <a:solidFill>
            <a:srgbClr val="C2410C"/>
          </a:solidFill>
          <a:ln w="12700">
            <a:solidFill>
              <a:srgbClr val="C2410C"/>
            </a:solidFill>
            <a:prstDash val="solid"/>
          </a:ln>
        </p:spPr>
      </p:sp>
      <p:sp>
        <p:nvSpPr>
          <p:cNvPr id="13" name="Shape 10"/>
          <p:cNvSpPr/>
          <p:nvPr/>
        </p:nvSpPr>
        <p:spPr>
          <a:xfrm>
            <a:off x="9793224" y="3749040"/>
            <a:ext cx="384048" cy="292608"/>
          </a:xfrm>
          <a:prstGeom prst="rect">
            <a:avLst/>
          </a:prstGeom>
          <a:solidFill>
            <a:srgbClr val="C2410C"/>
          </a:solidFill>
          <a:ln w="12700">
            <a:solidFill>
              <a:srgbClr val="C2410C"/>
            </a:solidFill>
            <a:prstDash val="solid"/>
          </a:ln>
        </p:spPr>
      </p:sp>
      <p:sp>
        <p:nvSpPr>
          <p:cNvPr id="14" name="Shape 11"/>
          <p:cNvSpPr/>
          <p:nvPr/>
        </p:nvSpPr>
        <p:spPr>
          <a:xfrm>
            <a:off x="10396728" y="3749040"/>
            <a:ext cx="384048" cy="292608"/>
          </a:xfrm>
          <a:prstGeom prst="rect">
            <a:avLst/>
          </a:prstGeom>
          <a:solidFill>
            <a:srgbClr val="C2410C"/>
          </a:solidFill>
          <a:ln w="12700">
            <a:solidFill>
              <a:srgbClr val="C2410C"/>
            </a:solidFill>
            <a:prstDash val="solid"/>
          </a:ln>
        </p:spPr>
      </p:sp>
      <p:sp>
        <p:nvSpPr>
          <p:cNvPr id="15" name="Shape 12"/>
          <p:cNvSpPr/>
          <p:nvPr/>
        </p:nvSpPr>
        <p:spPr>
          <a:xfrm>
            <a:off x="11000232" y="3749040"/>
            <a:ext cx="384048" cy="292608"/>
          </a:xfrm>
          <a:prstGeom prst="rect">
            <a:avLst/>
          </a:prstGeom>
          <a:solidFill>
            <a:srgbClr val="C2410C"/>
          </a:solidFill>
          <a:ln w="12700">
            <a:solidFill>
              <a:srgbClr val="C2410C"/>
            </a:solidFill>
            <a:prstDash val="solid"/>
          </a:ln>
        </p:spPr>
      </p:sp>
      <p:sp>
        <p:nvSpPr>
          <p:cNvPr id="16" name="Text 13"/>
          <p:cNvSpPr txBox="1"/>
          <p:nvPr/>
        </p:nvSpPr>
        <p:spPr>
          <a:xfrm>
            <a:off x="640080" y="4206240"/>
            <a:ext cx="5303520" cy="457200"/>
          </a:xfrm>
          <a:prstGeom prst="rect">
            <a:avLst/>
          </a:prstGeom>
          <a:noFill/>
          <a:ln/>
        </p:spPr>
        <p:txBody>
          <a:bodyPr wrap="square" lIns="0" tIns="0" rIns="0" bIns="0" rtlCol="0" anchor="ctr"/>
          <a:lstStyle/>
          <a:p>
            <a:pPr indent="0" marL="0">
              <a:buNone/>
            </a:pPr>
            <a:r>
              <a:rPr lang="en-US" sz="2400" b="1" dirty="0">
                <a:solidFill>
                  <a:srgbClr val="111827"/>
                </a:solidFill>
              </a:rPr>
              <a:t>Read everything up to here</a:t>
            </a:r>
            <a:endParaRPr lang="en-US" sz="2400" dirty="0"/>
          </a:p>
        </p:txBody>
      </p:sp>
      <p:sp>
        <p:nvSpPr>
          <p:cNvPr id="17" name="Text 14"/>
          <p:cNvSpPr txBox="1"/>
          <p:nvPr/>
        </p:nvSpPr>
        <p:spPr>
          <a:xfrm>
            <a:off x="6172200" y="4206240"/>
            <a:ext cx="5394960" cy="457200"/>
          </a:xfrm>
          <a:prstGeom prst="rect">
            <a:avLst/>
          </a:prstGeom>
          <a:noFill/>
          <a:ln/>
        </p:spPr>
        <p:txBody>
          <a:bodyPr wrap="square" lIns="0" tIns="0" rIns="0" bIns="0" rtlCol="0" anchor="ctr"/>
          <a:lstStyle/>
          <a:p>
            <a:pPr indent="0" marL="0">
              <a:buNone/>
            </a:pPr>
            <a:r>
              <a:rPr lang="en-US" sz="2400" b="1" dirty="0">
                <a:solidFill>
                  <a:srgbClr val="C2410C"/>
                </a:solidFill>
              </a:rPr>
              <a:t>Never saw this</a:t>
            </a:r>
            <a:endParaRPr lang="en-US" sz="2400" dirty="0"/>
          </a:p>
        </p:txBody>
      </p:sp>
      <p:sp>
        <p:nvSpPr>
          <p:cNvPr id="18" name="Text 15"/>
          <p:cNvSpPr txBox="1"/>
          <p:nvPr/>
        </p:nvSpPr>
        <p:spPr>
          <a:xfrm>
            <a:off x="6172200" y="4663440"/>
            <a:ext cx="5394960" cy="365760"/>
          </a:xfrm>
          <a:prstGeom prst="rect">
            <a:avLst/>
          </a:prstGeom>
          <a:noFill/>
          <a:ln/>
        </p:spPr>
        <p:txBody>
          <a:bodyPr wrap="square" lIns="0" tIns="0" rIns="0" bIns="0" rtlCol="0" anchor="ctr"/>
          <a:lstStyle/>
          <a:p>
            <a:pPr indent="0" marL="0">
              <a:buNone/>
            </a:pPr>
            <a:r>
              <a:rPr lang="en-US" sz="1800" dirty="0">
                <a:solidFill>
                  <a:srgbClr val="6B7280"/>
                </a:solidFill>
              </a:rPr>
              <a:t>new drugs · new guidelines · yesterday's news</a:t>
            </a:r>
            <a:endParaRPr lang="en-US" sz="1800" dirty="0"/>
          </a:p>
        </p:txBody>
      </p:sp>
      <p:sp>
        <p:nvSpPr>
          <p:cNvPr id="19"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Steering can't surface what was never read. </a:t>
            </a:r>
            <a:pPr indent="0" marL="0">
              <a:buNone/>
            </a:pPr>
            <a:r>
              <a:rPr lang="en-US" sz="1800" b="1" i="1" dirty="0">
                <a:solidFill>
                  <a:srgbClr val="6B7280"/>
                </a:solidFill>
              </a:rPr>
              <a:t>Now we have to train, and pay the forgetting cost.</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THE CHEAPER WAY</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Don't rebuild it. </a:t>
            </a:r>
            <a:pPr algn="l" indent="0" marL="0">
              <a:buNone/>
            </a:pPr>
            <a:r>
              <a:rPr lang="en-US" sz="3200" b="1" i="1" dirty="0">
                <a:solidFill>
                  <a:srgbClr val="6B7280"/>
                </a:solidFill>
              </a:rPr>
              <a:t>Hand it the newspaper.</a:t>
            </a:r>
            <a:endParaRPr lang="en-US" sz="3200" dirty="0"/>
          </a:p>
        </p:txBody>
      </p:sp>
      <p:sp>
        <p:nvSpPr>
          <p:cNvPr id="4" name="Shape 2"/>
          <p:cNvSpPr/>
          <p:nvPr/>
        </p:nvSpPr>
        <p:spPr>
          <a:xfrm>
            <a:off x="640080" y="2194560"/>
            <a:ext cx="5257800" cy="3291840"/>
          </a:xfrm>
          <a:prstGeom prst="roundRect">
            <a:avLst>
              <a:gd name="adj" fmla="val 3333"/>
            </a:avLst>
          </a:prstGeom>
          <a:solidFill>
            <a:srgbClr val="F9FAFB"/>
          </a:solidFill>
          <a:ln w="12700">
            <a:solidFill>
              <a:srgbClr val="E5E7EB"/>
            </a:solidFill>
            <a:prstDash val="solid"/>
          </a:ln>
        </p:spPr>
      </p:sp>
      <p:sp>
        <p:nvSpPr>
          <p:cNvPr id="5" name="Text 3"/>
          <p:cNvSpPr txBox="1"/>
          <p:nvPr/>
        </p:nvSpPr>
        <p:spPr>
          <a:xfrm>
            <a:off x="640080" y="2423160"/>
            <a:ext cx="5257800" cy="274320"/>
          </a:xfrm>
          <a:prstGeom prst="rect">
            <a:avLst/>
          </a:prstGeom>
          <a:noFill/>
          <a:ln/>
        </p:spPr>
        <p:txBody>
          <a:bodyPr wrap="square" lIns="0" tIns="0" rIns="0" bIns="0" rtlCol="0" anchor="ctr"/>
          <a:lstStyle/>
          <a:p>
            <a:pPr algn="ctr" indent="0" marL="0">
              <a:buNone/>
            </a:pPr>
            <a:r>
              <a:rPr lang="en-US" sz="1100" b="1" spc="200" kern="0" dirty="0">
                <a:solidFill>
                  <a:srgbClr val="6B7280"/>
                </a:solidFill>
              </a:rPr>
              <a:t>FROM SCRATCH · LLAMA 3</a:t>
            </a:r>
            <a:endParaRPr lang="en-US" sz="1100" dirty="0"/>
          </a:p>
        </p:txBody>
      </p:sp>
      <p:sp>
        <p:nvSpPr>
          <p:cNvPr id="6" name="Text 4"/>
          <p:cNvSpPr txBox="1"/>
          <p:nvPr/>
        </p:nvSpPr>
        <p:spPr>
          <a:xfrm>
            <a:off x="640080" y="2788920"/>
            <a:ext cx="5257800" cy="1280160"/>
          </a:xfrm>
          <a:prstGeom prst="rect">
            <a:avLst/>
          </a:prstGeom>
          <a:noFill/>
          <a:ln/>
        </p:spPr>
        <p:txBody>
          <a:bodyPr wrap="square" lIns="0" tIns="0" rIns="0" bIns="0" rtlCol="0" anchor="ctr"/>
          <a:lstStyle/>
          <a:p>
            <a:pPr algn="ctr" indent="0" marL="0">
              <a:buNone/>
            </a:pPr>
            <a:r>
              <a:rPr lang="en-US" sz="6600" b="1" dirty="0">
                <a:solidFill>
                  <a:srgbClr val="111827"/>
                </a:solidFill>
                <a:latin typeface="Cambria" pitchFamily="34" charset="0"/>
                <a:ea typeface="Cambria" pitchFamily="34" charset="-122"/>
                <a:cs typeface="Cambria" pitchFamily="34" charset="-120"/>
              </a:rPr>
              <a:t>15.6 T</a:t>
            </a:r>
            <a:endParaRPr lang="en-US" sz="6600" dirty="0"/>
          </a:p>
        </p:txBody>
      </p:sp>
      <p:sp>
        <p:nvSpPr>
          <p:cNvPr id="7" name="Text 5"/>
          <p:cNvSpPr txBox="1"/>
          <p:nvPr/>
        </p:nvSpPr>
        <p:spPr>
          <a:xfrm>
            <a:off x="1005840" y="4160520"/>
            <a:ext cx="4526280" cy="640080"/>
          </a:xfrm>
          <a:prstGeom prst="rect">
            <a:avLst/>
          </a:prstGeom>
          <a:noFill/>
          <a:ln/>
        </p:spPr>
        <p:txBody>
          <a:bodyPr wrap="square" lIns="0" tIns="0" rIns="0" bIns="0" rtlCol="0" anchor="ctr"/>
          <a:lstStyle/>
          <a:p>
            <a:pPr algn="ctr" indent="0" marL="0">
              <a:buNone/>
            </a:pPr>
            <a:r>
              <a:rPr lang="en-US" sz="1500" dirty="0">
                <a:solidFill>
                  <a:srgbClr val="374151"/>
                </a:solidFill>
              </a:rPr>
              <a:t>words · about 30 million GPU-hours</a:t>
            </a:r>
            <a:endParaRPr lang="en-US" sz="1500" dirty="0"/>
          </a:p>
        </p:txBody>
      </p:sp>
      <p:sp>
        <p:nvSpPr>
          <p:cNvPr id="8" name="Text 6"/>
          <p:cNvSpPr txBox="1"/>
          <p:nvPr/>
        </p:nvSpPr>
        <p:spPr>
          <a:xfrm>
            <a:off x="640080" y="4937760"/>
            <a:ext cx="5257800" cy="274320"/>
          </a:xfrm>
          <a:prstGeom prst="rect">
            <a:avLst/>
          </a:prstGeom>
          <a:noFill/>
          <a:ln/>
        </p:spPr>
        <p:txBody>
          <a:bodyPr wrap="square" lIns="0" tIns="0" rIns="0" bIns="0" rtlCol="0" anchor="ctr"/>
          <a:lstStyle/>
          <a:p>
            <a:pPr algn="ctr" indent="0" marL="0">
              <a:buNone/>
            </a:pPr>
            <a:r>
              <a:rPr lang="en-US" sz="1200" dirty="0">
                <a:solidFill>
                  <a:srgbClr val="9CA3AF"/>
                </a:solidFill>
              </a:rPr>
              <a:t>Meta, 2024</a:t>
            </a:r>
            <a:endParaRPr lang="en-US" sz="1200" dirty="0"/>
          </a:p>
        </p:txBody>
      </p:sp>
      <p:sp>
        <p:nvSpPr>
          <p:cNvPr id="9" name="Shape 7"/>
          <p:cNvSpPr/>
          <p:nvPr/>
        </p:nvSpPr>
        <p:spPr>
          <a:xfrm>
            <a:off x="6263640" y="2194560"/>
            <a:ext cx="5257800" cy="3291840"/>
          </a:xfrm>
          <a:prstGeom prst="roundRect">
            <a:avLst>
              <a:gd name="adj" fmla="val 3333"/>
            </a:avLst>
          </a:prstGeom>
          <a:solidFill>
            <a:srgbClr val="FFF7ED"/>
          </a:solidFill>
          <a:ln w="12700">
            <a:solidFill>
              <a:srgbClr val="FDBA74"/>
            </a:solidFill>
            <a:prstDash val="solid"/>
          </a:ln>
        </p:spPr>
      </p:sp>
      <p:sp>
        <p:nvSpPr>
          <p:cNvPr id="10" name="Text 8"/>
          <p:cNvSpPr txBox="1"/>
          <p:nvPr/>
        </p:nvSpPr>
        <p:spPr>
          <a:xfrm>
            <a:off x="6263640" y="2423160"/>
            <a:ext cx="5257800" cy="274320"/>
          </a:xfrm>
          <a:prstGeom prst="rect">
            <a:avLst/>
          </a:prstGeom>
          <a:noFill/>
          <a:ln/>
        </p:spPr>
        <p:txBody>
          <a:bodyPr wrap="square" lIns="0" tIns="0" rIns="0" bIns="0" rtlCol="0" anchor="ctr"/>
          <a:lstStyle/>
          <a:p>
            <a:pPr algn="ctr" indent="0" marL="0">
              <a:buNone/>
            </a:pPr>
            <a:r>
              <a:rPr lang="en-US" sz="1100" b="1" spc="200" kern="0" dirty="0">
                <a:solidFill>
                  <a:srgbClr val="C2410C"/>
                </a:solidFill>
              </a:rPr>
              <a:t>KEEP TRAINING ON NEWS</a:t>
            </a:r>
            <a:endParaRPr lang="en-US" sz="1100" dirty="0"/>
          </a:p>
        </p:txBody>
      </p:sp>
      <p:sp>
        <p:nvSpPr>
          <p:cNvPr id="11" name="Text 9"/>
          <p:cNvSpPr txBox="1"/>
          <p:nvPr/>
        </p:nvSpPr>
        <p:spPr>
          <a:xfrm>
            <a:off x="6263640" y="2788920"/>
            <a:ext cx="5257800" cy="1280160"/>
          </a:xfrm>
          <a:prstGeom prst="rect">
            <a:avLst/>
          </a:prstGeom>
          <a:noFill/>
          <a:ln/>
        </p:spPr>
        <p:txBody>
          <a:bodyPr wrap="square" lIns="0" tIns="0" rIns="0" bIns="0" rtlCol="0" anchor="ctr"/>
          <a:lstStyle/>
          <a:p>
            <a:pPr algn="ctr" indent="0" marL="0">
              <a:buNone/>
            </a:pPr>
            <a:r>
              <a:rPr lang="en-US" sz="6600" b="1" dirty="0">
                <a:solidFill>
                  <a:srgbClr val="C2410C"/>
                </a:solidFill>
                <a:latin typeface="Cambria" pitchFamily="34" charset="0"/>
                <a:ea typeface="Cambria" pitchFamily="34" charset="-122"/>
                <a:cs typeface="Cambria" pitchFamily="34" charset="-120"/>
              </a:rPr>
              <a:t>6 B</a:t>
            </a:r>
            <a:endParaRPr lang="en-US" sz="6600" dirty="0"/>
          </a:p>
        </p:txBody>
      </p:sp>
      <p:sp>
        <p:nvSpPr>
          <p:cNvPr id="12" name="Text 10"/>
          <p:cNvSpPr txBox="1"/>
          <p:nvPr/>
        </p:nvSpPr>
        <p:spPr>
          <a:xfrm>
            <a:off x="6629400" y="4160520"/>
            <a:ext cx="4526280" cy="640080"/>
          </a:xfrm>
          <a:prstGeom prst="rect">
            <a:avLst/>
          </a:prstGeom>
          <a:noFill/>
          <a:ln/>
        </p:spPr>
        <p:txBody>
          <a:bodyPr wrap="square" lIns="0" tIns="0" rIns="0" bIns="0" rtlCol="0" anchor="ctr"/>
          <a:lstStyle/>
          <a:p>
            <a:pPr algn="ctr" indent="0" marL="0">
              <a:buNone/>
            </a:pPr>
            <a:r>
              <a:rPr lang="en-US" sz="1500" dirty="0">
                <a:solidFill>
                  <a:srgbClr val="374151"/>
                </a:solidFill>
              </a:rPr>
              <a:t>words of fresh news · a few days on a few GPUs</a:t>
            </a:r>
            <a:endParaRPr lang="en-US" sz="1500" dirty="0"/>
          </a:p>
        </p:txBody>
      </p:sp>
      <p:sp>
        <p:nvSpPr>
          <p:cNvPr id="13" name="Text 11"/>
          <p:cNvSpPr txBox="1"/>
          <p:nvPr/>
        </p:nvSpPr>
        <p:spPr>
          <a:xfrm>
            <a:off x="6263640" y="4937760"/>
            <a:ext cx="5257800" cy="274320"/>
          </a:xfrm>
          <a:prstGeom prst="rect">
            <a:avLst/>
          </a:prstGeom>
          <a:noFill/>
          <a:ln/>
        </p:spPr>
        <p:txBody>
          <a:bodyPr wrap="square" lIns="0" tIns="0" rIns="0" bIns="0" rtlCol="0" anchor="ctr"/>
          <a:lstStyle/>
          <a:p>
            <a:pPr algn="ctr" indent="0" marL="0">
              <a:buNone/>
            </a:pPr>
            <a:r>
              <a:rPr lang="en-US" sz="1200" dirty="0">
                <a:solidFill>
                  <a:srgbClr val="9CA3AF"/>
                </a:solidFill>
              </a:rPr>
              <a:t>2,500× less text</a:t>
            </a:r>
            <a:endParaRPr lang="en-US" sz="1200" dirty="0"/>
          </a:p>
        </p:txBody>
      </p:sp>
      <p:sp>
        <p:nvSpPr>
          <p:cNvPr id="14"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Same model, same recipe, new text: it learns the news. </a:t>
            </a:r>
            <a:pPr indent="0" marL="0">
              <a:buNone/>
            </a:pPr>
            <a:r>
              <a:rPr lang="en-US" sz="1800" b="1" i="1" dirty="0">
                <a:solidFill>
                  <a:srgbClr val="6B7280"/>
                </a:solidFill>
              </a:rPr>
              <a:t>It still forgets a little. Can we minimise that?</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WHY THIS MATTERS · 3</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People open up in their own language. </a:t>
            </a:r>
            <a:pPr algn="l" indent="0" marL="0">
              <a:buNone/>
            </a:pPr>
            <a:r>
              <a:rPr lang="en-US" sz="3200" b="1" i="1" dirty="0">
                <a:solidFill>
                  <a:srgbClr val="6B7280"/>
                </a:solidFill>
              </a:rPr>
              <a:t>Do we have to train once per language?</a:t>
            </a:r>
            <a:endParaRPr lang="en-US" sz="3200" dirty="0"/>
          </a:p>
        </p:txBody>
      </p:sp>
      <p:sp>
        <p:nvSpPr>
          <p:cNvPr id="4" name="Text 2"/>
          <p:cNvSpPr txBox="1"/>
          <p:nvPr/>
        </p:nvSpPr>
        <p:spPr>
          <a:xfrm>
            <a:off x="640080" y="2560320"/>
            <a:ext cx="6400800" cy="1463040"/>
          </a:xfrm>
          <a:prstGeom prst="rect">
            <a:avLst/>
          </a:prstGeom>
          <a:noFill/>
          <a:ln/>
        </p:spPr>
        <p:txBody>
          <a:bodyPr wrap="square" lIns="0" tIns="0" rIns="0" bIns="0" rtlCol="0" anchor="ctr"/>
          <a:lstStyle/>
          <a:p>
            <a:pPr indent="0" marL="0">
              <a:buNone/>
            </a:pPr>
            <a:r>
              <a:rPr lang="en-US" sz="2400" i="1" dirty="0">
                <a:solidFill>
                  <a:srgbClr val="374151"/>
                </a:solidFill>
              </a:rPr>
              <a:t>“When the emotional tone rises, multilingual clients switch to their first language.”</a:t>
            </a:r>
            <a:endParaRPr lang="en-US" sz="2400" dirty="0"/>
          </a:p>
        </p:txBody>
      </p:sp>
      <p:sp>
        <p:nvSpPr>
          <p:cNvPr id="5" name="Text 3"/>
          <p:cNvSpPr txBox="1"/>
          <p:nvPr/>
        </p:nvSpPr>
        <p:spPr>
          <a:xfrm>
            <a:off x="640080" y="4069080"/>
            <a:ext cx="6400800" cy="320040"/>
          </a:xfrm>
          <a:prstGeom prst="rect">
            <a:avLst/>
          </a:prstGeom>
          <a:noFill/>
          <a:ln/>
        </p:spPr>
        <p:txBody>
          <a:bodyPr wrap="square" lIns="0" tIns="0" rIns="0" bIns="0" rtlCol="0" anchor="ctr"/>
          <a:lstStyle/>
          <a:p>
            <a:pPr indent="0" marL="0">
              <a:buNone/>
            </a:pPr>
            <a:r>
              <a:rPr lang="en-US" sz="1300" dirty="0">
                <a:solidFill>
                  <a:srgbClr val="9CA3AF"/>
                </a:solidFill>
              </a:rPr>
              <a:t>Dewaele &amp; Costa, 2013 · 182 clients in psychotherapy</a:t>
            </a:r>
            <a:endParaRPr lang="en-US" sz="1300" dirty="0"/>
          </a:p>
        </p:txBody>
      </p:sp>
      <p:sp>
        <p:nvSpPr>
          <p:cNvPr id="6" name="Shape 4"/>
          <p:cNvSpPr/>
          <p:nvPr/>
        </p:nvSpPr>
        <p:spPr>
          <a:xfrm>
            <a:off x="8138160" y="2468880"/>
            <a:ext cx="731520" cy="731520"/>
          </a:xfrm>
          <a:prstGeom prst="ellipse">
            <a:avLst/>
          </a:prstGeom>
          <a:solidFill>
            <a:srgbClr val="2563EB"/>
          </a:solidFill>
          <a:ln w="12700">
            <a:solidFill>
              <a:srgbClr val="2563EB"/>
            </a:solidFill>
            <a:prstDash val="solid"/>
          </a:ln>
        </p:spPr>
      </p:sp>
      <p:sp>
        <p:nvSpPr>
          <p:cNvPr id="7" name="Text 5"/>
          <p:cNvSpPr txBox="1"/>
          <p:nvPr/>
        </p:nvSpPr>
        <p:spPr>
          <a:xfrm>
            <a:off x="8138160" y="246888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rPr>
              <a:t>EN</a:t>
            </a:r>
            <a:endParaRPr lang="en-US" sz="1600" dirty="0"/>
          </a:p>
        </p:txBody>
      </p:sp>
      <p:sp>
        <p:nvSpPr>
          <p:cNvPr id="8" name="Text 6"/>
          <p:cNvSpPr txBox="1"/>
          <p:nvPr/>
        </p:nvSpPr>
        <p:spPr>
          <a:xfrm>
            <a:off x="9052560" y="2468880"/>
            <a:ext cx="2468880" cy="731520"/>
          </a:xfrm>
          <a:prstGeom prst="rect">
            <a:avLst/>
          </a:prstGeom>
          <a:noFill/>
          <a:ln/>
        </p:spPr>
        <p:txBody>
          <a:bodyPr wrap="square" lIns="0" tIns="0" rIns="0" bIns="0" rtlCol="0" anchor="ctr"/>
          <a:lstStyle/>
          <a:p>
            <a:pPr indent="0" marL="0">
              <a:buNone/>
            </a:pPr>
            <a:r>
              <a:rPr lang="en-US" sz="1800" dirty="0">
                <a:solidFill>
                  <a:srgbClr val="6B7280"/>
                </a:solidFill>
              </a:rPr>
              <a:t>train</a:t>
            </a:r>
            <a:endParaRPr lang="en-US" sz="1800" dirty="0"/>
          </a:p>
        </p:txBody>
      </p:sp>
      <p:sp>
        <p:nvSpPr>
          <p:cNvPr id="9" name="Shape 7"/>
          <p:cNvSpPr/>
          <p:nvPr/>
        </p:nvSpPr>
        <p:spPr>
          <a:xfrm>
            <a:off x="8138160" y="3429000"/>
            <a:ext cx="731520" cy="731520"/>
          </a:xfrm>
          <a:prstGeom prst="ellipse">
            <a:avLst/>
          </a:prstGeom>
          <a:solidFill>
            <a:srgbClr val="D97706"/>
          </a:solidFill>
          <a:ln w="12700">
            <a:solidFill>
              <a:srgbClr val="D97706"/>
            </a:solidFill>
            <a:prstDash val="solid"/>
          </a:ln>
        </p:spPr>
      </p:sp>
      <p:sp>
        <p:nvSpPr>
          <p:cNvPr id="10" name="Text 8"/>
          <p:cNvSpPr txBox="1"/>
          <p:nvPr/>
        </p:nvSpPr>
        <p:spPr>
          <a:xfrm>
            <a:off x="8138160" y="342900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rPr>
              <a:t>DE</a:t>
            </a:r>
            <a:endParaRPr lang="en-US" sz="1600" dirty="0"/>
          </a:p>
        </p:txBody>
      </p:sp>
      <p:sp>
        <p:nvSpPr>
          <p:cNvPr id="11" name="Text 9"/>
          <p:cNvSpPr txBox="1"/>
          <p:nvPr/>
        </p:nvSpPr>
        <p:spPr>
          <a:xfrm>
            <a:off x="9052560" y="3429000"/>
            <a:ext cx="2468880" cy="731520"/>
          </a:xfrm>
          <a:prstGeom prst="rect">
            <a:avLst/>
          </a:prstGeom>
          <a:noFill/>
          <a:ln/>
        </p:spPr>
        <p:txBody>
          <a:bodyPr wrap="square" lIns="0" tIns="0" rIns="0" bIns="0" rtlCol="0" anchor="ctr"/>
          <a:lstStyle/>
          <a:p>
            <a:pPr indent="0" marL="0">
              <a:buNone/>
            </a:pPr>
            <a:r>
              <a:rPr lang="en-US" sz="1800" dirty="0">
                <a:solidFill>
                  <a:srgbClr val="6B7280"/>
                </a:solidFill>
              </a:rPr>
              <a:t>train again?</a:t>
            </a:r>
            <a:endParaRPr lang="en-US" sz="1800" dirty="0"/>
          </a:p>
        </p:txBody>
      </p:sp>
      <p:sp>
        <p:nvSpPr>
          <p:cNvPr id="12" name="Shape 10"/>
          <p:cNvSpPr/>
          <p:nvPr/>
        </p:nvSpPr>
        <p:spPr>
          <a:xfrm>
            <a:off x="8138160" y="4389120"/>
            <a:ext cx="731520" cy="731520"/>
          </a:xfrm>
          <a:prstGeom prst="ellipse">
            <a:avLst/>
          </a:prstGeom>
          <a:solidFill>
            <a:srgbClr val="7C3AED"/>
          </a:solidFill>
          <a:ln w="12700">
            <a:solidFill>
              <a:srgbClr val="7C3AED"/>
            </a:solidFill>
            <a:prstDash val="solid"/>
          </a:ln>
        </p:spPr>
      </p:sp>
      <p:sp>
        <p:nvSpPr>
          <p:cNvPr id="13" name="Text 11"/>
          <p:cNvSpPr txBox="1"/>
          <p:nvPr/>
        </p:nvSpPr>
        <p:spPr>
          <a:xfrm>
            <a:off x="8138160" y="4389120"/>
            <a:ext cx="731520" cy="731520"/>
          </a:xfrm>
          <a:prstGeom prst="rect">
            <a:avLst/>
          </a:prstGeom>
          <a:noFill/>
          <a:ln/>
        </p:spPr>
        <p:txBody>
          <a:bodyPr wrap="square" lIns="0" tIns="0" rIns="0" bIns="0" rtlCol="0" anchor="ctr"/>
          <a:lstStyle/>
          <a:p>
            <a:pPr algn="ctr" indent="0" marL="0">
              <a:buNone/>
            </a:pPr>
            <a:r>
              <a:rPr lang="en-US" sz="1600" b="1" dirty="0">
                <a:solidFill>
                  <a:srgbClr val="FFFFFF"/>
                </a:solidFill>
              </a:rPr>
              <a:t>FR</a:t>
            </a:r>
            <a:endParaRPr lang="en-US" sz="1600" dirty="0"/>
          </a:p>
        </p:txBody>
      </p:sp>
      <p:sp>
        <p:nvSpPr>
          <p:cNvPr id="14" name="Text 12"/>
          <p:cNvSpPr txBox="1"/>
          <p:nvPr/>
        </p:nvSpPr>
        <p:spPr>
          <a:xfrm>
            <a:off x="9052560" y="4389120"/>
            <a:ext cx="2468880" cy="731520"/>
          </a:xfrm>
          <a:prstGeom prst="rect">
            <a:avLst/>
          </a:prstGeom>
          <a:noFill/>
          <a:ln/>
        </p:spPr>
        <p:txBody>
          <a:bodyPr wrap="square" lIns="0" tIns="0" rIns="0" bIns="0" rtlCol="0" anchor="ctr"/>
          <a:lstStyle/>
          <a:p>
            <a:pPr indent="0" marL="0">
              <a:buNone/>
            </a:pPr>
            <a:r>
              <a:rPr lang="en-US" sz="1800" dirty="0">
                <a:solidFill>
                  <a:srgbClr val="6B7280"/>
                </a:solidFill>
              </a:rPr>
              <a:t>and again?</a:t>
            </a:r>
            <a:endParaRPr lang="en-US" sz="1800" dirty="0"/>
          </a:p>
        </p:txBody>
      </p:sp>
      <p:sp>
        <p:nvSpPr>
          <p:cNvPr id="15"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If we must train, we'd rather train once. </a:t>
            </a:r>
            <a:pPr indent="0" marL="0">
              <a:buNone/>
            </a:pPr>
            <a:r>
              <a:rPr lang="en-US" sz="1800" b="1" i="1" dirty="0">
                <a:solidFill>
                  <a:srgbClr val="6B7280"/>
                </a:solidFill>
              </a:rPr>
              <a:t>So: does what it learns in one language carry to the others?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THE QUESTION</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It read the news in English. Ask it in German. </a:t>
            </a:r>
            <a:pPr algn="l" indent="0" marL="0">
              <a:buNone/>
            </a:pPr>
            <a:r>
              <a:rPr lang="en-US" sz="3200" b="1" i="1" dirty="0">
                <a:solidFill>
                  <a:srgbClr val="6B7280"/>
                </a:solidFill>
              </a:rPr>
              <a:t>Does it know?</a:t>
            </a:r>
            <a:endParaRPr lang="en-US" sz="3200" dirty="0"/>
          </a:p>
        </p:txBody>
      </p:sp>
      <p:sp>
        <p:nvSpPr>
          <p:cNvPr id="4" name="Text 2"/>
          <p:cNvSpPr txBox="1"/>
          <p:nvPr/>
        </p:nvSpPr>
        <p:spPr>
          <a:xfrm>
            <a:off x="914400" y="2240280"/>
            <a:ext cx="2011680" cy="320040"/>
          </a:xfrm>
          <a:prstGeom prst="rect">
            <a:avLst/>
          </a:prstGeom>
          <a:noFill/>
          <a:ln/>
        </p:spPr>
        <p:txBody>
          <a:bodyPr wrap="square" lIns="0" tIns="0" rIns="0" bIns="0" rtlCol="0" anchor="ctr"/>
          <a:lstStyle/>
          <a:p>
            <a:pPr algn="ctr" indent="0" marL="0">
              <a:buNone/>
            </a:pPr>
            <a:r>
              <a:rPr lang="en-US" sz="1400" b="1" dirty="0">
                <a:solidFill>
                  <a:srgbClr val="6B7280"/>
                </a:solidFill>
              </a:rPr>
              <a:t>reads news in</a:t>
            </a:r>
            <a:endParaRPr lang="en-US" sz="1400" dirty="0"/>
          </a:p>
        </p:txBody>
      </p:sp>
      <p:sp>
        <p:nvSpPr>
          <p:cNvPr id="5" name="Shape 3"/>
          <p:cNvSpPr/>
          <p:nvPr/>
        </p:nvSpPr>
        <p:spPr>
          <a:xfrm>
            <a:off x="914400" y="2651760"/>
            <a:ext cx="2011680" cy="548640"/>
          </a:xfrm>
          <a:prstGeom prst="roundRect">
            <a:avLst>
              <a:gd name="adj" fmla="val 16667"/>
            </a:avLst>
          </a:prstGeom>
          <a:solidFill>
            <a:srgbClr val="2563EB"/>
          </a:solidFill>
          <a:ln w="12700">
            <a:solidFill>
              <a:srgbClr val="2563EB"/>
            </a:solidFill>
            <a:prstDash val="solid"/>
          </a:ln>
        </p:spPr>
      </p:sp>
      <p:sp>
        <p:nvSpPr>
          <p:cNvPr id="6" name="Text 4"/>
          <p:cNvSpPr txBox="1"/>
          <p:nvPr/>
        </p:nvSpPr>
        <p:spPr>
          <a:xfrm>
            <a:off x="914400" y="265176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EN</a:t>
            </a:r>
            <a:endParaRPr lang="en-US" sz="2000" dirty="0"/>
          </a:p>
        </p:txBody>
      </p:sp>
      <p:sp>
        <p:nvSpPr>
          <p:cNvPr id="7" name="Shape 5"/>
          <p:cNvSpPr/>
          <p:nvPr/>
        </p:nvSpPr>
        <p:spPr>
          <a:xfrm>
            <a:off x="914400" y="3383280"/>
            <a:ext cx="2011680" cy="548640"/>
          </a:xfrm>
          <a:prstGeom prst="roundRect">
            <a:avLst>
              <a:gd name="adj" fmla="val 16667"/>
            </a:avLst>
          </a:prstGeom>
          <a:solidFill>
            <a:srgbClr val="D97706"/>
          </a:solidFill>
          <a:ln w="12700">
            <a:solidFill>
              <a:srgbClr val="D97706"/>
            </a:solidFill>
            <a:prstDash val="solid"/>
          </a:ln>
        </p:spPr>
      </p:sp>
      <p:sp>
        <p:nvSpPr>
          <p:cNvPr id="8" name="Text 6"/>
          <p:cNvSpPr txBox="1"/>
          <p:nvPr/>
        </p:nvSpPr>
        <p:spPr>
          <a:xfrm>
            <a:off x="914400" y="338328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DE</a:t>
            </a:r>
            <a:endParaRPr lang="en-US" sz="2000" dirty="0"/>
          </a:p>
        </p:txBody>
      </p:sp>
      <p:sp>
        <p:nvSpPr>
          <p:cNvPr id="9" name="Shape 7"/>
          <p:cNvSpPr/>
          <p:nvPr/>
        </p:nvSpPr>
        <p:spPr>
          <a:xfrm>
            <a:off x="914400" y="4114800"/>
            <a:ext cx="2011680" cy="548640"/>
          </a:xfrm>
          <a:prstGeom prst="roundRect">
            <a:avLst>
              <a:gd name="adj" fmla="val 16667"/>
            </a:avLst>
          </a:prstGeom>
          <a:solidFill>
            <a:srgbClr val="7C3AED"/>
          </a:solidFill>
          <a:ln w="12700">
            <a:solidFill>
              <a:srgbClr val="7C3AED"/>
            </a:solidFill>
            <a:prstDash val="solid"/>
          </a:ln>
        </p:spPr>
      </p:sp>
      <p:sp>
        <p:nvSpPr>
          <p:cNvPr id="10" name="Text 8"/>
          <p:cNvSpPr txBox="1"/>
          <p:nvPr/>
        </p:nvSpPr>
        <p:spPr>
          <a:xfrm>
            <a:off x="914400" y="4114800"/>
            <a:ext cx="2011680" cy="548640"/>
          </a:xfrm>
          <a:prstGeom prst="rect">
            <a:avLst/>
          </a:prstGeom>
          <a:noFill/>
          <a:ln/>
        </p:spPr>
        <p:txBody>
          <a:bodyPr wrap="square" lIns="0" tIns="0" rIns="0" bIns="0" rtlCol="0" anchor="ctr"/>
          <a:lstStyle/>
          <a:p>
            <a:pPr algn="ctr" indent="0" marL="0">
              <a:buNone/>
            </a:pPr>
            <a:r>
              <a:rPr lang="en-US" sz="2000" b="1" dirty="0">
                <a:solidFill>
                  <a:srgbClr val="FFFFFF"/>
                </a:solidFill>
              </a:rPr>
              <a:t>FR</a:t>
            </a:r>
            <a:endParaRPr lang="en-US" sz="2000" dirty="0"/>
          </a:p>
        </p:txBody>
      </p:sp>
      <p:sp>
        <p:nvSpPr>
          <p:cNvPr id="11" name="Shape 9"/>
          <p:cNvSpPr/>
          <p:nvPr/>
        </p:nvSpPr>
        <p:spPr>
          <a:xfrm>
            <a:off x="3291840" y="3429000"/>
            <a:ext cx="1188720" cy="502920"/>
          </a:xfrm>
          <a:prstGeom prst="rightArrow">
            <a:avLst/>
          </a:prstGeom>
          <a:solidFill>
            <a:srgbClr val="9CA3AF"/>
          </a:solidFill>
          <a:ln w="12700">
            <a:solidFill>
              <a:srgbClr val="9CA3AF"/>
            </a:solidFill>
            <a:prstDash val="solid"/>
          </a:ln>
        </p:spPr>
      </p:sp>
      <p:sp>
        <p:nvSpPr>
          <p:cNvPr id="12" name="Text 10"/>
          <p:cNvSpPr txBox="1"/>
          <p:nvPr/>
        </p:nvSpPr>
        <p:spPr>
          <a:xfrm>
            <a:off x="4754880" y="3154680"/>
            <a:ext cx="2651760" cy="457200"/>
          </a:xfrm>
          <a:prstGeom prst="rect">
            <a:avLst/>
          </a:prstGeom>
          <a:noFill/>
          <a:ln/>
        </p:spPr>
        <p:txBody>
          <a:bodyPr wrap="square" lIns="0" tIns="0" rIns="0" bIns="0" rtlCol="0" anchor="ctr"/>
          <a:lstStyle/>
          <a:p>
            <a:pPr algn="ctr" indent="0" marL="0">
              <a:buNone/>
            </a:pPr>
            <a:r>
              <a:rPr lang="en-US" sz="2400" b="1" dirty="0">
                <a:solidFill>
                  <a:srgbClr val="111827"/>
                </a:solidFill>
              </a:rPr>
              <a:t>plain LLM</a:t>
            </a:r>
            <a:endParaRPr lang="en-US" sz="2400" dirty="0"/>
          </a:p>
        </p:txBody>
      </p:sp>
      <p:sp>
        <p:nvSpPr>
          <p:cNvPr id="13" name="Text 11"/>
          <p:cNvSpPr txBox="1"/>
          <p:nvPr/>
        </p:nvSpPr>
        <p:spPr>
          <a:xfrm>
            <a:off x="4754880" y="3611880"/>
            <a:ext cx="2651760" cy="365760"/>
          </a:xfrm>
          <a:prstGeom prst="rect">
            <a:avLst/>
          </a:prstGeom>
          <a:noFill/>
          <a:ln/>
        </p:spPr>
        <p:txBody>
          <a:bodyPr wrap="square" lIns="0" tIns="0" rIns="0" bIns="0" rtlCol="0" anchor="ctr"/>
          <a:lstStyle/>
          <a:p>
            <a:pPr algn="ctr" indent="0" marL="0">
              <a:buNone/>
            </a:pPr>
            <a:r>
              <a:rPr lang="en-US" sz="1400" dirty="0">
                <a:solidFill>
                  <a:srgbClr val="6B7280"/>
                </a:solidFill>
              </a:rPr>
              <a:t>no reasoning</a:t>
            </a:r>
            <a:endParaRPr lang="en-US" sz="1400" dirty="0"/>
          </a:p>
        </p:txBody>
      </p:sp>
      <p:sp>
        <p:nvSpPr>
          <p:cNvPr id="14" name="Shape 12"/>
          <p:cNvSpPr/>
          <p:nvPr/>
        </p:nvSpPr>
        <p:spPr>
          <a:xfrm>
            <a:off x="7680960" y="3429000"/>
            <a:ext cx="1188720" cy="502920"/>
          </a:xfrm>
          <a:prstGeom prst="rightArrow">
            <a:avLst/>
          </a:prstGeom>
          <a:solidFill>
            <a:srgbClr val="9CA3AF"/>
          </a:solidFill>
          <a:ln w="12700">
            <a:solidFill>
              <a:srgbClr val="9CA3AF"/>
            </a:solidFill>
            <a:prstDash val="solid"/>
          </a:ln>
        </p:spPr>
      </p:sp>
      <p:sp>
        <p:nvSpPr>
          <p:cNvPr id="15" name="Text 13"/>
          <p:cNvSpPr txBox="1"/>
          <p:nvPr/>
        </p:nvSpPr>
        <p:spPr>
          <a:xfrm>
            <a:off x="9144000" y="2240280"/>
            <a:ext cx="2103120" cy="320040"/>
          </a:xfrm>
          <a:prstGeom prst="rect">
            <a:avLst/>
          </a:prstGeom>
          <a:noFill/>
          <a:ln/>
        </p:spPr>
        <p:txBody>
          <a:bodyPr wrap="square" lIns="0" tIns="0" rIns="0" bIns="0" rtlCol="0" anchor="ctr"/>
          <a:lstStyle/>
          <a:p>
            <a:pPr algn="ctr" indent="0" marL="0">
              <a:buNone/>
            </a:pPr>
            <a:r>
              <a:rPr lang="en-US" sz="1400" b="1" dirty="0">
                <a:solidFill>
                  <a:srgbClr val="6B7280"/>
                </a:solidFill>
              </a:rPr>
              <a:t>same fact asked in</a:t>
            </a:r>
            <a:endParaRPr lang="en-US" sz="1400" dirty="0"/>
          </a:p>
        </p:txBody>
      </p:sp>
      <p:sp>
        <p:nvSpPr>
          <p:cNvPr id="16" name="Shape 14"/>
          <p:cNvSpPr/>
          <p:nvPr/>
        </p:nvSpPr>
        <p:spPr>
          <a:xfrm>
            <a:off x="9144000" y="2651760"/>
            <a:ext cx="2103120" cy="548640"/>
          </a:xfrm>
          <a:prstGeom prst="roundRect">
            <a:avLst>
              <a:gd name="adj" fmla="val 16667"/>
            </a:avLst>
          </a:prstGeom>
          <a:solidFill>
            <a:srgbClr val="FFFFFF"/>
          </a:solidFill>
          <a:ln w="31750">
            <a:solidFill>
              <a:srgbClr val="2563EB"/>
            </a:solidFill>
            <a:prstDash val="solid"/>
          </a:ln>
        </p:spPr>
      </p:sp>
      <p:sp>
        <p:nvSpPr>
          <p:cNvPr id="17" name="Text 15"/>
          <p:cNvSpPr txBox="1"/>
          <p:nvPr/>
        </p:nvSpPr>
        <p:spPr>
          <a:xfrm>
            <a:off x="9144000" y="265176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EN</a:t>
            </a:r>
            <a:endParaRPr lang="en-US" sz="2000" dirty="0"/>
          </a:p>
        </p:txBody>
      </p:sp>
      <p:sp>
        <p:nvSpPr>
          <p:cNvPr id="18" name="Shape 16"/>
          <p:cNvSpPr/>
          <p:nvPr/>
        </p:nvSpPr>
        <p:spPr>
          <a:xfrm>
            <a:off x="9144000" y="3383280"/>
            <a:ext cx="2103120" cy="548640"/>
          </a:xfrm>
          <a:prstGeom prst="roundRect">
            <a:avLst>
              <a:gd name="adj" fmla="val 16667"/>
            </a:avLst>
          </a:prstGeom>
          <a:solidFill>
            <a:srgbClr val="FFFFFF"/>
          </a:solidFill>
          <a:ln w="31750">
            <a:solidFill>
              <a:srgbClr val="D97706"/>
            </a:solidFill>
            <a:prstDash val="solid"/>
          </a:ln>
        </p:spPr>
      </p:sp>
      <p:sp>
        <p:nvSpPr>
          <p:cNvPr id="19" name="Text 17"/>
          <p:cNvSpPr txBox="1"/>
          <p:nvPr/>
        </p:nvSpPr>
        <p:spPr>
          <a:xfrm>
            <a:off x="9144000" y="338328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DE</a:t>
            </a:r>
            <a:endParaRPr lang="en-US" sz="2000" dirty="0"/>
          </a:p>
        </p:txBody>
      </p:sp>
      <p:sp>
        <p:nvSpPr>
          <p:cNvPr id="20" name="Shape 18"/>
          <p:cNvSpPr/>
          <p:nvPr/>
        </p:nvSpPr>
        <p:spPr>
          <a:xfrm>
            <a:off x="9144000" y="4114800"/>
            <a:ext cx="2103120" cy="548640"/>
          </a:xfrm>
          <a:prstGeom prst="roundRect">
            <a:avLst>
              <a:gd name="adj" fmla="val 16667"/>
            </a:avLst>
          </a:prstGeom>
          <a:solidFill>
            <a:srgbClr val="FFFFFF"/>
          </a:solidFill>
          <a:ln w="31750">
            <a:solidFill>
              <a:srgbClr val="7C3AED"/>
            </a:solidFill>
            <a:prstDash val="solid"/>
          </a:ln>
        </p:spPr>
      </p:sp>
      <p:sp>
        <p:nvSpPr>
          <p:cNvPr id="21" name="Text 19"/>
          <p:cNvSpPr txBox="1"/>
          <p:nvPr/>
        </p:nvSpPr>
        <p:spPr>
          <a:xfrm>
            <a:off x="9144000" y="4114800"/>
            <a:ext cx="2103120" cy="548640"/>
          </a:xfrm>
          <a:prstGeom prst="rect">
            <a:avLst/>
          </a:prstGeom>
          <a:noFill/>
          <a:ln/>
        </p:spPr>
        <p:txBody>
          <a:bodyPr wrap="square" lIns="0" tIns="0" rIns="0" bIns="0" rtlCol="0" anchor="ctr"/>
          <a:lstStyle/>
          <a:p>
            <a:pPr algn="ctr" indent="0" marL="0">
              <a:buNone/>
            </a:pPr>
            <a:r>
              <a:rPr lang="en-US" sz="2000" b="1" dirty="0">
                <a:solidFill>
                  <a:srgbClr val="111827"/>
                </a:solidFill>
              </a:rPr>
              <a:t>FR</a:t>
            </a:r>
            <a:endParaRPr lang="en-US" sz="2000" dirty="0"/>
          </a:p>
        </p:txBody>
      </p:sp>
      <p:sp>
        <p:nvSpPr>
          <p:cNvPr id="2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A plain model, no reasoning, same facts in three languages. </a:t>
            </a:r>
            <a:pPr indent="0" marL="0">
              <a:buNone/>
            </a:pPr>
            <a:r>
              <a:rPr lang="en-US" sz="1800" b="1" i="1" dirty="0">
                <a:solidFill>
                  <a:srgbClr val="6B7280"/>
                </a:solidFill>
              </a:rPr>
              <a:t>What's your guess?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THE ANSWER</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Mostly, yes. </a:t>
            </a:r>
            <a:pPr algn="l" indent="0" marL="0">
              <a:buNone/>
            </a:pPr>
            <a:r>
              <a:rPr lang="en-US" sz="3200" b="1" i="1" dirty="0">
                <a:solidFill>
                  <a:srgbClr val="6B7280"/>
                </a:solidFill>
              </a:rPr>
              <a:t>Knowledge doesn't really speak a language.</a:t>
            </a:r>
            <a:endParaRPr lang="en-US" sz="3200" dirty="0"/>
          </a:p>
        </p:txBody>
      </p:sp>
      <p:sp>
        <p:nvSpPr>
          <p:cNvPr id="4" name="Text 2"/>
          <p:cNvSpPr txBox="1"/>
          <p:nvPr/>
        </p:nvSpPr>
        <p:spPr>
          <a:xfrm>
            <a:off x="640080" y="2103120"/>
            <a:ext cx="10908792" cy="1828800"/>
          </a:xfrm>
          <a:prstGeom prst="rect">
            <a:avLst/>
          </a:prstGeom>
          <a:noFill/>
          <a:ln/>
        </p:spPr>
        <p:txBody>
          <a:bodyPr wrap="square" lIns="0" tIns="0" rIns="0" bIns="0" rtlCol="0" anchor="ctr"/>
          <a:lstStyle/>
          <a:p>
            <a:pPr algn="ctr" indent="0" marL="0">
              <a:buNone/>
            </a:pPr>
            <a:r>
              <a:rPr lang="en-US" sz="12000" b="1" dirty="0">
                <a:solidFill>
                  <a:srgbClr val="C2410C"/>
                </a:solidFill>
                <a:latin typeface="Cambria" pitchFamily="34" charset="0"/>
                <a:ea typeface="Cambria" pitchFamily="34" charset="-122"/>
                <a:cs typeface="Cambria" pitchFamily="34" charset="-120"/>
              </a:rPr>
              <a:t>~70%</a:t>
            </a:r>
            <a:endParaRPr lang="en-US" sz="12000" dirty="0"/>
          </a:p>
        </p:txBody>
      </p:sp>
      <p:sp>
        <p:nvSpPr>
          <p:cNvPr id="5" name="Shape 3"/>
          <p:cNvSpPr/>
          <p:nvPr/>
        </p:nvSpPr>
        <p:spPr>
          <a:xfrm>
            <a:off x="1554480" y="4206240"/>
            <a:ext cx="9052560" cy="502920"/>
          </a:xfrm>
          <a:prstGeom prst="roundRect">
            <a:avLst>
              <a:gd name="adj" fmla="val 18182"/>
            </a:avLst>
          </a:prstGeom>
          <a:solidFill>
            <a:srgbClr val="F3F4F6"/>
          </a:solidFill>
          <a:ln w="12700">
            <a:solidFill>
              <a:srgbClr val="E5E7EB"/>
            </a:solidFill>
            <a:prstDash val="solid"/>
          </a:ln>
        </p:spPr>
      </p:sp>
      <p:sp>
        <p:nvSpPr>
          <p:cNvPr id="6" name="Shape 4"/>
          <p:cNvSpPr/>
          <p:nvPr/>
        </p:nvSpPr>
        <p:spPr>
          <a:xfrm>
            <a:off x="1554480" y="4206240"/>
            <a:ext cx="6336792" cy="502920"/>
          </a:xfrm>
          <a:prstGeom prst="roundRect">
            <a:avLst>
              <a:gd name="adj" fmla="val 18182"/>
            </a:avLst>
          </a:prstGeom>
          <a:solidFill>
            <a:srgbClr val="C2410C"/>
          </a:solidFill>
          <a:ln w="12700">
            <a:solidFill>
              <a:srgbClr val="C2410C"/>
            </a:solidFill>
            <a:prstDash val="solid"/>
          </a:ln>
        </p:spPr>
      </p:sp>
      <p:sp>
        <p:nvSpPr>
          <p:cNvPr id="7" name="Text 5"/>
          <p:cNvSpPr txBox="1"/>
          <p:nvPr/>
        </p:nvSpPr>
        <p:spPr>
          <a:xfrm>
            <a:off x="1554480" y="4800600"/>
            <a:ext cx="3657600" cy="320040"/>
          </a:xfrm>
          <a:prstGeom prst="rect">
            <a:avLst/>
          </a:prstGeom>
          <a:noFill/>
          <a:ln/>
        </p:spPr>
        <p:txBody>
          <a:bodyPr wrap="square" lIns="0" tIns="0" rIns="0" bIns="0" rtlCol="0" anchor="ctr"/>
          <a:lstStyle/>
          <a:p>
            <a:pPr indent="0" marL="0">
              <a:buNone/>
            </a:pPr>
            <a:r>
              <a:rPr lang="en-US" sz="1400" b="1" dirty="0">
                <a:solidFill>
                  <a:srgbClr val="6B7280"/>
                </a:solidFill>
              </a:rPr>
              <a:t>what it learned in English</a:t>
            </a:r>
            <a:endParaRPr lang="en-US" sz="1400" dirty="0"/>
          </a:p>
        </p:txBody>
      </p:sp>
      <p:sp>
        <p:nvSpPr>
          <p:cNvPr id="8" name="Text 6"/>
          <p:cNvSpPr txBox="1"/>
          <p:nvPr/>
        </p:nvSpPr>
        <p:spPr>
          <a:xfrm>
            <a:off x="6949440" y="4800600"/>
            <a:ext cx="3657600" cy="320040"/>
          </a:xfrm>
          <a:prstGeom prst="rect">
            <a:avLst/>
          </a:prstGeom>
          <a:noFill/>
          <a:ln/>
        </p:spPr>
        <p:txBody>
          <a:bodyPr wrap="square" lIns="0" tIns="0" rIns="0" bIns="0" rtlCol="0" anchor="ctr"/>
          <a:lstStyle/>
          <a:p>
            <a:pPr algn="r" indent="0" marL="0">
              <a:buNone/>
            </a:pPr>
            <a:r>
              <a:rPr lang="en-US" sz="1400" b="1" dirty="0">
                <a:solidFill>
                  <a:srgbClr val="6B7280"/>
                </a:solidFill>
              </a:rPr>
              <a:t>100% = as good as asking in English</a:t>
            </a:r>
            <a:endParaRPr lang="en-US" sz="1400" dirty="0"/>
          </a:p>
        </p:txBody>
      </p:sp>
      <p:sp>
        <p:nvSpPr>
          <p:cNvPr id="9"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About 70% of what it learned in English, it can answer in German or French. </a:t>
            </a:r>
            <a:pPr indent="0" marL="0">
              <a:buNone/>
            </a:pPr>
            <a:r>
              <a:rPr lang="en-US" sz="1800" b="1" i="1" dirty="0">
                <a:solidFill>
                  <a:srgbClr val="6B7280"/>
                </a:solidFill>
              </a:rPr>
              <a:t>Asking in the language it read is still a bit better.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THE COST</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So what did training cost us?</a:t>
            </a:r>
            <a:endParaRPr lang="en-US" sz="3200" dirty="0"/>
          </a:p>
        </p:txBody>
      </p:sp>
      <p:sp>
        <p:nvSpPr>
          <p:cNvPr id="4" name="Shape 2"/>
          <p:cNvSpPr/>
          <p:nvPr/>
        </p:nvSpPr>
        <p:spPr>
          <a:xfrm>
            <a:off x="640080" y="2286000"/>
            <a:ext cx="5212080" cy="3108960"/>
          </a:xfrm>
          <a:prstGeom prst="roundRect">
            <a:avLst>
              <a:gd name="adj" fmla="val 3529"/>
            </a:avLst>
          </a:prstGeom>
          <a:solidFill>
            <a:srgbClr val="F9FAFB"/>
          </a:solidFill>
          <a:ln w="12700">
            <a:solidFill>
              <a:srgbClr val="E5E7EB"/>
            </a:solidFill>
            <a:prstDash val="solid"/>
          </a:ln>
        </p:spPr>
      </p:sp>
      <p:sp>
        <p:nvSpPr>
          <p:cNvPr id="5" name="Text 3"/>
          <p:cNvSpPr txBox="1"/>
          <p:nvPr/>
        </p:nvSpPr>
        <p:spPr>
          <a:xfrm>
            <a:off x="640080" y="2514600"/>
            <a:ext cx="5212080" cy="320040"/>
          </a:xfrm>
          <a:prstGeom prst="rect">
            <a:avLst/>
          </a:prstGeom>
          <a:noFill/>
          <a:ln/>
        </p:spPr>
        <p:txBody>
          <a:bodyPr wrap="square" lIns="0" tIns="0" rIns="0" bIns="0" rtlCol="0" anchor="ctr"/>
          <a:lstStyle/>
          <a:p>
            <a:pPr algn="ctr" indent="0" marL="0">
              <a:buNone/>
            </a:pPr>
            <a:r>
              <a:rPr lang="en-US" sz="1200" b="1" spc="200" kern="0" dirty="0">
                <a:solidFill>
                  <a:srgbClr val="6B7280"/>
                </a:solidFill>
              </a:rPr>
              <a:t>FACTS FROM BEFORE 2023</a:t>
            </a:r>
            <a:endParaRPr lang="en-US" sz="1200" dirty="0"/>
          </a:p>
        </p:txBody>
      </p:sp>
      <p:sp>
        <p:nvSpPr>
          <p:cNvPr id="6" name="Text 4"/>
          <p:cNvSpPr txBox="1"/>
          <p:nvPr/>
        </p:nvSpPr>
        <p:spPr>
          <a:xfrm>
            <a:off x="640080" y="2926080"/>
            <a:ext cx="5212080" cy="1463040"/>
          </a:xfrm>
          <a:prstGeom prst="rect">
            <a:avLst/>
          </a:prstGeom>
          <a:noFill/>
          <a:ln/>
        </p:spPr>
        <p:txBody>
          <a:bodyPr wrap="square" lIns="0" tIns="0" rIns="0" bIns="0" rtlCol="0" anchor="ctr"/>
          <a:lstStyle/>
          <a:p>
            <a:pPr algn="ctr" indent="0" marL="0">
              <a:buNone/>
            </a:pPr>
            <a:r>
              <a:rPr lang="en-US" sz="8400" b="1" dirty="0">
                <a:solidFill>
                  <a:srgbClr val="111827"/>
                </a:solidFill>
                <a:latin typeface="Cambria" pitchFamily="34" charset="0"/>
                <a:ea typeface="Cambria" pitchFamily="34" charset="-122"/>
                <a:cs typeface="Cambria" pitchFamily="34" charset="-120"/>
              </a:rPr>
              <a:t>+0.3</a:t>
            </a:r>
            <a:endParaRPr lang="en-US" sz="8400" dirty="0"/>
          </a:p>
        </p:txBody>
      </p:sp>
      <p:sp>
        <p:nvSpPr>
          <p:cNvPr id="7" name="Text 5"/>
          <p:cNvSpPr txBox="1"/>
          <p:nvPr/>
        </p:nvSpPr>
        <p:spPr>
          <a:xfrm>
            <a:off x="640080" y="4572000"/>
            <a:ext cx="5212080" cy="365760"/>
          </a:xfrm>
          <a:prstGeom prst="rect">
            <a:avLst/>
          </a:prstGeom>
          <a:noFill/>
          <a:ln/>
        </p:spPr>
        <p:txBody>
          <a:bodyPr wrap="square" lIns="0" tIns="0" rIns="0" bIns="0" rtlCol="0" anchor="ctr"/>
          <a:lstStyle/>
          <a:p>
            <a:pPr algn="ctr" indent="0" marL="0">
              <a:buNone/>
            </a:pPr>
            <a:r>
              <a:rPr lang="en-US" sz="1600" dirty="0">
                <a:solidFill>
                  <a:srgbClr val="374151"/>
                </a:solidFill>
              </a:rPr>
              <a:t>nothing forgotten</a:t>
            </a:r>
            <a:endParaRPr lang="en-US" sz="1600" dirty="0"/>
          </a:p>
        </p:txBody>
      </p:sp>
      <p:sp>
        <p:nvSpPr>
          <p:cNvPr id="8" name="Shape 6"/>
          <p:cNvSpPr/>
          <p:nvPr/>
        </p:nvSpPr>
        <p:spPr>
          <a:xfrm>
            <a:off x="6355080" y="2286000"/>
            <a:ext cx="5212080" cy="3108960"/>
          </a:xfrm>
          <a:prstGeom prst="roundRect">
            <a:avLst>
              <a:gd name="adj" fmla="val 3529"/>
            </a:avLst>
          </a:prstGeom>
          <a:solidFill>
            <a:srgbClr val="FFF7ED"/>
          </a:solidFill>
          <a:ln w="12700">
            <a:solidFill>
              <a:srgbClr val="FDBA74"/>
            </a:solidFill>
            <a:prstDash val="solid"/>
          </a:ln>
        </p:spPr>
      </p:sp>
      <p:sp>
        <p:nvSpPr>
          <p:cNvPr id="9" name="Text 7"/>
          <p:cNvSpPr txBox="1"/>
          <p:nvPr/>
        </p:nvSpPr>
        <p:spPr>
          <a:xfrm>
            <a:off x="6355080" y="2514600"/>
            <a:ext cx="5212080" cy="320040"/>
          </a:xfrm>
          <a:prstGeom prst="rect">
            <a:avLst/>
          </a:prstGeom>
          <a:noFill/>
          <a:ln/>
        </p:spPr>
        <p:txBody>
          <a:bodyPr wrap="square" lIns="0" tIns="0" rIns="0" bIns="0" rtlCol="0" anchor="ctr"/>
          <a:lstStyle/>
          <a:p>
            <a:pPr algn="ctr" indent="0" marL="0">
              <a:buNone/>
            </a:pPr>
            <a:r>
              <a:rPr lang="en-US" sz="1200" b="1" spc="200" kern="0" dirty="0">
                <a:solidFill>
                  <a:srgbClr val="C2410C"/>
                </a:solidFill>
              </a:rPr>
              <a:t>GENERAL SKILLS · 20 TESTS</a:t>
            </a:r>
            <a:endParaRPr lang="en-US" sz="1200" dirty="0"/>
          </a:p>
        </p:txBody>
      </p:sp>
      <p:sp>
        <p:nvSpPr>
          <p:cNvPr id="10" name="Text 8"/>
          <p:cNvSpPr txBox="1"/>
          <p:nvPr/>
        </p:nvSpPr>
        <p:spPr>
          <a:xfrm>
            <a:off x="6355080" y="2926080"/>
            <a:ext cx="5212080" cy="1463040"/>
          </a:xfrm>
          <a:prstGeom prst="rect">
            <a:avLst/>
          </a:prstGeom>
          <a:noFill/>
          <a:ln/>
        </p:spPr>
        <p:txBody>
          <a:bodyPr wrap="square" lIns="0" tIns="0" rIns="0" bIns="0" rtlCol="0" anchor="ctr"/>
          <a:lstStyle/>
          <a:p>
            <a:pPr algn="ctr" indent="0" marL="0">
              <a:buNone/>
            </a:pPr>
            <a:r>
              <a:rPr lang="en-US" sz="8400" b="1" dirty="0">
                <a:solidFill>
                  <a:srgbClr val="C2410C"/>
                </a:solidFill>
                <a:latin typeface="Cambria" pitchFamily="34" charset="0"/>
                <a:ea typeface="Cambria" pitchFamily="34" charset="-122"/>
                <a:cs typeface="Cambria" pitchFamily="34" charset="-120"/>
              </a:rPr>
              <a:t>−1.2</a:t>
            </a:r>
            <a:endParaRPr lang="en-US" sz="8400" dirty="0"/>
          </a:p>
        </p:txBody>
      </p:sp>
      <p:sp>
        <p:nvSpPr>
          <p:cNvPr id="11" name="Text 9"/>
          <p:cNvSpPr txBox="1"/>
          <p:nvPr/>
        </p:nvSpPr>
        <p:spPr>
          <a:xfrm>
            <a:off x="6355080" y="4572000"/>
            <a:ext cx="5212080" cy="365760"/>
          </a:xfrm>
          <a:prstGeom prst="rect">
            <a:avLst/>
          </a:prstGeom>
          <a:noFill/>
          <a:ln/>
        </p:spPr>
        <p:txBody>
          <a:bodyPr wrap="square" lIns="0" tIns="0" rIns="0" bIns="0" rtlCol="0" anchor="ctr"/>
          <a:lstStyle/>
          <a:p>
            <a:pPr algn="ctr" indent="0" marL="0">
              <a:buNone/>
            </a:pPr>
            <a:r>
              <a:rPr lang="en-US" sz="1600" dirty="0">
                <a:solidFill>
                  <a:srgbClr val="374151"/>
                </a:solidFill>
              </a:rPr>
              <a:t>looks fine in the training language, drops in the others</a:t>
            </a:r>
            <a:endParaRPr lang="en-US" sz="1600" dirty="0"/>
          </a:p>
        </p:txBody>
      </p:sp>
      <p:sp>
        <p:nvSpPr>
          <p:cNvPr id="1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Old facts stay. General skills slip, mostly in the other languages. </a:t>
            </a:r>
            <a:pPr indent="0" marL="0">
              <a:buNone/>
            </a:pPr>
            <a:r>
              <a:rPr lang="en-US" sz="1800" b="1" i="1" dirty="0">
                <a:solidFill>
                  <a:srgbClr val="6B7280"/>
                </a:solidFill>
              </a:rPr>
              <a:t>Can we take less of a hit, and transfer more?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BETTER</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Mix the three newspapers. </a:t>
            </a:r>
            <a:pPr algn="l" indent="0" marL="0">
              <a:buNone/>
            </a:pPr>
            <a:r>
              <a:rPr lang="en-US" sz="3200" b="1" i="1" dirty="0">
                <a:solidFill>
                  <a:srgbClr val="6B7280"/>
                </a:solidFill>
              </a:rPr>
              <a:t>Less damage, more facts.</a:t>
            </a:r>
            <a:endParaRPr lang="en-US" sz="3200" dirty="0"/>
          </a:p>
        </p:txBody>
      </p:sp>
      <p:sp>
        <p:nvSpPr>
          <p:cNvPr id="4" name="Text 2"/>
          <p:cNvSpPr txBox="1"/>
          <p:nvPr/>
        </p:nvSpPr>
        <p:spPr>
          <a:xfrm>
            <a:off x="822960" y="2148840"/>
            <a:ext cx="4023360" cy="320040"/>
          </a:xfrm>
          <a:prstGeom prst="rect">
            <a:avLst/>
          </a:prstGeom>
          <a:noFill/>
          <a:ln/>
        </p:spPr>
        <p:txBody>
          <a:bodyPr wrap="square" lIns="0" tIns="0" rIns="0" bIns="0" rtlCol="0" anchor="ctr"/>
          <a:lstStyle/>
          <a:p>
            <a:pPr algn="ctr" indent="0" marL="0">
              <a:buNone/>
            </a:pPr>
            <a:r>
              <a:rPr lang="en-US" sz="1400" b="1" dirty="0">
                <a:solidFill>
                  <a:srgbClr val="6B7280"/>
                </a:solidFill>
              </a:rPr>
              <a:t>new facts learned</a:t>
            </a:r>
            <a:endParaRPr lang="en-US" sz="1400" dirty="0"/>
          </a:p>
        </p:txBody>
      </p:sp>
      <p:sp>
        <p:nvSpPr>
          <p:cNvPr id="5" name="Shape 3"/>
          <p:cNvSpPr/>
          <p:nvPr/>
        </p:nvSpPr>
        <p:spPr>
          <a:xfrm>
            <a:off x="914400" y="3474720"/>
            <a:ext cx="731520" cy="1371600"/>
          </a:xfrm>
          <a:prstGeom prst="rect">
            <a:avLst/>
          </a:prstGeom>
          <a:solidFill>
            <a:srgbClr val="2563EB"/>
          </a:solidFill>
          <a:ln w="12700">
            <a:solidFill>
              <a:srgbClr val="2563EB"/>
            </a:solidFill>
            <a:prstDash val="solid"/>
          </a:ln>
        </p:spPr>
      </p:sp>
      <p:sp>
        <p:nvSpPr>
          <p:cNvPr id="6" name="Text 4"/>
          <p:cNvSpPr txBox="1"/>
          <p:nvPr/>
        </p:nvSpPr>
        <p:spPr>
          <a:xfrm>
            <a:off x="731520" y="309067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+3.4</a:t>
            </a:r>
            <a:endParaRPr lang="en-US" sz="1600" dirty="0"/>
          </a:p>
        </p:txBody>
      </p:sp>
      <p:sp>
        <p:nvSpPr>
          <p:cNvPr id="7" name="Text 5"/>
          <p:cNvSpPr txBox="1"/>
          <p:nvPr/>
        </p:nvSpPr>
        <p:spPr>
          <a:xfrm>
            <a:off x="82296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EN</a:t>
            </a:r>
            <a:endParaRPr lang="en-US" sz="1400" dirty="0"/>
          </a:p>
        </p:txBody>
      </p:sp>
      <p:sp>
        <p:nvSpPr>
          <p:cNvPr id="8" name="Shape 6"/>
          <p:cNvSpPr/>
          <p:nvPr/>
        </p:nvSpPr>
        <p:spPr>
          <a:xfrm>
            <a:off x="1874520" y="3794760"/>
            <a:ext cx="731520" cy="1051560"/>
          </a:xfrm>
          <a:prstGeom prst="rect">
            <a:avLst/>
          </a:prstGeom>
          <a:solidFill>
            <a:srgbClr val="D97706"/>
          </a:solidFill>
          <a:ln w="12700">
            <a:solidFill>
              <a:srgbClr val="D97706"/>
            </a:solidFill>
            <a:prstDash val="solid"/>
          </a:ln>
        </p:spPr>
      </p:sp>
      <p:sp>
        <p:nvSpPr>
          <p:cNvPr id="9" name="Text 7"/>
          <p:cNvSpPr txBox="1"/>
          <p:nvPr/>
        </p:nvSpPr>
        <p:spPr>
          <a:xfrm>
            <a:off x="1691640" y="341071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+2.6</a:t>
            </a:r>
            <a:endParaRPr lang="en-US" sz="1600" dirty="0"/>
          </a:p>
        </p:txBody>
      </p:sp>
      <p:sp>
        <p:nvSpPr>
          <p:cNvPr id="10" name="Text 8"/>
          <p:cNvSpPr txBox="1"/>
          <p:nvPr/>
        </p:nvSpPr>
        <p:spPr>
          <a:xfrm>
            <a:off x="178308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DE</a:t>
            </a:r>
            <a:endParaRPr lang="en-US" sz="1400" dirty="0"/>
          </a:p>
        </p:txBody>
      </p:sp>
      <p:sp>
        <p:nvSpPr>
          <p:cNvPr id="11" name="Shape 9"/>
          <p:cNvSpPr/>
          <p:nvPr/>
        </p:nvSpPr>
        <p:spPr>
          <a:xfrm>
            <a:off x="2834640" y="3520440"/>
            <a:ext cx="731520" cy="1325880"/>
          </a:xfrm>
          <a:prstGeom prst="rect">
            <a:avLst/>
          </a:prstGeom>
          <a:solidFill>
            <a:srgbClr val="7C3AED"/>
          </a:solidFill>
          <a:ln w="12700">
            <a:solidFill>
              <a:srgbClr val="7C3AED"/>
            </a:solidFill>
            <a:prstDash val="solid"/>
          </a:ln>
        </p:spPr>
      </p:sp>
      <p:sp>
        <p:nvSpPr>
          <p:cNvPr id="12" name="Text 10"/>
          <p:cNvSpPr txBox="1"/>
          <p:nvPr/>
        </p:nvSpPr>
        <p:spPr>
          <a:xfrm>
            <a:off x="2651760" y="3136392"/>
            <a:ext cx="1097280" cy="365760"/>
          </a:xfrm>
          <a:prstGeom prst="rect">
            <a:avLst/>
          </a:prstGeom>
          <a:noFill/>
          <a:ln/>
        </p:spPr>
        <p:txBody>
          <a:bodyPr wrap="square" lIns="0" tIns="0" rIns="0" bIns="0" rtlCol="0" anchor="ctr"/>
          <a:lstStyle/>
          <a:p>
            <a:pPr algn="ctr" indent="0" marL="0">
              <a:buNone/>
            </a:pPr>
            <a:r>
              <a:rPr lang="en-US" sz="1600" b="1" dirty="0">
                <a:solidFill>
                  <a:srgbClr val="111827"/>
                </a:solidFill>
              </a:rPr>
              <a:t>+3.3</a:t>
            </a:r>
            <a:endParaRPr lang="en-US" sz="1600" dirty="0"/>
          </a:p>
        </p:txBody>
      </p:sp>
      <p:sp>
        <p:nvSpPr>
          <p:cNvPr id="13" name="Text 11"/>
          <p:cNvSpPr txBox="1"/>
          <p:nvPr/>
        </p:nvSpPr>
        <p:spPr>
          <a:xfrm>
            <a:off x="274320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FR</a:t>
            </a:r>
            <a:endParaRPr lang="en-US" sz="1400" dirty="0"/>
          </a:p>
        </p:txBody>
      </p:sp>
      <p:sp>
        <p:nvSpPr>
          <p:cNvPr id="14" name="Shape 12"/>
          <p:cNvSpPr/>
          <p:nvPr/>
        </p:nvSpPr>
        <p:spPr>
          <a:xfrm>
            <a:off x="3794760" y="2834640"/>
            <a:ext cx="731520" cy="2011680"/>
          </a:xfrm>
          <a:prstGeom prst="rect">
            <a:avLst/>
          </a:prstGeom>
          <a:solidFill>
            <a:srgbClr val="C2410C"/>
          </a:solidFill>
          <a:ln w="12700">
            <a:solidFill>
              <a:srgbClr val="C2410C"/>
            </a:solidFill>
            <a:prstDash val="solid"/>
          </a:ln>
        </p:spPr>
      </p:sp>
      <p:sp>
        <p:nvSpPr>
          <p:cNvPr id="15" name="Text 13"/>
          <p:cNvSpPr txBox="1"/>
          <p:nvPr/>
        </p:nvSpPr>
        <p:spPr>
          <a:xfrm>
            <a:off x="3611880" y="2450592"/>
            <a:ext cx="1097280" cy="365760"/>
          </a:xfrm>
          <a:prstGeom prst="rect">
            <a:avLst/>
          </a:prstGeom>
          <a:noFill/>
          <a:ln/>
        </p:spPr>
        <p:txBody>
          <a:bodyPr wrap="square" lIns="0" tIns="0" rIns="0" bIns="0" rtlCol="0" anchor="ctr"/>
          <a:lstStyle/>
          <a:p>
            <a:pPr algn="ctr" indent="0" marL="0">
              <a:buNone/>
            </a:pPr>
            <a:r>
              <a:rPr lang="en-US" sz="1600" b="1" dirty="0">
                <a:solidFill>
                  <a:srgbClr val="C2410C"/>
                </a:solidFill>
              </a:rPr>
              <a:t>+5.0</a:t>
            </a:r>
            <a:endParaRPr lang="en-US" sz="1600" dirty="0"/>
          </a:p>
        </p:txBody>
      </p:sp>
      <p:sp>
        <p:nvSpPr>
          <p:cNvPr id="16" name="Text 14"/>
          <p:cNvSpPr txBox="1"/>
          <p:nvPr/>
        </p:nvSpPr>
        <p:spPr>
          <a:xfrm>
            <a:off x="3703320" y="4919472"/>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Mix</a:t>
            </a:r>
            <a:endParaRPr lang="en-US" sz="1400" dirty="0"/>
          </a:p>
        </p:txBody>
      </p:sp>
      <p:sp>
        <p:nvSpPr>
          <p:cNvPr id="17" name="Shape 15"/>
          <p:cNvSpPr/>
          <p:nvPr/>
        </p:nvSpPr>
        <p:spPr>
          <a:xfrm>
            <a:off x="777240" y="4846320"/>
            <a:ext cx="3840480" cy="0"/>
          </a:xfrm>
          <a:prstGeom prst="line">
            <a:avLst/>
          </a:prstGeom>
          <a:noFill/>
          <a:ln w="25400">
            <a:solidFill>
              <a:srgbClr val="111827"/>
            </a:solidFill>
            <a:prstDash val="solid"/>
          </a:ln>
        </p:spPr>
      </p:sp>
      <p:sp>
        <p:nvSpPr>
          <p:cNvPr id="18" name="Text 16"/>
          <p:cNvSpPr txBox="1"/>
          <p:nvPr/>
        </p:nvSpPr>
        <p:spPr>
          <a:xfrm>
            <a:off x="6583680" y="2148840"/>
            <a:ext cx="4023360" cy="320040"/>
          </a:xfrm>
          <a:prstGeom prst="rect">
            <a:avLst/>
          </a:prstGeom>
          <a:noFill/>
          <a:ln/>
        </p:spPr>
        <p:txBody>
          <a:bodyPr wrap="square" lIns="0" tIns="0" rIns="0" bIns="0" rtlCol="0" anchor="ctr"/>
          <a:lstStyle/>
          <a:p>
            <a:pPr algn="ctr" indent="0" marL="0">
              <a:buNone/>
            </a:pPr>
            <a:r>
              <a:rPr lang="en-US" sz="1400" b="1" dirty="0">
                <a:solidFill>
                  <a:srgbClr val="6B7280"/>
                </a:solidFill>
              </a:rPr>
              <a:t>skills lost</a:t>
            </a:r>
            <a:endParaRPr lang="en-US" sz="1400" dirty="0"/>
          </a:p>
        </p:txBody>
      </p:sp>
      <p:sp>
        <p:nvSpPr>
          <p:cNvPr id="19" name="Shape 17"/>
          <p:cNvSpPr/>
          <p:nvPr/>
        </p:nvSpPr>
        <p:spPr>
          <a:xfrm>
            <a:off x="6537960" y="2651760"/>
            <a:ext cx="3840480" cy="0"/>
          </a:xfrm>
          <a:prstGeom prst="line">
            <a:avLst/>
          </a:prstGeom>
          <a:noFill/>
          <a:ln w="25400">
            <a:solidFill>
              <a:srgbClr val="111827"/>
            </a:solidFill>
            <a:prstDash val="solid"/>
          </a:ln>
        </p:spPr>
      </p:sp>
      <p:sp>
        <p:nvSpPr>
          <p:cNvPr id="20" name="Shape 18"/>
          <p:cNvSpPr/>
          <p:nvPr/>
        </p:nvSpPr>
        <p:spPr>
          <a:xfrm>
            <a:off x="6675120" y="2651760"/>
            <a:ext cx="731520" cy="640080"/>
          </a:xfrm>
          <a:prstGeom prst="rect">
            <a:avLst/>
          </a:prstGeom>
          <a:solidFill>
            <a:srgbClr val="2563EB"/>
          </a:solidFill>
          <a:ln w="12700">
            <a:solidFill>
              <a:srgbClr val="2563EB"/>
            </a:solidFill>
            <a:prstDash val="solid"/>
          </a:ln>
        </p:spPr>
      </p:sp>
      <p:sp>
        <p:nvSpPr>
          <p:cNvPr id="21" name="Text 19"/>
          <p:cNvSpPr txBox="1"/>
          <p:nvPr/>
        </p:nvSpPr>
        <p:spPr>
          <a:xfrm>
            <a:off x="6492240" y="3337560"/>
            <a:ext cx="1097280" cy="320040"/>
          </a:xfrm>
          <a:prstGeom prst="rect">
            <a:avLst/>
          </a:prstGeom>
          <a:noFill/>
          <a:ln/>
        </p:spPr>
        <p:txBody>
          <a:bodyPr wrap="square" lIns="0" tIns="0" rIns="0" bIns="0" rtlCol="0" anchor="ctr"/>
          <a:lstStyle/>
          <a:p>
            <a:pPr algn="ctr" indent="0" marL="0">
              <a:buNone/>
            </a:pPr>
            <a:r>
              <a:rPr lang="en-US" sz="1600" b="1" dirty="0">
                <a:solidFill>
                  <a:srgbClr val="111827"/>
                </a:solidFill>
              </a:rPr>
              <a:t>−0.5</a:t>
            </a:r>
            <a:endParaRPr lang="en-US" sz="1600" dirty="0"/>
          </a:p>
        </p:txBody>
      </p:sp>
      <p:sp>
        <p:nvSpPr>
          <p:cNvPr id="22" name="Text 20"/>
          <p:cNvSpPr txBox="1"/>
          <p:nvPr/>
        </p:nvSpPr>
        <p:spPr>
          <a:xfrm>
            <a:off x="6583680" y="365760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EN</a:t>
            </a:r>
            <a:endParaRPr lang="en-US" sz="1400" dirty="0"/>
          </a:p>
        </p:txBody>
      </p:sp>
      <p:sp>
        <p:nvSpPr>
          <p:cNvPr id="23" name="Shape 21"/>
          <p:cNvSpPr/>
          <p:nvPr/>
        </p:nvSpPr>
        <p:spPr>
          <a:xfrm>
            <a:off x="7635240" y="2651760"/>
            <a:ext cx="731520" cy="1645920"/>
          </a:xfrm>
          <a:prstGeom prst="rect">
            <a:avLst/>
          </a:prstGeom>
          <a:solidFill>
            <a:srgbClr val="D97706"/>
          </a:solidFill>
          <a:ln w="12700">
            <a:solidFill>
              <a:srgbClr val="D97706"/>
            </a:solidFill>
            <a:prstDash val="solid"/>
          </a:ln>
        </p:spPr>
      </p:sp>
      <p:sp>
        <p:nvSpPr>
          <p:cNvPr id="24" name="Text 22"/>
          <p:cNvSpPr txBox="1"/>
          <p:nvPr/>
        </p:nvSpPr>
        <p:spPr>
          <a:xfrm>
            <a:off x="7452360" y="4343400"/>
            <a:ext cx="1097280" cy="320040"/>
          </a:xfrm>
          <a:prstGeom prst="rect">
            <a:avLst/>
          </a:prstGeom>
          <a:noFill/>
          <a:ln/>
        </p:spPr>
        <p:txBody>
          <a:bodyPr wrap="square" lIns="0" tIns="0" rIns="0" bIns="0" rtlCol="0" anchor="ctr"/>
          <a:lstStyle/>
          <a:p>
            <a:pPr algn="ctr" indent="0" marL="0">
              <a:buNone/>
            </a:pPr>
            <a:r>
              <a:rPr lang="en-US" sz="1600" b="1" dirty="0">
                <a:solidFill>
                  <a:srgbClr val="C2410C"/>
                </a:solidFill>
              </a:rPr>
              <a:t>−1.3</a:t>
            </a:r>
            <a:endParaRPr lang="en-US" sz="1600" dirty="0"/>
          </a:p>
        </p:txBody>
      </p:sp>
      <p:sp>
        <p:nvSpPr>
          <p:cNvPr id="25" name="Text 23"/>
          <p:cNvSpPr txBox="1"/>
          <p:nvPr/>
        </p:nvSpPr>
        <p:spPr>
          <a:xfrm>
            <a:off x="7543800" y="466344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DE</a:t>
            </a:r>
            <a:endParaRPr lang="en-US" sz="1400" dirty="0"/>
          </a:p>
        </p:txBody>
      </p:sp>
      <p:sp>
        <p:nvSpPr>
          <p:cNvPr id="26" name="Shape 24"/>
          <p:cNvSpPr/>
          <p:nvPr/>
        </p:nvSpPr>
        <p:spPr>
          <a:xfrm>
            <a:off x="8595360" y="2651760"/>
            <a:ext cx="731520" cy="1508760"/>
          </a:xfrm>
          <a:prstGeom prst="rect">
            <a:avLst/>
          </a:prstGeom>
          <a:solidFill>
            <a:srgbClr val="7C3AED"/>
          </a:solidFill>
          <a:ln w="12700">
            <a:solidFill>
              <a:srgbClr val="7C3AED"/>
            </a:solidFill>
            <a:prstDash val="solid"/>
          </a:ln>
        </p:spPr>
      </p:sp>
      <p:sp>
        <p:nvSpPr>
          <p:cNvPr id="27" name="Text 25"/>
          <p:cNvSpPr txBox="1"/>
          <p:nvPr/>
        </p:nvSpPr>
        <p:spPr>
          <a:xfrm>
            <a:off x="8412480" y="4206240"/>
            <a:ext cx="1097280" cy="320040"/>
          </a:xfrm>
          <a:prstGeom prst="rect">
            <a:avLst/>
          </a:prstGeom>
          <a:noFill/>
          <a:ln/>
        </p:spPr>
        <p:txBody>
          <a:bodyPr wrap="square" lIns="0" tIns="0" rIns="0" bIns="0" rtlCol="0" anchor="ctr"/>
          <a:lstStyle/>
          <a:p>
            <a:pPr algn="ctr" indent="0" marL="0">
              <a:buNone/>
            </a:pPr>
            <a:r>
              <a:rPr lang="en-US" sz="1600" b="1" dirty="0">
                <a:solidFill>
                  <a:srgbClr val="C2410C"/>
                </a:solidFill>
              </a:rPr>
              <a:t>−1.2</a:t>
            </a:r>
            <a:endParaRPr lang="en-US" sz="1600" dirty="0"/>
          </a:p>
        </p:txBody>
      </p:sp>
      <p:sp>
        <p:nvSpPr>
          <p:cNvPr id="28" name="Text 26"/>
          <p:cNvSpPr txBox="1"/>
          <p:nvPr/>
        </p:nvSpPr>
        <p:spPr>
          <a:xfrm>
            <a:off x="8503920" y="4526280"/>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FR</a:t>
            </a:r>
            <a:endParaRPr lang="en-US" sz="1400" dirty="0"/>
          </a:p>
        </p:txBody>
      </p:sp>
      <p:sp>
        <p:nvSpPr>
          <p:cNvPr id="29" name="Shape 27"/>
          <p:cNvSpPr/>
          <p:nvPr/>
        </p:nvSpPr>
        <p:spPr>
          <a:xfrm>
            <a:off x="9555480" y="2651760"/>
            <a:ext cx="731520" cy="384048"/>
          </a:xfrm>
          <a:prstGeom prst="rect">
            <a:avLst/>
          </a:prstGeom>
          <a:solidFill>
            <a:srgbClr val="C2410C"/>
          </a:solidFill>
          <a:ln w="12700">
            <a:solidFill>
              <a:srgbClr val="C2410C"/>
            </a:solidFill>
            <a:prstDash val="solid"/>
          </a:ln>
        </p:spPr>
      </p:sp>
      <p:sp>
        <p:nvSpPr>
          <p:cNvPr id="30" name="Text 28"/>
          <p:cNvSpPr txBox="1"/>
          <p:nvPr/>
        </p:nvSpPr>
        <p:spPr>
          <a:xfrm>
            <a:off x="9372600" y="3081528"/>
            <a:ext cx="1097280" cy="320040"/>
          </a:xfrm>
          <a:prstGeom prst="rect">
            <a:avLst/>
          </a:prstGeom>
          <a:noFill/>
          <a:ln/>
        </p:spPr>
        <p:txBody>
          <a:bodyPr wrap="square" lIns="0" tIns="0" rIns="0" bIns="0" rtlCol="0" anchor="ctr"/>
          <a:lstStyle/>
          <a:p>
            <a:pPr algn="ctr" indent="0" marL="0">
              <a:buNone/>
            </a:pPr>
            <a:r>
              <a:rPr lang="en-US" sz="1600" b="1" dirty="0">
                <a:solidFill>
                  <a:srgbClr val="111827"/>
                </a:solidFill>
              </a:rPr>
              <a:t>−0.3</a:t>
            </a:r>
            <a:endParaRPr lang="en-US" sz="1600" dirty="0"/>
          </a:p>
        </p:txBody>
      </p:sp>
      <p:sp>
        <p:nvSpPr>
          <p:cNvPr id="31" name="Text 29"/>
          <p:cNvSpPr txBox="1"/>
          <p:nvPr/>
        </p:nvSpPr>
        <p:spPr>
          <a:xfrm>
            <a:off x="9464040" y="3401568"/>
            <a:ext cx="914400" cy="320040"/>
          </a:xfrm>
          <a:prstGeom prst="rect">
            <a:avLst/>
          </a:prstGeom>
          <a:noFill/>
          <a:ln/>
        </p:spPr>
        <p:txBody>
          <a:bodyPr wrap="square" lIns="0" tIns="0" rIns="0" bIns="0" rtlCol="0" anchor="ctr"/>
          <a:lstStyle/>
          <a:p>
            <a:pPr algn="ctr" indent="0" marL="0">
              <a:buNone/>
            </a:pPr>
            <a:r>
              <a:rPr lang="en-US" sz="1400" b="1" dirty="0">
                <a:solidFill>
                  <a:srgbClr val="111827"/>
                </a:solidFill>
              </a:rPr>
              <a:t>Mix</a:t>
            </a:r>
            <a:endParaRPr lang="en-US" sz="1400" dirty="0"/>
          </a:p>
        </p:txBody>
      </p:sp>
      <p:sp>
        <p:nvSpPr>
          <p:cNvPr id="32"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Mixing helps. </a:t>
            </a:r>
            <a:pPr indent="0" marL="0">
              <a:buNone/>
            </a:pPr>
            <a:r>
              <a:rPr lang="en-US" sz="1800" b="1" i="1" dirty="0">
                <a:solidFill>
                  <a:srgbClr val="6B7280"/>
                </a:solidFill>
              </a:rPr>
              <a:t>But can we do even better?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EVEN BETTER</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Teach three students, then average their brains.</a:t>
            </a:r>
            <a:endParaRPr lang="en-US" sz="3200" dirty="0"/>
          </a:p>
        </p:txBody>
      </p:sp>
      <p:sp>
        <p:nvSpPr>
          <p:cNvPr id="4" name="Shape 2"/>
          <p:cNvSpPr/>
          <p:nvPr/>
        </p:nvSpPr>
        <p:spPr>
          <a:xfrm>
            <a:off x="1280160" y="2743200"/>
            <a:ext cx="1005840" cy="1005840"/>
          </a:xfrm>
          <a:prstGeom prst="ellipse">
            <a:avLst/>
          </a:prstGeom>
          <a:solidFill>
            <a:srgbClr val="2563EB"/>
          </a:solidFill>
          <a:ln w="12700">
            <a:solidFill>
              <a:srgbClr val="2563EB"/>
            </a:solidFill>
            <a:prstDash val="solid"/>
          </a:ln>
        </p:spPr>
      </p:sp>
      <p:sp>
        <p:nvSpPr>
          <p:cNvPr id="5" name="Text 3"/>
          <p:cNvSpPr txBox="1"/>
          <p:nvPr/>
        </p:nvSpPr>
        <p:spPr>
          <a:xfrm>
            <a:off x="128016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EN</a:t>
            </a:r>
            <a:endParaRPr lang="en-US" sz="2600" dirty="0"/>
          </a:p>
        </p:txBody>
      </p:sp>
      <p:sp>
        <p:nvSpPr>
          <p:cNvPr id="6" name="Text 4"/>
          <p:cNvSpPr txBox="1"/>
          <p:nvPr/>
        </p:nvSpPr>
        <p:spPr>
          <a:xfrm>
            <a:off x="2377440" y="2743200"/>
            <a:ext cx="457200" cy="1005840"/>
          </a:xfrm>
          <a:prstGeom prst="rect">
            <a:avLst/>
          </a:prstGeom>
          <a:noFill/>
          <a:ln/>
        </p:spPr>
        <p:txBody>
          <a:bodyPr wrap="square" lIns="0" tIns="0" rIns="0" bIns="0" rtlCol="0" anchor="ctr"/>
          <a:lstStyle/>
          <a:p>
            <a:pPr algn="ctr" indent="0" marL="0">
              <a:buNone/>
            </a:pPr>
            <a:r>
              <a:rPr lang="en-US" sz="3600" b="1" dirty="0">
                <a:solidFill>
                  <a:srgbClr val="9CA3AF"/>
                </a:solidFill>
              </a:rPr>
              <a:t>+</a:t>
            </a:r>
            <a:endParaRPr lang="en-US" sz="3600" dirty="0"/>
          </a:p>
        </p:txBody>
      </p:sp>
      <p:sp>
        <p:nvSpPr>
          <p:cNvPr id="7" name="Shape 5"/>
          <p:cNvSpPr/>
          <p:nvPr/>
        </p:nvSpPr>
        <p:spPr>
          <a:xfrm>
            <a:off x="2926080" y="2743200"/>
            <a:ext cx="1005840" cy="1005840"/>
          </a:xfrm>
          <a:prstGeom prst="ellipse">
            <a:avLst/>
          </a:prstGeom>
          <a:solidFill>
            <a:srgbClr val="D97706"/>
          </a:solidFill>
          <a:ln w="12700">
            <a:solidFill>
              <a:srgbClr val="D97706"/>
            </a:solidFill>
            <a:prstDash val="solid"/>
          </a:ln>
        </p:spPr>
      </p:sp>
      <p:sp>
        <p:nvSpPr>
          <p:cNvPr id="8" name="Text 6"/>
          <p:cNvSpPr txBox="1"/>
          <p:nvPr/>
        </p:nvSpPr>
        <p:spPr>
          <a:xfrm>
            <a:off x="292608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DE</a:t>
            </a:r>
            <a:endParaRPr lang="en-US" sz="2600" dirty="0"/>
          </a:p>
        </p:txBody>
      </p:sp>
      <p:sp>
        <p:nvSpPr>
          <p:cNvPr id="9" name="Text 7"/>
          <p:cNvSpPr txBox="1"/>
          <p:nvPr/>
        </p:nvSpPr>
        <p:spPr>
          <a:xfrm>
            <a:off x="4023360" y="2743200"/>
            <a:ext cx="457200" cy="1005840"/>
          </a:xfrm>
          <a:prstGeom prst="rect">
            <a:avLst/>
          </a:prstGeom>
          <a:noFill/>
          <a:ln/>
        </p:spPr>
        <p:txBody>
          <a:bodyPr wrap="square" lIns="0" tIns="0" rIns="0" bIns="0" rtlCol="0" anchor="ctr"/>
          <a:lstStyle/>
          <a:p>
            <a:pPr algn="ctr" indent="0" marL="0">
              <a:buNone/>
            </a:pPr>
            <a:r>
              <a:rPr lang="en-US" sz="3600" b="1" dirty="0">
                <a:solidFill>
                  <a:srgbClr val="9CA3AF"/>
                </a:solidFill>
              </a:rPr>
              <a:t>+</a:t>
            </a:r>
            <a:endParaRPr lang="en-US" sz="3600" dirty="0"/>
          </a:p>
        </p:txBody>
      </p:sp>
      <p:sp>
        <p:nvSpPr>
          <p:cNvPr id="10" name="Shape 8"/>
          <p:cNvSpPr/>
          <p:nvPr/>
        </p:nvSpPr>
        <p:spPr>
          <a:xfrm>
            <a:off x="4572000" y="2743200"/>
            <a:ext cx="1005840" cy="1005840"/>
          </a:xfrm>
          <a:prstGeom prst="ellipse">
            <a:avLst/>
          </a:prstGeom>
          <a:solidFill>
            <a:srgbClr val="7C3AED"/>
          </a:solidFill>
          <a:ln w="12700">
            <a:solidFill>
              <a:srgbClr val="7C3AED"/>
            </a:solidFill>
            <a:prstDash val="solid"/>
          </a:ln>
        </p:spPr>
      </p:sp>
      <p:sp>
        <p:nvSpPr>
          <p:cNvPr id="11" name="Text 9"/>
          <p:cNvSpPr txBox="1"/>
          <p:nvPr/>
        </p:nvSpPr>
        <p:spPr>
          <a:xfrm>
            <a:off x="4572000" y="2743200"/>
            <a:ext cx="1005840" cy="1005840"/>
          </a:xfrm>
          <a:prstGeom prst="rect">
            <a:avLst/>
          </a:prstGeom>
          <a:noFill/>
          <a:ln/>
        </p:spPr>
        <p:txBody>
          <a:bodyPr wrap="square" lIns="0" tIns="0" rIns="0" bIns="0" rtlCol="0" anchor="ctr"/>
          <a:lstStyle/>
          <a:p>
            <a:pPr algn="ctr" indent="0" marL="0">
              <a:buNone/>
            </a:pPr>
            <a:r>
              <a:rPr lang="en-US" sz="2600" b="1" dirty="0">
                <a:solidFill>
                  <a:srgbClr val="FFFFFF"/>
                </a:solidFill>
              </a:rPr>
              <a:t>FR</a:t>
            </a:r>
            <a:endParaRPr lang="en-US" sz="2600" dirty="0"/>
          </a:p>
        </p:txBody>
      </p:sp>
      <p:sp>
        <p:nvSpPr>
          <p:cNvPr id="12" name="Text 10"/>
          <p:cNvSpPr txBox="1"/>
          <p:nvPr/>
        </p:nvSpPr>
        <p:spPr>
          <a:xfrm>
            <a:off x="5669280" y="2743200"/>
            <a:ext cx="1463040" cy="1005840"/>
          </a:xfrm>
          <a:prstGeom prst="rect">
            <a:avLst/>
          </a:prstGeom>
          <a:noFill/>
          <a:ln/>
        </p:spPr>
        <p:txBody>
          <a:bodyPr wrap="square" lIns="0" tIns="0" rIns="0" bIns="0" rtlCol="0" anchor="ctr"/>
          <a:lstStyle/>
          <a:p>
            <a:pPr algn="ctr" indent="0" marL="0">
              <a:buNone/>
            </a:pPr>
            <a:r>
              <a:rPr lang="en-US" sz="3600" b="1" dirty="0">
                <a:solidFill>
                  <a:srgbClr val="9CA3AF"/>
                </a:solidFill>
              </a:rPr>
              <a:t>÷ 3  =</a:t>
            </a:r>
            <a:endParaRPr lang="en-US" sz="3600" dirty="0"/>
          </a:p>
        </p:txBody>
      </p:sp>
      <p:sp>
        <p:nvSpPr>
          <p:cNvPr id="13" name="Shape 11"/>
          <p:cNvSpPr/>
          <p:nvPr/>
        </p:nvSpPr>
        <p:spPr>
          <a:xfrm>
            <a:off x="7315200" y="2560320"/>
            <a:ext cx="1371600" cy="1371600"/>
          </a:xfrm>
          <a:prstGeom prst="ellipse">
            <a:avLst/>
          </a:prstGeom>
          <a:solidFill>
            <a:srgbClr val="C2410C"/>
          </a:solidFill>
          <a:ln w="12700">
            <a:solidFill>
              <a:srgbClr val="C2410C"/>
            </a:solidFill>
            <a:prstDash val="solid"/>
          </a:ln>
        </p:spPr>
      </p:sp>
      <p:sp>
        <p:nvSpPr>
          <p:cNvPr id="14" name="Text 12"/>
          <p:cNvSpPr txBox="1"/>
          <p:nvPr/>
        </p:nvSpPr>
        <p:spPr>
          <a:xfrm>
            <a:off x="7315200" y="2560320"/>
            <a:ext cx="1371600" cy="1371600"/>
          </a:xfrm>
          <a:prstGeom prst="rect">
            <a:avLst/>
          </a:prstGeom>
          <a:noFill/>
          <a:ln/>
        </p:spPr>
        <p:txBody>
          <a:bodyPr wrap="square" lIns="0" tIns="0" rIns="0" bIns="0" rtlCol="0" anchor="ctr"/>
          <a:lstStyle/>
          <a:p>
            <a:pPr algn="ctr" indent="0" marL="0">
              <a:buNone/>
            </a:pPr>
            <a:r>
              <a:rPr lang="en-US" sz="4800" dirty="0">
                <a:solidFill>
                  <a:srgbClr val="FFFFFF"/>
                </a:solidFill>
              </a:rPr>
              <a:t>★</a:t>
            </a:r>
            <a:endParaRPr lang="en-US" sz="4800" dirty="0"/>
          </a:p>
        </p:txBody>
      </p:sp>
      <p:sp>
        <p:nvSpPr>
          <p:cNvPr id="15"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All the new facts, nothing lost, no extra training. </a:t>
            </a:r>
            <a:pPr indent="0" marL="0">
              <a:buNone/>
            </a:pPr>
            <a:r>
              <a:rPr lang="en-US" sz="1800" b="1" i="1" dirty="0">
                <a:solidFill>
                  <a:srgbClr val="6B7280"/>
                </a:solidFill>
              </a:rPr>
              <a:t>“Model soups”, Wortsman et al. 2022: average the weights.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WAY 2 · THE RESULT</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Every update learns. </a:t>
            </a:r>
            <a:pPr algn="l" indent="0" marL="0">
              <a:buNone/>
            </a:pPr>
            <a:r>
              <a:rPr lang="en-US" sz="3200" b="1" i="1" dirty="0">
                <a:solidFill>
                  <a:srgbClr val="6B7280"/>
                </a:solidFill>
              </a:rPr>
              <a:t>Only the average learns without losing.</a:t>
            </a:r>
            <a:endParaRPr lang="en-US" sz="3200" dirty="0"/>
          </a:p>
        </p:txBody>
      </p:sp>
      <p:pic>
        <p:nvPicPr>
          <p:cNvPr id="4" name="Image 0" descr="/tmp/claude-0/-home-user-Claude-expo-repo-36501/d3d88de1-f67d-5aa6-8097-3ece5ccf8bcb/scratchpad/build/summary_part2.png">    </p:cNvPr>
          <p:cNvPicPr>
            <a:picLocks noChangeAspect="1"/>
          </p:cNvPicPr>
          <p:nvPr/>
        </p:nvPicPr>
        <p:blipFill>
          <a:blip r:embed="rId1"/>
          <a:stretch>
            <a:fillRect/>
          </a:stretch>
        </p:blipFill>
        <p:spPr>
          <a:xfrm>
            <a:off x="2331720" y="1965960"/>
            <a:ext cx="7498080" cy="3994831"/>
          </a:xfrm>
          <a:prstGeom prst="rect">
            <a:avLst/>
          </a:prstGeom>
        </p:spPr>
      </p:pic>
      <p:sp>
        <p:nvSpPr>
          <p:cNvPr id="5"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Right = more new facts. Up = nothing forgotten. </a:t>
            </a:r>
            <a:pPr indent="0" marL="0">
              <a:buNone/>
            </a:pPr>
            <a:r>
              <a:rPr lang="en-US" sz="1800" b="1" i="1" dirty="0">
                <a:solidFill>
                  <a:srgbClr val="6B7280"/>
                </a:solidFill>
              </a:rPr>
              <a:t>Top right is where we want to be.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ONGOING · WHERE DOES THE NEW KNOWLEDGE LIVE?</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In the same place steering found. </a:t>
            </a:r>
            <a:pPr algn="l" indent="0" marL="0">
              <a:buNone/>
            </a:pPr>
            <a:r>
              <a:rPr lang="en-US" sz="3200" b="1" i="1" dirty="0">
                <a:solidFill>
                  <a:srgbClr val="6B7280"/>
                </a:solidFill>
              </a:rPr>
              <a:t>So do we even need to train three models?</a:t>
            </a:r>
            <a:endParaRPr lang="en-US" sz="3200" dirty="0"/>
          </a:p>
        </p:txBody>
      </p:sp>
      <p:sp>
        <p:nvSpPr>
          <p:cNvPr id="4" name="Shape 2"/>
          <p:cNvSpPr/>
          <p:nvPr/>
        </p:nvSpPr>
        <p:spPr>
          <a:xfrm>
            <a:off x="640080" y="2240280"/>
            <a:ext cx="2194560" cy="384048"/>
          </a:xfrm>
          <a:prstGeom prst="roundRect">
            <a:avLst>
              <a:gd name="adj" fmla="val 14286"/>
            </a:avLst>
          </a:prstGeom>
          <a:solidFill>
            <a:srgbClr val="E5E7EB"/>
          </a:solidFill>
          <a:ln w="12700">
            <a:solidFill>
              <a:srgbClr val="E5E7EB"/>
            </a:solidFill>
            <a:prstDash val="solid"/>
          </a:ln>
        </p:spPr>
      </p:sp>
      <p:sp>
        <p:nvSpPr>
          <p:cNvPr id="5" name="Shape 3"/>
          <p:cNvSpPr/>
          <p:nvPr/>
        </p:nvSpPr>
        <p:spPr>
          <a:xfrm>
            <a:off x="640080" y="2697480"/>
            <a:ext cx="2194560" cy="384048"/>
          </a:xfrm>
          <a:prstGeom prst="roundRect">
            <a:avLst>
              <a:gd name="adj" fmla="val 14286"/>
            </a:avLst>
          </a:prstGeom>
          <a:solidFill>
            <a:srgbClr val="E5E7EB"/>
          </a:solidFill>
          <a:ln w="12700">
            <a:solidFill>
              <a:srgbClr val="E5E7EB"/>
            </a:solidFill>
            <a:prstDash val="solid"/>
          </a:ln>
        </p:spPr>
      </p:sp>
      <p:sp>
        <p:nvSpPr>
          <p:cNvPr id="6" name="Shape 4"/>
          <p:cNvSpPr/>
          <p:nvPr/>
        </p:nvSpPr>
        <p:spPr>
          <a:xfrm>
            <a:off x="640080" y="3154680"/>
            <a:ext cx="2194560" cy="384048"/>
          </a:xfrm>
          <a:prstGeom prst="roundRect">
            <a:avLst>
              <a:gd name="adj" fmla="val 14286"/>
            </a:avLst>
          </a:prstGeom>
          <a:solidFill>
            <a:srgbClr val="FDBA74"/>
          </a:solidFill>
          <a:ln w="12700">
            <a:solidFill>
              <a:srgbClr val="FDBA74"/>
            </a:solidFill>
            <a:prstDash val="solid"/>
          </a:ln>
        </p:spPr>
      </p:sp>
      <p:sp>
        <p:nvSpPr>
          <p:cNvPr id="7" name="Shape 5"/>
          <p:cNvSpPr/>
          <p:nvPr/>
        </p:nvSpPr>
        <p:spPr>
          <a:xfrm>
            <a:off x="640080" y="3611880"/>
            <a:ext cx="2194560" cy="384048"/>
          </a:xfrm>
          <a:prstGeom prst="roundRect">
            <a:avLst>
              <a:gd name="adj" fmla="val 14286"/>
            </a:avLst>
          </a:prstGeom>
          <a:solidFill>
            <a:srgbClr val="C2410C"/>
          </a:solidFill>
          <a:ln w="12700">
            <a:solidFill>
              <a:srgbClr val="C2410C"/>
            </a:solidFill>
            <a:prstDash val="solid"/>
          </a:ln>
        </p:spPr>
      </p:sp>
      <p:sp>
        <p:nvSpPr>
          <p:cNvPr id="8" name="Shape 6"/>
          <p:cNvSpPr/>
          <p:nvPr/>
        </p:nvSpPr>
        <p:spPr>
          <a:xfrm>
            <a:off x="640080" y="4069080"/>
            <a:ext cx="2194560" cy="384048"/>
          </a:xfrm>
          <a:prstGeom prst="roundRect">
            <a:avLst>
              <a:gd name="adj" fmla="val 14286"/>
            </a:avLst>
          </a:prstGeom>
          <a:solidFill>
            <a:srgbClr val="C2410C"/>
          </a:solidFill>
          <a:ln w="12700">
            <a:solidFill>
              <a:srgbClr val="C2410C"/>
            </a:solidFill>
            <a:prstDash val="solid"/>
          </a:ln>
        </p:spPr>
      </p:sp>
      <p:sp>
        <p:nvSpPr>
          <p:cNvPr id="9" name="Shape 7"/>
          <p:cNvSpPr/>
          <p:nvPr/>
        </p:nvSpPr>
        <p:spPr>
          <a:xfrm>
            <a:off x="640080" y="4526280"/>
            <a:ext cx="2194560" cy="384048"/>
          </a:xfrm>
          <a:prstGeom prst="roundRect">
            <a:avLst>
              <a:gd name="adj" fmla="val 14286"/>
            </a:avLst>
          </a:prstGeom>
          <a:solidFill>
            <a:srgbClr val="FDBA74"/>
          </a:solidFill>
          <a:ln w="12700">
            <a:solidFill>
              <a:srgbClr val="FDBA74"/>
            </a:solidFill>
            <a:prstDash val="solid"/>
          </a:ln>
        </p:spPr>
      </p:sp>
      <p:sp>
        <p:nvSpPr>
          <p:cNvPr id="10" name="Text 8"/>
          <p:cNvSpPr txBox="1"/>
          <p:nvPr/>
        </p:nvSpPr>
        <p:spPr>
          <a:xfrm>
            <a:off x="640080" y="5029200"/>
            <a:ext cx="2194560" cy="320040"/>
          </a:xfrm>
          <a:prstGeom prst="rect">
            <a:avLst/>
          </a:prstGeom>
          <a:noFill/>
          <a:ln/>
        </p:spPr>
        <p:txBody>
          <a:bodyPr wrap="square" lIns="0" tIns="0" rIns="0" bIns="0" rtlCol="0" anchor="ctr"/>
          <a:lstStyle/>
          <a:p>
            <a:pPr algn="ctr" indent="0" marL="0">
              <a:buNone/>
            </a:pPr>
            <a:r>
              <a:rPr lang="en-US" sz="1200" dirty="0">
                <a:solidFill>
                  <a:srgbClr val="6B7280"/>
                </a:solidFill>
              </a:rPr>
              <a:t>MLP layers, first half</a:t>
            </a:r>
            <a:endParaRPr lang="en-US" sz="1200" dirty="0"/>
          </a:p>
        </p:txBody>
      </p:sp>
      <p:sp>
        <p:nvSpPr>
          <p:cNvPr id="11" name="Text 9"/>
          <p:cNvSpPr txBox="1"/>
          <p:nvPr/>
        </p:nvSpPr>
        <p:spPr>
          <a:xfrm>
            <a:off x="3108960" y="2377440"/>
            <a:ext cx="3291840" cy="1371600"/>
          </a:xfrm>
          <a:prstGeom prst="rect">
            <a:avLst/>
          </a:prstGeom>
          <a:noFill/>
          <a:ln/>
        </p:spPr>
        <p:txBody>
          <a:bodyPr wrap="square" lIns="0" tIns="0" rIns="0" bIns="0" rtlCol="0" anchor="ctr"/>
          <a:lstStyle/>
          <a:p>
            <a:pPr indent="0" marL="0">
              <a:buNone/>
            </a:pPr>
            <a:r>
              <a:rPr lang="en-US" sz="8400" b="1" dirty="0">
                <a:solidFill>
                  <a:srgbClr val="C2410C"/>
                </a:solidFill>
                <a:latin typeface="Cambria" pitchFamily="34" charset="0"/>
                <a:ea typeface="Cambria" pitchFamily="34" charset="-122"/>
                <a:cs typeface="Cambria" pitchFamily="34" charset="-120"/>
              </a:rPr>
              <a:t>≈95%</a:t>
            </a:r>
            <a:endParaRPr lang="en-US" sz="8400" dirty="0"/>
          </a:p>
        </p:txBody>
      </p:sp>
      <p:sp>
        <p:nvSpPr>
          <p:cNvPr id="12" name="Text 10"/>
          <p:cNvSpPr txBox="1"/>
          <p:nvPr/>
        </p:nvSpPr>
        <p:spPr>
          <a:xfrm>
            <a:off x="3108960" y="3840480"/>
            <a:ext cx="3017520" cy="822960"/>
          </a:xfrm>
          <a:prstGeom prst="rect">
            <a:avLst/>
          </a:prstGeom>
          <a:noFill/>
          <a:ln/>
        </p:spPr>
        <p:txBody>
          <a:bodyPr wrap="square" lIns="0" tIns="0" rIns="0" bIns="0" rtlCol="0" anchor="ctr"/>
          <a:lstStyle/>
          <a:p>
            <a:pPr indent="0" marL="0">
              <a:buNone/>
            </a:pPr>
            <a:r>
              <a:rPr lang="en-US" sz="1600" dirty="0">
                <a:solidFill>
                  <a:srgbClr val="374151"/>
                </a:solidFill>
              </a:rPr>
              <a:t>of the new facts survive if we keep only the MLP changes</a:t>
            </a:r>
            <a:endParaRPr lang="en-US" sz="1600" dirty="0"/>
          </a:p>
        </p:txBody>
      </p:sp>
      <p:sp>
        <p:nvSpPr>
          <p:cNvPr id="13" name="Shape 11"/>
          <p:cNvSpPr/>
          <p:nvPr/>
        </p:nvSpPr>
        <p:spPr>
          <a:xfrm flipV="1">
            <a:off x="7315200" y="4114800"/>
            <a:ext cx="3657600" cy="822960"/>
          </a:xfrm>
          <a:prstGeom prst="line">
            <a:avLst/>
          </a:prstGeom>
          <a:noFill/>
          <a:ln w="50800">
            <a:solidFill>
              <a:srgbClr val="2563EB"/>
            </a:solidFill>
            <a:prstDash val="solid"/>
            <a:tailEnd type="triangle"/>
          </a:ln>
        </p:spPr>
      </p:sp>
      <p:sp>
        <p:nvSpPr>
          <p:cNvPr id="14" name="Shape 12"/>
          <p:cNvSpPr/>
          <p:nvPr/>
        </p:nvSpPr>
        <p:spPr>
          <a:xfrm flipV="1">
            <a:off x="7315200" y="2286000"/>
            <a:ext cx="1097280" cy="2651760"/>
          </a:xfrm>
          <a:prstGeom prst="line">
            <a:avLst/>
          </a:prstGeom>
          <a:noFill/>
          <a:ln w="50800">
            <a:solidFill>
              <a:srgbClr val="D97706"/>
            </a:solidFill>
            <a:prstDash val="solid"/>
            <a:tailEnd type="triangle"/>
          </a:ln>
        </p:spPr>
      </p:sp>
      <p:sp>
        <p:nvSpPr>
          <p:cNvPr id="15" name="Shape 13"/>
          <p:cNvSpPr/>
          <p:nvPr/>
        </p:nvSpPr>
        <p:spPr>
          <a:xfrm flipV="1">
            <a:off x="7315200" y="2377440"/>
            <a:ext cx="3017520" cy="2560320"/>
          </a:xfrm>
          <a:prstGeom prst="line">
            <a:avLst/>
          </a:prstGeom>
          <a:noFill/>
          <a:ln w="50800">
            <a:solidFill>
              <a:srgbClr val="7C3AED"/>
            </a:solidFill>
            <a:prstDash val="solid"/>
            <a:tailEnd type="triangle"/>
          </a:ln>
        </p:spPr>
      </p:sp>
      <p:sp>
        <p:nvSpPr>
          <p:cNvPr id="16" name="Shape 14"/>
          <p:cNvSpPr/>
          <p:nvPr/>
        </p:nvSpPr>
        <p:spPr>
          <a:xfrm flipV="1">
            <a:off x="7315200" y="3566160"/>
            <a:ext cx="2194560" cy="1371600"/>
          </a:xfrm>
          <a:prstGeom prst="line">
            <a:avLst/>
          </a:prstGeom>
          <a:noFill/>
          <a:ln w="88900">
            <a:solidFill>
              <a:srgbClr val="C2410C"/>
            </a:solidFill>
            <a:prstDash val="solid"/>
            <a:tailEnd type="triangle"/>
          </a:ln>
        </p:spPr>
      </p:sp>
      <p:sp>
        <p:nvSpPr>
          <p:cNvPr id="17" name="Shape 15"/>
          <p:cNvSpPr/>
          <p:nvPr/>
        </p:nvSpPr>
        <p:spPr>
          <a:xfrm>
            <a:off x="7178040" y="4800600"/>
            <a:ext cx="274320" cy="274320"/>
          </a:xfrm>
          <a:prstGeom prst="ellipse">
            <a:avLst/>
          </a:prstGeom>
          <a:solidFill>
            <a:srgbClr val="FFFFFF"/>
          </a:solidFill>
          <a:ln w="38100">
            <a:solidFill>
              <a:srgbClr val="111827"/>
            </a:solidFill>
            <a:prstDash val="solid"/>
          </a:ln>
        </p:spPr>
      </p:sp>
      <p:sp>
        <p:nvSpPr>
          <p:cNvPr id="18" name="Text 16"/>
          <p:cNvSpPr txBox="1"/>
          <p:nvPr/>
        </p:nvSpPr>
        <p:spPr>
          <a:xfrm>
            <a:off x="9601200" y="3429000"/>
            <a:ext cx="2011680" cy="365760"/>
          </a:xfrm>
          <a:prstGeom prst="rect">
            <a:avLst/>
          </a:prstGeom>
          <a:noFill/>
          <a:ln/>
        </p:spPr>
        <p:txBody>
          <a:bodyPr wrap="square" lIns="0" tIns="0" rIns="0" bIns="0" rtlCol="0" anchor="ctr"/>
          <a:lstStyle/>
          <a:p>
            <a:pPr indent="0" marL="0">
              <a:buNone/>
            </a:pPr>
            <a:r>
              <a:rPr lang="en-US" sz="1500" b="1" dirty="0">
                <a:solidFill>
                  <a:srgbClr val="C2410C"/>
                </a:solidFill>
              </a:rPr>
              <a:t>the good direction</a:t>
            </a:r>
            <a:endParaRPr lang="en-US" sz="1500" dirty="0"/>
          </a:p>
        </p:txBody>
      </p:sp>
      <p:sp>
        <p:nvSpPr>
          <p:cNvPr id="19"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If we know where and which way, maybe we nudge the MLPs there, like steering, </a:t>
            </a:r>
            <a:pPr indent="0" marL="0">
              <a:buNone/>
            </a:pPr>
            <a:r>
              <a:rPr lang="en-US" sz="1800" b="1" i="1" dirty="0">
                <a:solidFill>
                  <a:srgbClr val="6B7280"/>
                </a:solidFill>
              </a:rPr>
              <a:t>instead of training three models.</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10908792" cy="320040"/>
          </a:xfrm>
          <a:prstGeom prst="rect">
            <a:avLst/>
          </a:prstGeom>
          <a:noFill/>
          <a:ln/>
        </p:spPr>
        <p:txBody>
          <a:bodyPr wrap="square" lIns="0" tIns="0" rIns="0" bIns="0" rtlCol="0"/>
          <a:lstStyle/>
          <a:p>
            <a:pPr indent="0" marL="0">
              <a:buNone/>
            </a:pPr>
            <a:r>
              <a:rPr lang="en-US" sz="1200" b="1" spc="300" kern="0" dirty="0">
                <a:solidFill>
                  <a:schemeClr val="accent1"/>
                </a:solidFill>
              </a:rPr>
              <a:t>WHAT WE ACHIEVED</a:t>
            </a:r>
            <a:endParaRPr lang="en-US" sz="1200" dirty="0"/>
          </a:p>
        </p:txBody>
      </p:sp>
      <p:sp>
        <p:nvSpPr>
          <p:cNvPr id="3" name="Text 0"/>
          <p:cNvSpPr/>
          <p:nvPr>
            <p:ph idx="101" type="title" hasCustomPrompt="1"/>
          </p:nvPr>
        </p:nvSpPr>
        <p:spPr>
          <a:xfrm>
            <a:off x="640080" y="731520"/>
            <a:ext cx="10908792" cy="1097280"/>
          </a:xfrm>
          <a:prstGeom prst="rect">
            <a:avLst/>
          </a:prstGeom>
          <a:noFill/>
          <a:ln/>
        </p:spPr>
        <p:txBody>
          <a:bodyPr wrap="square" lIns="0" tIns="0" rIns="0" bIns="0" rtlCol="0" anchor="t"/>
          <a:lstStyle/>
          <a:p>
            <a:pPr algn="l" indent="0" marL="0">
              <a:buNone/>
            </a:pPr>
            <a:r>
              <a:rPr lang="en-US" sz="3200" b="1" dirty="0">
                <a:solidFill>
                  <a:schemeClr val="tx1"/>
                </a:solidFill>
              </a:rPr>
              <a:t>Retrain or teach? </a:t>
            </a:r>
            <a:pPr algn="l" indent="0" marL="0">
              <a:buNone/>
            </a:pPr>
            <a:r>
              <a:rPr lang="en-US" sz="3200" b="1" i="1" dirty="0">
                <a:solidFill>
                  <a:srgbClr val="6B7280"/>
                </a:solidFill>
              </a:rPr>
              <a:t>Teach.</a:t>
            </a:r>
            <a:endParaRPr lang="en-US" sz="3200" dirty="0"/>
          </a:p>
        </p:txBody>
      </p:sp>
      <p:sp>
        <p:nvSpPr>
          <p:cNvPr id="4" name="Shape 2"/>
          <p:cNvSpPr/>
          <p:nvPr/>
        </p:nvSpPr>
        <p:spPr>
          <a:xfrm>
            <a:off x="640080" y="2148840"/>
            <a:ext cx="3474720" cy="3108960"/>
          </a:xfrm>
          <a:prstGeom prst="roundRect">
            <a:avLst>
              <a:gd name="adj" fmla="val 3529"/>
            </a:avLst>
          </a:prstGeom>
          <a:solidFill>
            <a:srgbClr val="F9FAFB"/>
          </a:solidFill>
          <a:ln w="12700">
            <a:solidFill>
              <a:srgbClr val="E5E7EB"/>
            </a:solidFill>
            <a:prstDash val="solid"/>
          </a:ln>
        </p:spPr>
      </p:sp>
      <p:pic>
        <p:nvPicPr>
          <p:cNvPr id="5" name="Image 0" descr="preencoded.png">    </p:cNvPr>
          <p:cNvPicPr>
            <a:picLocks noChangeAspect="1"/>
          </p:cNvPicPr>
          <p:nvPr/>
        </p:nvPicPr>
        <p:blipFill>
          <a:blip r:embed="rId1"/>
          <a:stretch>
            <a:fillRect/>
          </a:stretch>
        </p:blipFill>
        <p:spPr>
          <a:xfrm>
            <a:off x="2057400" y="2331720"/>
            <a:ext cx="640080" cy="640080"/>
          </a:xfrm>
          <a:prstGeom prst="rect">
            <a:avLst/>
          </a:prstGeom>
        </p:spPr>
      </p:pic>
      <p:sp>
        <p:nvSpPr>
          <p:cNvPr id="6" name="Text 3"/>
          <p:cNvSpPr txBox="1"/>
          <p:nvPr/>
        </p:nvSpPr>
        <p:spPr>
          <a:xfrm>
            <a:off x="822960" y="3063240"/>
            <a:ext cx="3108960" cy="274320"/>
          </a:xfrm>
          <a:prstGeom prst="rect">
            <a:avLst/>
          </a:prstGeom>
          <a:noFill/>
          <a:ln/>
        </p:spPr>
        <p:txBody>
          <a:bodyPr wrap="square" lIns="0" tIns="0" rIns="0" bIns="0" rtlCol="0" anchor="ctr"/>
          <a:lstStyle/>
          <a:p>
            <a:pPr algn="ctr" indent="0" marL="0">
              <a:buNone/>
            </a:pPr>
            <a:r>
              <a:rPr lang="en-US" sz="1050" b="1" spc="200" kern="0" dirty="0">
                <a:solidFill>
                  <a:srgbClr val="6B7280"/>
                </a:solidFill>
              </a:rPr>
              <a:t>A LOCAL MEDICAL MODEL</a:t>
            </a:r>
            <a:endParaRPr lang="en-US" sz="1050" dirty="0"/>
          </a:p>
        </p:txBody>
      </p:sp>
      <p:sp>
        <p:nvSpPr>
          <p:cNvPr id="7" name="Text 4"/>
          <p:cNvSpPr txBox="1"/>
          <p:nvPr/>
        </p:nvSpPr>
        <p:spPr>
          <a:xfrm>
            <a:off x="822960" y="3383280"/>
            <a:ext cx="3108960" cy="822960"/>
          </a:xfrm>
          <a:prstGeom prst="rect">
            <a:avLst/>
          </a:prstGeom>
          <a:noFill/>
          <a:ln/>
        </p:spPr>
        <p:txBody>
          <a:bodyPr wrap="square" lIns="0" tIns="0" rIns="0" bIns="0" rtlCol="0" anchor="t"/>
          <a:lstStyle/>
          <a:p>
            <a:pPr algn="ctr" indent="0" marL="0">
              <a:buNone/>
            </a:pPr>
            <a:r>
              <a:rPr lang="en-US" sz="2200" b="1" dirty="0">
                <a:solidFill>
                  <a:srgbClr val="C2410C"/>
                </a:solidFill>
                <a:latin typeface="Cambria" pitchFamily="34" charset="0"/>
                <a:ea typeface="Cambria" pitchFamily="34" charset="-122"/>
                <a:cs typeface="Cambria" pitchFamily="34" charset="-120"/>
              </a:rPr>
              <a:t>Steer it.</a:t>
            </a:r>
            <a:endParaRPr lang="en-US" sz="2200" dirty="0"/>
          </a:p>
        </p:txBody>
      </p:sp>
      <p:sp>
        <p:nvSpPr>
          <p:cNvPr id="8" name="Text 5"/>
          <p:cNvSpPr txBox="1"/>
          <p:nvPr/>
        </p:nvSpPr>
        <p:spPr>
          <a:xfrm>
            <a:off x="868680" y="4206240"/>
            <a:ext cx="3017520" cy="914400"/>
          </a:xfrm>
          <a:prstGeom prst="rect">
            <a:avLst/>
          </a:prstGeom>
          <a:noFill/>
          <a:ln/>
        </p:spPr>
        <p:txBody>
          <a:bodyPr wrap="square" lIns="0" tIns="0" rIns="0" bIns="0" rtlCol="0" anchor="t"/>
          <a:lstStyle/>
          <a:p>
            <a:pPr algn="ctr" indent="0" marL="0">
              <a:buNone/>
            </a:pPr>
            <a:r>
              <a:rPr lang="en-US" sz="1300" dirty="0">
                <a:solidFill>
                  <a:srgbClr val="374151"/>
                </a:solidFill>
              </a:rPr>
              <a:t>One nudge at the MLPs. No training, nothing forgotten.</a:t>
            </a:r>
            <a:endParaRPr lang="en-US" sz="1300" dirty="0"/>
          </a:p>
        </p:txBody>
      </p:sp>
      <p:sp>
        <p:nvSpPr>
          <p:cNvPr id="9" name="Shape 6"/>
          <p:cNvSpPr/>
          <p:nvPr/>
        </p:nvSpPr>
        <p:spPr>
          <a:xfrm>
            <a:off x="4361688" y="2148840"/>
            <a:ext cx="3474720" cy="3108960"/>
          </a:xfrm>
          <a:prstGeom prst="roundRect">
            <a:avLst>
              <a:gd name="adj" fmla="val 3529"/>
            </a:avLst>
          </a:prstGeom>
          <a:solidFill>
            <a:srgbClr val="F9FAFB"/>
          </a:solidFill>
          <a:ln w="12700">
            <a:solidFill>
              <a:srgbClr val="E5E7EB"/>
            </a:solidFill>
            <a:prstDash val="solid"/>
          </a:ln>
        </p:spPr>
      </p:sp>
      <p:pic>
        <p:nvPicPr>
          <p:cNvPr id="10" name="Image 1" descr="preencoded.png">    </p:cNvPr>
          <p:cNvPicPr>
            <a:picLocks noChangeAspect="1"/>
          </p:cNvPicPr>
          <p:nvPr/>
        </p:nvPicPr>
        <p:blipFill>
          <a:blip r:embed="rId2"/>
          <a:stretch>
            <a:fillRect/>
          </a:stretch>
        </p:blipFill>
        <p:spPr>
          <a:xfrm>
            <a:off x="5779008" y="2331720"/>
            <a:ext cx="640080" cy="640080"/>
          </a:xfrm>
          <a:prstGeom prst="rect">
            <a:avLst/>
          </a:prstGeom>
        </p:spPr>
      </p:pic>
      <p:sp>
        <p:nvSpPr>
          <p:cNvPr id="11" name="Text 7"/>
          <p:cNvSpPr txBox="1"/>
          <p:nvPr/>
        </p:nvSpPr>
        <p:spPr>
          <a:xfrm>
            <a:off x="4544568" y="3063240"/>
            <a:ext cx="3108960" cy="274320"/>
          </a:xfrm>
          <a:prstGeom prst="rect">
            <a:avLst/>
          </a:prstGeom>
          <a:noFill/>
          <a:ln/>
        </p:spPr>
        <p:txBody>
          <a:bodyPr wrap="square" lIns="0" tIns="0" rIns="0" bIns="0" rtlCol="0" anchor="ctr"/>
          <a:lstStyle/>
          <a:p>
            <a:pPr algn="ctr" indent="0" marL="0">
              <a:buNone/>
            </a:pPr>
            <a:r>
              <a:rPr lang="en-US" sz="1050" b="1" spc="200" kern="0" dirty="0">
                <a:solidFill>
                  <a:srgbClr val="6B7280"/>
                </a:solidFill>
              </a:rPr>
              <a:t>GENUINELY NEW KNOWLEDGE</a:t>
            </a:r>
            <a:endParaRPr lang="en-US" sz="1050" dirty="0"/>
          </a:p>
        </p:txBody>
      </p:sp>
      <p:sp>
        <p:nvSpPr>
          <p:cNvPr id="12" name="Text 8"/>
          <p:cNvSpPr txBox="1"/>
          <p:nvPr/>
        </p:nvSpPr>
        <p:spPr>
          <a:xfrm>
            <a:off x="4544568" y="3383280"/>
            <a:ext cx="3108960" cy="822960"/>
          </a:xfrm>
          <a:prstGeom prst="rect">
            <a:avLst/>
          </a:prstGeom>
          <a:noFill/>
          <a:ln/>
        </p:spPr>
        <p:txBody>
          <a:bodyPr wrap="square" lIns="0" tIns="0" rIns="0" bIns="0" rtlCol="0" anchor="t"/>
          <a:lstStyle/>
          <a:p>
            <a:pPr algn="ctr" indent="0" marL="0">
              <a:buNone/>
            </a:pPr>
            <a:r>
              <a:rPr lang="en-US" sz="2200" b="1" dirty="0">
                <a:solidFill>
                  <a:srgbClr val="C2410C"/>
                </a:solidFill>
                <a:latin typeface="Cambria" pitchFamily="34" charset="0"/>
                <a:ea typeface="Cambria" pitchFamily="34" charset="-122"/>
                <a:cs typeface="Cambria" pitchFamily="34" charset="-120"/>
              </a:rPr>
              <a:t>Newspaper, then average.</a:t>
            </a:r>
            <a:endParaRPr lang="en-US" sz="2200" dirty="0"/>
          </a:p>
        </p:txBody>
      </p:sp>
      <p:sp>
        <p:nvSpPr>
          <p:cNvPr id="13" name="Text 9"/>
          <p:cNvSpPr txBox="1"/>
          <p:nvPr/>
        </p:nvSpPr>
        <p:spPr>
          <a:xfrm>
            <a:off x="4590288" y="4206240"/>
            <a:ext cx="3017520" cy="914400"/>
          </a:xfrm>
          <a:prstGeom prst="rect">
            <a:avLst/>
          </a:prstGeom>
          <a:noFill/>
          <a:ln/>
        </p:spPr>
        <p:txBody>
          <a:bodyPr wrap="square" lIns="0" tIns="0" rIns="0" bIns="0" rtlCol="0" anchor="t"/>
          <a:lstStyle/>
          <a:p>
            <a:pPr algn="ctr" indent="0" marL="0">
              <a:buNone/>
            </a:pPr>
            <a:r>
              <a:rPr lang="en-US" sz="1300" dirty="0">
                <a:solidFill>
                  <a:srgbClr val="374151"/>
                </a:solidFill>
              </a:rPr>
              <a:t>2,500× less text than from scratch, and the forgetting cancels out.</a:t>
            </a:r>
            <a:endParaRPr lang="en-US" sz="1300" dirty="0"/>
          </a:p>
        </p:txBody>
      </p:sp>
      <p:sp>
        <p:nvSpPr>
          <p:cNvPr id="14" name="Shape 10"/>
          <p:cNvSpPr/>
          <p:nvPr/>
        </p:nvSpPr>
        <p:spPr>
          <a:xfrm>
            <a:off x="8074152" y="2148840"/>
            <a:ext cx="3474720" cy="3108960"/>
          </a:xfrm>
          <a:prstGeom prst="roundRect">
            <a:avLst>
              <a:gd name="adj" fmla="val 3529"/>
            </a:avLst>
          </a:prstGeom>
          <a:solidFill>
            <a:srgbClr val="F9FAFB"/>
          </a:solidFill>
          <a:ln w="12700">
            <a:solidFill>
              <a:srgbClr val="E5E7EB"/>
            </a:solidFill>
            <a:prstDash val="solid"/>
          </a:ln>
        </p:spPr>
      </p:sp>
      <p:pic>
        <p:nvPicPr>
          <p:cNvPr id="15" name="Image 2" descr="preencoded.png">    </p:cNvPr>
          <p:cNvPicPr>
            <a:picLocks noChangeAspect="1"/>
          </p:cNvPicPr>
          <p:nvPr/>
        </p:nvPicPr>
        <p:blipFill>
          <a:blip r:embed="rId3"/>
          <a:stretch>
            <a:fillRect/>
          </a:stretch>
        </p:blipFill>
        <p:spPr>
          <a:xfrm>
            <a:off x="9491472" y="2331720"/>
            <a:ext cx="640080" cy="640080"/>
          </a:xfrm>
          <a:prstGeom prst="rect">
            <a:avLst/>
          </a:prstGeom>
        </p:spPr>
      </p:pic>
      <p:sp>
        <p:nvSpPr>
          <p:cNvPr id="16" name="Text 11"/>
          <p:cNvSpPr txBox="1"/>
          <p:nvPr/>
        </p:nvSpPr>
        <p:spPr>
          <a:xfrm>
            <a:off x="8257032" y="3063240"/>
            <a:ext cx="3108960" cy="274320"/>
          </a:xfrm>
          <a:prstGeom prst="rect">
            <a:avLst/>
          </a:prstGeom>
          <a:noFill/>
          <a:ln/>
        </p:spPr>
        <p:txBody>
          <a:bodyPr wrap="square" lIns="0" tIns="0" rIns="0" bIns="0" rtlCol="0" anchor="ctr"/>
          <a:lstStyle/>
          <a:p>
            <a:pPr algn="ctr" indent="0" marL="0">
              <a:buNone/>
            </a:pPr>
            <a:r>
              <a:rPr lang="en-US" sz="1050" b="1" spc="200" kern="0" dirty="0">
                <a:solidFill>
                  <a:srgbClr val="6B7280"/>
                </a:solidFill>
              </a:rPr>
              <a:t>EVERY LANGUAGE</a:t>
            </a:r>
            <a:endParaRPr lang="en-US" sz="1050" dirty="0"/>
          </a:p>
        </p:txBody>
      </p:sp>
      <p:sp>
        <p:nvSpPr>
          <p:cNvPr id="17" name="Text 12"/>
          <p:cNvSpPr txBox="1"/>
          <p:nvPr/>
        </p:nvSpPr>
        <p:spPr>
          <a:xfrm>
            <a:off x="8257032" y="3383280"/>
            <a:ext cx="3108960" cy="822960"/>
          </a:xfrm>
          <a:prstGeom prst="rect">
            <a:avLst/>
          </a:prstGeom>
          <a:noFill/>
          <a:ln/>
        </p:spPr>
        <p:txBody>
          <a:bodyPr wrap="square" lIns="0" tIns="0" rIns="0" bIns="0" rtlCol="0" anchor="t"/>
          <a:lstStyle/>
          <a:p>
            <a:pPr algn="ctr" indent="0" marL="0">
              <a:buNone/>
            </a:pPr>
            <a:r>
              <a:rPr lang="en-US" sz="2200" b="1" dirty="0">
                <a:solidFill>
                  <a:srgbClr val="C2410C"/>
                </a:solidFill>
                <a:latin typeface="Cambria" pitchFamily="34" charset="0"/>
                <a:ea typeface="Cambria" pitchFamily="34" charset="-122"/>
                <a:cs typeface="Cambria" pitchFamily="34" charset="-120"/>
              </a:rPr>
              <a:t>Train once, mostly.</a:t>
            </a:r>
            <a:endParaRPr lang="en-US" sz="2200" dirty="0"/>
          </a:p>
        </p:txBody>
      </p:sp>
      <p:sp>
        <p:nvSpPr>
          <p:cNvPr id="18" name="Text 13"/>
          <p:cNvSpPr txBox="1"/>
          <p:nvPr/>
        </p:nvSpPr>
        <p:spPr>
          <a:xfrm>
            <a:off x="8302752" y="4206240"/>
            <a:ext cx="3017520" cy="914400"/>
          </a:xfrm>
          <a:prstGeom prst="rect">
            <a:avLst/>
          </a:prstGeom>
          <a:noFill/>
          <a:ln/>
        </p:spPr>
        <p:txBody>
          <a:bodyPr wrap="square" lIns="0" tIns="0" rIns="0" bIns="0" rtlCol="0" anchor="t"/>
          <a:lstStyle/>
          <a:p>
            <a:pPr algn="ctr" indent="0" marL="0">
              <a:buNone/>
            </a:pPr>
            <a:r>
              <a:rPr lang="en-US" sz="1300" dirty="0">
                <a:solidFill>
                  <a:srgbClr val="374151"/>
                </a:solidFill>
              </a:rPr>
              <a:t>~70% of what it learns carries over. Test in every language.</a:t>
            </a:r>
            <a:endParaRPr lang="en-US" sz="1300" dirty="0"/>
          </a:p>
        </p:txBody>
      </p:sp>
      <p:sp>
        <p:nvSpPr>
          <p:cNvPr id="19" name="Text 0"/>
          <p:cNvSpPr/>
          <p:nvPr>
            <p:ph idx="102" type="body" hasCustomPrompt="1"/>
          </p:nvPr>
        </p:nvSpPr>
        <p:spPr>
          <a:xfrm>
            <a:off x="640080" y="5989320"/>
            <a:ext cx="10908792" cy="548640"/>
          </a:xfrm>
          <a:prstGeom prst="rect">
            <a:avLst/>
          </a:prstGeom>
          <a:noFill/>
          <a:ln/>
        </p:spPr>
        <p:txBody>
          <a:bodyPr wrap="square" lIns="0" tIns="0" rIns="0" bIns="0" rtlCol="0" anchor="ctr"/>
          <a:lstStyle/>
          <a:p>
            <a:pPr indent="0" marL="0">
              <a:buNone/>
            </a:pPr>
            <a:r>
              <a:rPr lang="en-US" sz="1800" b="1" dirty="0">
                <a:solidFill>
                  <a:schemeClr val="tx1"/>
                </a:solidFill>
              </a:rPr>
              <a:t>Knowledge has an address and a direction. </a:t>
            </a:r>
            <a:pPr indent="0" marL="0">
              <a:buNone/>
            </a:pPr>
            <a:r>
              <a:rPr lang="en-US" sz="1800" b="1" i="1" dirty="0">
                <a:solidFill>
                  <a:srgbClr val="6B7280"/>
                </a:solidFill>
              </a:rPr>
              <a:t>Next: find the direction without training at all.</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CA3AF"/>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640080" y="1828800"/>
            <a:ext cx="10908792" cy="1463040"/>
          </a:xfrm>
          <a:prstGeom prst="rect">
            <a:avLst/>
          </a:prstGeom>
          <a:noFill/>
          <a:ln/>
        </p:spPr>
        <p:txBody>
          <a:bodyPr wrap="square" lIns="0" tIns="0" rIns="0" bIns="0" rtlCol="0" anchor="t"/>
          <a:lstStyle/>
          <a:p>
            <a:pPr algn="l" indent="0" marL="0">
              <a:buNone/>
            </a:pPr>
            <a:r>
              <a:rPr lang="en-US" sz="6600" b="1" dirty="0">
                <a:solidFill>
                  <a:schemeClr val="tx1"/>
                </a:solidFill>
              </a:rPr>
              <a:t>Thank you </a:t>
            </a:r>
            <a:pPr algn="l" indent="0" marL="0">
              <a:buNone/>
            </a:pPr>
            <a:r>
              <a:rPr lang="en-US" sz="6600" b="1" i="1" dirty="0">
                <a:solidFill>
                  <a:srgbClr val="6B7280"/>
                </a:solidFill>
              </a:rPr>
              <a:t>for your attention.</a:t>
            </a:r>
            <a:endParaRPr lang="en-US" sz="6600" dirty="0"/>
          </a:p>
        </p:txBody>
      </p:sp>
      <p:sp>
        <p:nvSpPr>
          <p:cNvPr id="3" name="Text 0"/>
          <p:cNvSpPr/>
          <p:nvPr>
            <p:ph idx="102" type="body" hasCustomPrompt="1"/>
          </p:nvPr>
        </p:nvSpPr>
        <p:spPr>
          <a:xfrm>
            <a:off x="640080" y="3383280"/>
            <a:ext cx="10908792" cy="914400"/>
          </a:xfrm>
          <a:prstGeom prst="rect">
            <a:avLst/>
          </a:prstGeom>
          <a:noFill/>
          <a:ln/>
        </p:spPr>
        <p:txBody>
          <a:bodyPr wrap="square" lIns="0" tIns="0" rIns="0" bIns="0" rtlCol="0" anchor="t"/>
          <a:lstStyle/>
          <a:p>
            <a:pPr indent="0" marL="0">
              <a:buNone/>
            </a:pPr>
            <a:r>
              <a:rPr lang="en-US" sz="2800" dirty="0">
                <a:solidFill>
                  <a:schemeClr val="tx2"/>
                </a:solidFill>
              </a:rPr>
              <a:t>Questions?</a:t>
            </a:r>
            <a:endParaRPr lang="en-US" sz="2800" dirty="0"/>
          </a:p>
        </p:txBody>
      </p:sp>
      <p:sp>
        <p:nvSpPr>
          <p:cNvPr id="4" name="Shape 2"/>
          <p:cNvSpPr/>
          <p:nvPr/>
        </p:nvSpPr>
        <p:spPr>
          <a:xfrm>
            <a:off x="640080" y="4892040"/>
            <a:ext cx="10908792" cy="0"/>
          </a:xfrm>
          <a:prstGeom prst="line">
            <a:avLst/>
          </a:prstGeom>
          <a:noFill/>
          <a:ln w="12700">
            <a:solidFill>
              <a:srgbClr val="E5E7EB"/>
            </a:solidFill>
            <a:prstDash val="solid"/>
          </a:ln>
        </p:spPr>
      </p:sp>
      <p:sp>
        <p:nvSpPr>
          <p:cNvPr id="5" name="Text 3"/>
          <p:cNvSpPr txBox="1"/>
          <p:nvPr/>
        </p:nvSpPr>
        <p:spPr>
          <a:xfrm>
            <a:off x="640080" y="5074920"/>
            <a:ext cx="2377440" cy="365760"/>
          </a:xfrm>
          <a:prstGeom prst="rect">
            <a:avLst/>
          </a:prstGeom>
          <a:noFill/>
          <a:ln/>
        </p:spPr>
        <p:txBody>
          <a:bodyPr wrap="square" lIns="0" tIns="0" rIns="0" bIns="0" rtlCol="0" anchor="ctr"/>
          <a:lstStyle/>
          <a:p>
            <a:pPr indent="0" marL="0">
              <a:buNone/>
            </a:pPr>
            <a:r>
              <a:rPr lang="en-US" sz="1700" b="1" dirty="0">
                <a:solidFill>
                  <a:srgbClr val="111827"/>
                </a:solidFill>
              </a:rPr>
              <a:t>Nitin Sharma</a:t>
            </a:r>
            <a:endParaRPr lang="en-US" sz="1700" dirty="0"/>
          </a:p>
        </p:txBody>
      </p:sp>
      <p:sp>
        <p:nvSpPr>
          <p:cNvPr id="6" name="Text 4"/>
          <p:cNvSpPr txBox="1"/>
          <p:nvPr/>
        </p:nvSpPr>
        <p:spPr>
          <a:xfrm>
            <a:off x="640080" y="5440680"/>
            <a:ext cx="2377440" cy="731520"/>
          </a:xfrm>
          <a:prstGeom prst="rect">
            <a:avLst/>
          </a:prstGeom>
          <a:noFill/>
          <a:ln/>
        </p:spPr>
        <p:txBody>
          <a:bodyPr wrap="square" lIns="0" tIns="0" rIns="0" bIns="0" rtlCol="0" anchor="t"/>
          <a:lstStyle/>
          <a:p>
            <a:pPr indent="0" marL="0">
              <a:buNone/>
            </a:pPr>
            <a:r>
              <a:rPr lang="en-US" sz="1150" dirty="0">
                <a:solidFill>
                  <a:srgbClr val="6B7280"/>
                </a:solidFill>
              </a:rPr>
              <a:t>Research Assistant · UKT Tübingen</a:t>
            </a:r>
            <a:endParaRPr lang="en-US" sz="1150" dirty="0"/>
          </a:p>
          <a:p>
            <a:pPr indent="0" marL="0">
              <a:buNone/>
            </a:pPr>
            <a:r>
              <a:rPr lang="en-US" sz="1150" dirty="0">
                <a:solidFill>
                  <a:srgbClr val="6B7280"/>
                </a:solidFill>
              </a:rPr>
              <a:t>nitinsharma3150@gmail.com</a:t>
            </a:r>
            <a:endParaRPr lang="en-US" sz="1150" dirty="0"/>
          </a:p>
        </p:txBody>
      </p:sp>
      <p:sp>
        <p:nvSpPr>
          <p:cNvPr id="7" name="Text 5"/>
          <p:cNvSpPr txBox="1"/>
          <p:nvPr/>
        </p:nvSpPr>
        <p:spPr>
          <a:xfrm>
            <a:off x="3291840" y="5074920"/>
            <a:ext cx="3108960" cy="365760"/>
          </a:xfrm>
          <a:prstGeom prst="rect">
            <a:avLst/>
          </a:prstGeom>
          <a:noFill/>
          <a:ln/>
        </p:spPr>
        <p:txBody>
          <a:bodyPr wrap="square" lIns="0" tIns="0" rIns="0" bIns="0" rtlCol="0" anchor="ctr"/>
          <a:lstStyle/>
          <a:p>
            <a:pPr indent="0" marL="0">
              <a:buNone/>
            </a:pPr>
            <a:r>
              <a:rPr lang="en-US" sz="1500" b="1" dirty="0">
                <a:solidFill>
                  <a:srgbClr val="111827"/>
                </a:solidFill>
              </a:rPr>
              <a:t>Prof. Dr. Thomas Wolfers</a:t>
            </a:r>
            <a:endParaRPr lang="en-US" sz="1500" dirty="0"/>
          </a:p>
        </p:txBody>
      </p:sp>
      <p:sp>
        <p:nvSpPr>
          <p:cNvPr id="8" name="Text 6"/>
          <p:cNvSpPr txBox="1"/>
          <p:nvPr/>
        </p:nvSpPr>
        <p:spPr>
          <a:xfrm>
            <a:off x="3291840" y="5440680"/>
            <a:ext cx="3108960" cy="731520"/>
          </a:xfrm>
          <a:prstGeom prst="rect">
            <a:avLst/>
          </a:prstGeom>
          <a:noFill/>
          <a:ln/>
        </p:spPr>
        <p:txBody>
          <a:bodyPr wrap="square" lIns="0" tIns="0" rIns="0" bIns="0" rtlCol="0" anchor="t"/>
          <a:lstStyle/>
          <a:p>
            <a:pPr indent="0" marL="0">
              <a:buNone/>
            </a:pPr>
            <a:r>
              <a:rPr lang="en-US" sz="1150" dirty="0">
                <a:solidFill>
                  <a:srgbClr val="6B7280"/>
                </a:solidFill>
              </a:rPr>
              <a:t>Carl Zeiss Professor for AI in Neural Systems Imaging, FSU Jena</a:t>
            </a:r>
            <a:endParaRPr lang="en-US" sz="1150" dirty="0"/>
          </a:p>
        </p:txBody>
      </p:sp>
      <p:sp>
        <p:nvSpPr>
          <p:cNvPr id="9" name="Text 7"/>
          <p:cNvSpPr txBox="1"/>
          <p:nvPr/>
        </p:nvSpPr>
        <p:spPr>
          <a:xfrm>
            <a:off x="6675120" y="5074920"/>
            <a:ext cx="3108960" cy="365760"/>
          </a:xfrm>
          <a:prstGeom prst="rect">
            <a:avLst/>
          </a:prstGeom>
          <a:noFill/>
          <a:ln/>
        </p:spPr>
        <p:txBody>
          <a:bodyPr wrap="square" lIns="0" tIns="0" rIns="0" bIns="0" rtlCol="0" anchor="ctr"/>
          <a:lstStyle/>
          <a:p>
            <a:pPr indent="0" marL="0">
              <a:buNone/>
            </a:pPr>
            <a:r>
              <a:rPr lang="en-US" sz="1500" b="1" dirty="0">
                <a:solidFill>
                  <a:srgbClr val="111827"/>
                </a:solidFill>
              </a:rPr>
              <a:t>Dr. Çağatay Yıldız</a:t>
            </a:r>
            <a:endParaRPr lang="en-US" sz="1500" dirty="0"/>
          </a:p>
        </p:txBody>
      </p:sp>
      <p:sp>
        <p:nvSpPr>
          <p:cNvPr id="10" name="Text 8"/>
          <p:cNvSpPr txBox="1"/>
          <p:nvPr/>
        </p:nvSpPr>
        <p:spPr>
          <a:xfrm>
            <a:off x="6675120" y="5440680"/>
            <a:ext cx="3108960" cy="731520"/>
          </a:xfrm>
          <a:prstGeom prst="rect">
            <a:avLst/>
          </a:prstGeom>
          <a:noFill/>
          <a:ln/>
        </p:spPr>
        <p:txBody>
          <a:bodyPr wrap="square" lIns="0" tIns="0" rIns="0" bIns="0" rtlCol="0" anchor="t"/>
          <a:lstStyle/>
          <a:p>
            <a:pPr indent="0" marL="0">
              <a:buNone/>
            </a:pPr>
            <a:r>
              <a:rPr lang="en-US" sz="1150" dirty="0">
                <a:solidFill>
                  <a:srgbClr val="6B7280"/>
                </a:solidFill>
              </a:rPr>
              <a:t>Cluster of Excellence ML for Science, University of Tübingen</a:t>
            </a:r>
            <a:endParaRPr lang="en-US" sz="1150" dirty="0"/>
          </a:p>
        </p:txBody>
      </p:sp>
      <p:sp>
        <p:nvSpPr>
          <p:cNvPr id="11" name="Text 9"/>
          <p:cNvSpPr txBox="1"/>
          <p:nvPr/>
        </p:nvSpPr>
        <p:spPr>
          <a:xfrm>
            <a:off x="9692640" y="5074920"/>
            <a:ext cx="1828800" cy="365760"/>
          </a:xfrm>
          <a:prstGeom prst="rect">
            <a:avLst/>
          </a:prstGeom>
          <a:noFill/>
          <a:ln/>
        </p:spPr>
        <p:txBody>
          <a:bodyPr wrap="square" lIns="0" tIns="0" rIns="0" bIns="0" rtlCol="0" anchor="ctr"/>
          <a:lstStyle/>
          <a:p>
            <a:pPr algn="r" indent="0" marL="0">
              <a:buNone/>
            </a:pPr>
            <a:r>
              <a:rPr lang="en-US" sz="1500" b="1" dirty="0">
                <a:solidFill>
                  <a:srgbClr val="111827"/>
                </a:solidFill>
              </a:rPr>
              <a:t>MHM Lab</a:t>
            </a:r>
            <a:endParaRPr lang="en-US" sz="1500" dirty="0"/>
          </a:p>
        </p:txBody>
      </p:sp>
      <p:sp>
        <p:nvSpPr>
          <p:cNvPr id="12" name="Text 10"/>
          <p:cNvSpPr txBox="1"/>
          <p:nvPr/>
        </p:nvSpPr>
        <p:spPr>
          <a:xfrm>
            <a:off x="9144000" y="5440680"/>
            <a:ext cx="2377440" cy="365760"/>
          </a:xfrm>
          <a:prstGeom prst="rect">
            <a:avLst/>
          </a:prstGeom>
          <a:noFill/>
          <a:ln/>
        </p:spPr>
        <p:txBody>
          <a:bodyPr wrap="square" lIns="0" tIns="0" rIns="0" bIns="0" rtlCol="0" anchor="ctr"/>
          <a:lstStyle/>
          <a:p>
            <a:pPr algn="r" indent="0" marL="0">
              <a:buNone/>
            </a:pPr>
            <a:r>
              <a:rPr lang="en-US" sz="1150" dirty="0">
                <a:solidFill>
                  <a:srgbClr val="6B7280"/>
                </a:solidFill>
              </a:rPr>
              <a:t>Mental Health Mapping</a:t>
            </a:r>
            <a:endParaRPr lang="en-US" sz="1150" dirty="0"/>
          </a:p>
        </p:txBody>
      </p:sp>
      <p:sp>
        <p:nvSpPr>
          <p:cNvPr id="14" name="Text 0"/>
          <p:cNvSpPr/>
          <p:nvPr>
            <p:ph idx="100" type="body" hasCustomPrompt="1"/>
          </p:nvPr>
        </p:nvSpPr>
        <p:spPr>
          <a:xfrm>
            <a:off x="640080" y="1463040"/>
            <a:ext cx="10908792" cy="320040"/>
          </a:xfrm>
          <a:prstGeom prst="rect">
            <a:avLst/>
          </a:prstGeom>
          <a:noFill/>
          <a:ln/>
        </p:spPr>
        <p:txBody>
          <a:bodyPr wrap="square" lIns="0" tIns="0" rIns="0" bIns="0" rtlCol="0"/>
          <a:lstStyle/>
          <a:p>
            <a:pPr indent="0" marL="0">
              <a:buNone/>
            </a:pPr>
            <a:endParaRPr lang="en-US" sz="1200" dirty="0"/>
          </a:p>
        </p:txBody>
      </p:sp>
    </p:spTree>
  </p:cSld>
  <p:clrMapOvr>
    <a:masterClrMapping/>
  </p:clrMapOvr>
</p:sld>
</file>

<file path=ppt/theme/theme1.xml><?xml version="1.0" encoding="utf-8"?>
<a:theme xmlns:a="http://schemas.openxmlformats.org/drawingml/2006/main" name="Retrain or teach">
  <a:themeElements>
    <a:clrScheme name="Retrain or teach">
      <a:dk1>
        <a:srgbClr val="111827"/>
      </a:dk1>
      <a:lt1>
        <a:srgbClr val="FFFFFF"/>
      </a:lt1>
      <a:dk2>
        <a:srgbClr val="374151"/>
      </a:dk2>
      <a:lt2>
        <a:srgbClr val="F9FAFB"/>
      </a:lt2>
      <a:accent1>
        <a:srgbClr val="C2410C"/>
      </a:accent1>
      <a:accent2>
        <a:srgbClr val="2563EB"/>
      </a:accent2>
      <a:accent3>
        <a:srgbClr val="D97706"/>
      </a:accent3>
      <a:accent4>
        <a:srgbClr val="7C3AED"/>
      </a:accent4>
      <a:accent5>
        <a:srgbClr val="9CA3AF"/>
      </a:accent5>
      <a:accent6>
        <a:srgbClr val="166534"/>
      </a:accent6>
      <a:hlink>
        <a:srgbClr val="2563EB"/>
      </a:hlink>
      <a:folHlink>
        <a:srgbClr val="7C3AED"/>
      </a:folHlink>
    </a:clrScheme>
    <a:fontScheme name="Retrain or teach">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Retrain or teach? How AI learns after it's built. Does the language matter?</dc:title>
  <dc:subject>PptxGenJS Presentation</dc:subject>
  <dc:creator>Nitin Sharma</dc:creator>
  <cp:lastModifiedBy>Nitin Sharma</cp:lastModifiedBy>
  <cp:revision>1</cp:revision>
  <dcterms:created xsi:type="dcterms:W3CDTF">2026-10-22T20:01:08Z</dcterms:created>
  <dcterms:modified xsi:type="dcterms:W3CDTF">2026-10-22T20:01:08Z</dcterms:modified>
</cp:coreProperties>
</file>