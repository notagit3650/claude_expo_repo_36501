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It already knows more than it says" id="{6e0d703e-c2cf-01b8-cb05-7ab8dc35ccc6}">
          <p14:sldIdLst>
            <p14:sldId id="256"/>
            <p14:sldId id="257"/>
            <p14:sldId id="258"/>
            <p14:sldId id="259"/>
            <p14:sldId id="260"/>
          </p14:sldIdLst>
        </p14:section>
        <p14:section name="Part 2: It needs knowledge it never had" id="{da8542b0-9e2d-f6d6-a841-609692f5f24f}">
          <p14:sldIdLst>
            <p14:sldId id="261"/>
            <p14:sldId id="262"/>
            <p14:sldId id="263"/>
            <p14:sldId id="264"/>
            <p14:sldId id="265"/>
          </p14:sldIdLst>
        </p14:section>
        <p14:section name="Train separately, average, and why it works" id="{4c545d9e-82b1-0cea-13e3-9eb080c2bc2c}">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for today: when an AI needs to know something new, do we retrain it, or can we teach it? And a second one I spent this year on: does it matter which language it learns in? Very high level, almost no numbers, and I'll leave you with a question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Goal: keep an AI useful after it's built, without rebuilding it. Way one: the model already has the knowledge, it just doesn't come out, three questions. Way two: it never read it, yesterday's news, so it has to learn, six questions, and this is where language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well a model answers a fact depends on how often it has seen it. The curve rises steeply with repetition, but even a fact seen once leaves a small, real trace. For rare facts the information is in there, weakly, and it gets drowned out by higher-level computation on the way to the output. If the knowledge is already there, we don't need training. We need to help it out. (Bar heights sketch the log-linear trend; exact numbers in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inside one layer, each dot is a sentence, and medical sentences sit in their own cluster. Compute the direction from everything-else to medical, once. At inference, add that vector to the activations at one layer. One addition per forward pass, no training, nothing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add the vector matters. Nudging the MLP layers improves factual recall by 45%, more than double the residual stream where everyone usually steers. It flips for behaviour: for tone, attention wins. So facts live in the MLPs. But steering can only surface what the model has already read. It cannot tell the model who won an election last year. For that,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the knowledge genuinely isn't in there: everything after the cutoff. Retraining from scratch is trillions of tokens and millions of dollars. The alternative is continued pretraining on about six billion tokens of fresh news. In NewsCPT, news beat random web text by two to four times on every model and quiz. So it works. What happens inside when we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model, no chain-of-thought. It reads the news in English only. I ask about the same event in German or French. Does it keep the answer? We updated models on English, German or French news, then asked the exact same facts, about fifteen thousand, translated, in all three languages. Who thinks it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mostly. About 70% of the accuracy gain survives when you ask in another language, between 57 and 88% depending on direction. French to English travels better than English to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mentioned a few times gain about two points; facts mentioned 200 or more times gain 10 to 14 points in the training language and 8 to 11 in the others. Each model learns its own newspaper's events best: what it read matters about twice as much as which language you ask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facts from before 2023: kept, slightly up. General skills on twenty tests in three languages: they slip. French-only loses 1.2, German 1.3, English 0.5. Test the French model only in French and it looks fine. Catastrophic forgetting in a new disguise, and the multilingual lens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fix: mix all three newspapers. A balanced mix learns more facts than any single language, plus 5 points, and loses only 0.3. But can we do better, without training anything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three single-language models and average their weights: add the numbers, divide by three. No training. Model soups, Wortsman et al. 2022. As many new facts as the mixture, plus 5.1, and zero skill loss. It beats every single-language model on both axes. Language-specific updates can be trained separately and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Each language update moves the model in a different direction; similarity only about 0.15. Averaging cancels most of each language-specific part and keeps what all three share: about 65% as far from base as a single update. Keep only the MLP changes and 92 to 100% of the new facts survive, the same place steering found. Running now: is averaging a shorter, safer step or a better direction? And can we walk further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in one picture. Right means more new facts learned; up means general skills kept. Each single-language update learns but forgets. The mixture learns the most and forgets less. The average of the three single-language models, no extra training, sits top right: as many facts as the mixture and nothing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answers. Retrain or teach? Teach. If it already knows it, steer it. If it never read it, let it read, then average. Does the language matter? Less than you'd think. And the question I'm chasing: if new knowledge is a direction we can add, average and steer, do we ever need to retrain from scratch?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640080" y="5989320"/>
            <a:ext cx="10908792" cy="548640"/>
          </a:xfrm>
          <a:prstGeom prst="rect">
            <a:avLst/>
          </a:prstGeom>
          <a:noFill/>
          <a:ln/>
        </p:spPr>
        <p:txBody>
          <a:bodyPr wrap="square" rtlCol="0"/>
          <a:lstStyle>
            <a:lvl1pPr indent="0" marL="0">
              <a:buNone/>
              <a:defRPr lang="en-US" sz="1800" b="1"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rtlCol="0"/>
          <a:lstStyle>
            <a:lvl1pPr indent="0" marL="0">
              <a:buNone/>
              <a:defRPr lang="en-US" sz="2800" dirty="0">
                <a:solidFill>
                  <a:schemeClr val="tx2"/>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MHM LAB MEETING</a:t>
            </a: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lIns="0" tIns="0" rIns="0" bIns="0" rtlCol="0" anchor="t"/>
          <a:lstStyle/>
          <a:p>
            <a:pPr algn="l" indent="0" marL="0">
              <a:buNone/>
            </a:pPr>
            <a:r>
              <a:rPr lang="en-US" sz="6600" b="1" dirty="0">
                <a:solidFill>
                  <a:schemeClr val="tx1"/>
                </a:solidFill>
              </a:rPr>
              <a:t>Retrain or teach?</a:t>
            </a: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lIns="0" tIns="0" rIns="0" bIns="0" rtlCol="0" anchor="t"/>
          <a:lstStyle/>
          <a:p>
            <a:pPr indent="0" marL="0">
              <a:buNone/>
            </a:pPr>
            <a:r>
              <a:rPr lang="en-US" sz="2800" dirty="0">
                <a:solidFill>
                  <a:schemeClr val="tx2"/>
                </a:solidFill>
              </a:rPr>
              <a:t>How AI learns after it's built. </a:t>
            </a:r>
            <a:pPr indent="0" marL="0">
              <a:buNone/>
            </a:pPr>
            <a:r>
              <a:rPr lang="en-US" sz="2800" i="1" dirty="0">
                <a:solidFill>
                  <a:srgbClr val="6B7280"/>
                </a:solidFill>
              </a:rPr>
              <a:t>Does the language matter?</a:t>
            </a:r>
            <a:endParaRPr lang="en-US" sz="2800" dirty="0"/>
          </a:p>
        </p:txBody>
      </p:sp>
      <p:sp>
        <p:nvSpPr>
          <p:cNvPr id="5" name="Shape 3"/>
          <p:cNvSpPr/>
          <p:nvPr/>
        </p:nvSpPr>
        <p:spPr>
          <a:xfrm>
            <a:off x="640080" y="4892040"/>
            <a:ext cx="10908792" cy="0"/>
          </a:xfrm>
          <a:prstGeom prst="line">
            <a:avLst/>
          </a:prstGeom>
          <a:noFill/>
          <a:ln w="12700">
            <a:solidFill>
              <a:srgbClr val="E5E7EB"/>
            </a:solidFill>
            <a:prstDash val="solid"/>
          </a:ln>
        </p:spPr>
      </p:sp>
      <p:sp>
        <p:nvSpPr>
          <p:cNvPr id="6" name="Text 4"/>
          <p:cNvSpPr txBox="1"/>
          <p:nvPr/>
        </p:nvSpPr>
        <p:spPr>
          <a:xfrm>
            <a:off x="640080" y="5074920"/>
            <a:ext cx="2377440" cy="365760"/>
          </a:xfrm>
          <a:prstGeom prst="rect">
            <a:avLst/>
          </a:prstGeom>
          <a:noFill/>
          <a:ln/>
        </p:spPr>
        <p:txBody>
          <a:bodyPr wrap="square" lIns="0" tIns="0" rIns="0" bIns="0" rtlCol="0" anchor="ctr"/>
          <a:lstStyle/>
          <a:p>
            <a:pPr indent="0" marL="0">
              <a:buNone/>
            </a:pPr>
            <a:r>
              <a:rPr lang="en-US" sz="1700" b="1" dirty="0">
                <a:solidFill>
                  <a:srgbClr val="111827"/>
                </a:solidFill>
              </a:rPr>
              <a:t>Nitin Sharma</a:t>
            </a:r>
            <a:endParaRPr lang="en-US" sz="1700" dirty="0"/>
          </a:p>
        </p:txBody>
      </p:sp>
      <p:sp>
        <p:nvSpPr>
          <p:cNvPr id="7" name="Text 5"/>
          <p:cNvSpPr txBox="1"/>
          <p:nvPr/>
        </p:nvSpPr>
        <p:spPr>
          <a:xfrm>
            <a:off x="640080" y="5440680"/>
            <a:ext cx="2377440" cy="731520"/>
          </a:xfrm>
          <a:prstGeom prst="rect">
            <a:avLst/>
          </a:prstGeom>
          <a:noFill/>
          <a:ln/>
        </p:spPr>
        <p:txBody>
          <a:bodyPr wrap="square" lIns="0" tIns="0" rIns="0" bIns="0" rtlCol="0" anchor="t"/>
          <a:lstStyle/>
          <a:p>
            <a:pPr indent="0" marL="0">
              <a:buNone/>
            </a:pPr>
            <a:r>
              <a:rPr lang="en-US" sz="1150" dirty="0">
                <a:solidFill>
                  <a:srgbClr val="6B7280"/>
                </a:solidFill>
              </a:rPr>
              <a:t>Research Assistant</a:t>
            </a:r>
            <a:endParaRPr lang="en-US" sz="1150" dirty="0"/>
          </a:p>
          <a:p>
            <a:pPr indent="0" marL="0">
              <a:buNone/>
            </a:pPr>
            <a:r>
              <a:rPr lang="en-US" sz="1150" dirty="0">
                <a:solidFill>
                  <a:srgbClr val="6B7280"/>
                </a:solidFill>
              </a:rPr>
              <a:t>UKT Tübingen</a:t>
            </a:r>
            <a:endParaRPr lang="en-US" sz="1150" dirty="0"/>
          </a:p>
        </p:txBody>
      </p:sp>
      <p:sp>
        <p:nvSpPr>
          <p:cNvPr id="8" name="Text 6"/>
          <p:cNvSpPr txBox="1"/>
          <p:nvPr/>
        </p:nvSpPr>
        <p:spPr>
          <a:xfrm>
            <a:off x="329184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Prof. Dr. Thomas Wolfers</a:t>
            </a:r>
            <a:endParaRPr lang="en-US" sz="1500" dirty="0"/>
          </a:p>
        </p:txBody>
      </p:sp>
      <p:sp>
        <p:nvSpPr>
          <p:cNvPr id="9" name="Text 7"/>
          <p:cNvSpPr txBox="1"/>
          <p:nvPr/>
        </p:nvSpPr>
        <p:spPr>
          <a:xfrm>
            <a:off x="329184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Carl Zeiss Professor for AI in Neural Systems Imaging, FSU Jena</a:t>
            </a:r>
            <a:endParaRPr lang="en-US" sz="1150" dirty="0"/>
          </a:p>
        </p:txBody>
      </p:sp>
      <p:sp>
        <p:nvSpPr>
          <p:cNvPr id="10" name="Text 8"/>
          <p:cNvSpPr txBox="1"/>
          <p:nvPr/>
        </p:nvSpPr>
        <p:spPr>
          <a:xfrm>
            <a:off x="667512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Dr. Çağatay Yıldız</a:t>
            </a:r>
            <a:endParaRPr lang="en-US" sz="1500" dirty="0"/>
          </a:p>
        </p:txBody>
      </p:sp>
      <p:sp>
        <p:nvSpPr>
          <p:cNvPr id="11" name="Text 9"/>
          <p:cNvSpPr txBox="1"/>
          <p:nvPr/>
        </p:nvSpPr>
        <p:spPr>
          <a:xfrm>
            <a:off x="667512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Cluster of Excellence ML for Science, University of Tübingen</a:t>
            </a:r>
            <a:endParaRPr lang="en-US" sz="1150" dirty="0"/>
          </a:p>
        </p:txBody>
      </p:sp>
      <p:sp>
        <p:nvSpPr>
          <p:cNvPr id="12" name="Text 10"/>
          <p:cNvSpPr txBox="1"/>
          <p:nvPr/>
        </p:nvSpPr>
        <p:spPr>
          <a:xfrm>
            <a:off x="9692640" y="5074920"/>
            <a:ext cx="1828800" cy="365760"/>
          </a:xfrm>
          <a:prstGeom prst="rect">
            <a:avLst/>
          </a:prstGeom>
          <a:noFill/>
          <a:ln/>
        </p:spPr>
        <p:txBody>
          <a:bodyPr wrap="square" lIns="0" tIns="0" rIns="0" bIns="0" rtlCol="0" anchor="ctr"/>
          <a:lstStyle/>
          <a:p>
            <a:pPr algn="r" indent="0" marL="0">
              <a:buNone/>
            </a:pPr>
            <a:r>
              <a:rPr lang="en-US" sz="1500" b="1" dirty="0">
                <a:solidFill>
                  <a:srgbClr val="111827"/>
                </a:solidFill>
              </a:rPr>
              <a:t>MHM Lab</a:t>
            </a:r>
            <a:endParaRPr lang="en-US" sz="1500" dirty="0"/>
          </a:p>
        </p:txBody>
      </p:sp>
      <p:sp>
        <p:nvSpPr>
          <p:cNvPr id="13" name="Text 11"/>
          <p:cNvSpPr txBox="1"/>
          <p:nvPr/>
        </p:nvSpPr>
        <p:spPr>
          <a:xfrm>
            <a:off x="9144000" y="5440680"/>
            <a:ext cx="2377440" cy="365760"/>
          </a:xfrm>
          <a:prstGeom prst="rect">
            <a:avLst/>
          </a:prstGeom>
          <a:noFill/>
          <a:ln/>
        </p:spPr>
        <p:txBody>
          <a:bodyPr wrap="square" lIns="0" tIns="0" rIns="0" bIns="0" rtlCol="0" anchor="ctr"/>
          <a:lstStyle/>
          <a:p>
            <a:pPr algn="r" indent="0" marL="0">
              <a:buNone/>
            </a:pPr>
            <a:r>
              <a:rPr lang="en-US" sz="1150" dirty="0">
                <a:solidFill>
                  <a:srgbClr val="6B7280"/>
                </a:solidFill>
              </a:rPr>
              <a:t>Mental Health Mapping</a:t>
            </a:r>
            <a:endParaRPr lang="en-US" sz="115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GOAL</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Keep an AI useful after it's built. </a:t>
            </a:r>
            <a:pPr algn="l" indent="0" marL="0">
              <a:buNone/>
            </a:pPr>
            <a:r>
              <a:rPr lang="en-US" sz="3200" b="1" i="1" dirty="0">
                <a:solidFill>
                  <a:srgbClr val="6B7280"/>
                </a:solidFill>
              </a:rPr>
              <a:t>Without rebuilding it.</a:t>
            </a:r>
            <a:endParaRPr lang="en-US" sz="3200" dirty="0"/>
          </a:p>
        </p:txBody>
      </p:sp>
      <p:sp>
        <p:nvSpPr>
          <p:cNvPr id="4" name="Shape 2"/>
          <p:cNvSpPr/>
          <p:nvPr/>
        </p:nvSpPr>
        <p:spPr>
          <a:xfrm>
            <a:off x="640080" y="2194560"/>
            <a:ext cx="5257800" cy="3611880"/>
          </a:xfrm>
          <a:prstGeom prst="roundRect">
            <a:avLst>
              <a:gd name="adj" fmla="val 3038"/>
            </a:avLst>
          </a:prstGeom>
          <a:solidFill>
            <a:srgbClr val="F9FAFB"/>
          </a:solidFill>
          <a:ln w="12700">
            <a:solidFill>
              <a:srgbClr val="E5E7EB"/>
            </a:solidFill>
            <a:prstDash val="solid"/>
          </a:ln>
        </p:spPr>
      </p:sp>
      <p:sp>
        <p:nvSpPr>
          <p:cNvPr id="5" name="Text 3"/>
          <p:cNvSpPr txBox="1"/>
          <p:nvPr/>
        </p:nvSpPr>
        <p:spPr>
          <a:xfrm>
            <a:off x="64008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1</a:t>
            </a:r>
            <a:endParaRPr lang="en-US" sz="1200" dirty="0"/>
          </a:p>
        </p:txBody>
      </p:sp>
      <p:pic>
        <p:nvPicPr>
          <p:cNvPr id="6" name="Image 0" descr="preencoded.png">    </p:cNvPr>
          <p:cNvPicPr>
            <a:picLocks noChangeAspect="1"/>
          </p:cNvPicPr>
          <p:nvPr/>
        </p:nvPicPr>
        <p:blipFill>
          <a:blip r:embed="rId1"/>
          <a:stretch>
            <a:fillRect/>
          </a:stretch>
        </p:blipFill>
        <p:spPr>
          <a:xfrm>
            <a:off x="2720340" y="2926080"/>
            <a:ext cx="1097280" cy="1097280"/>
          </a:xfrm>
          <a:prstGeom prst="rect">
            <a:avLst/>
          </a:prstGeom>
        </p:spPr>
      </p:pic>
      <p:sp>
        <p:nvSpPr>
          <p:cNvPr id="7" name="Text 4"/>
          <p:cNvSpPr txBox="1"/>
          <p:nvPr/>
        </p:nvSpPr>
        <p:spPr>
          <a:xfrm>
            <a:off x="64008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already knows it</a:t>
            </a:r>
            <a:endParaRPr lang="en-US" sz="2600" dirty="0"/>
          </a:p>
        </p:txBody>
      </p:sp>
      <p:sp>
        <p:nvSpPr>
          <p:cNvPr id="8" name="Text 5"/>
          <p:cNvSpPr txBox="1"/>
          <p:nvPr/>
        </p:nvSpPr>
        <p:spPr>
          <a:xfrm>
            <a:off x="64008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3 questions</a:t>
            </a:r>
            <a:endParaRPr lang="en-US" sz="1600" dirty="0"/>
          </a:p>
        </p:txBody>
      </p:sp>
      <p:sp>
        <p:nvSpPr>
          <p:cNvPr id="9" name="Shape 6"/>
          <p:cNvSpPr/>
          <p:nvPr/>
        </p:nvSpPr>
        <p:spPr>
          <a:xfrm>
            <a:off x="6263640" y="2194560"/>
            <a:ext cx="5257800" cy="3611880"/>
          </a:xfrm>
          <a:prstGeom prst="roundRect">
            <a:avLst>
              <a:gd name="adj" fmla="val 3038"/>
            </a:avLst>
          </a:prstGeom>
          <a:solidFill>
            <a:srgbClr val="FFF7ED"/>
          </a:solidFill>
          <a:ln w="12700">
            <a:solidFill>
              <a:srgbClr val="FDBA74"/>
            </a:solidFill>
            <a:prstDash val="solid"/>
          </a:ln>
        </p:spPr>
      </p:sp>
      <p:sp>
        <p:nvSpPr>
          <p:cNvPr id="10" name="Text 7"/>
          <p:cNvSpPr txBox="1"/>
          <p:nvPr/>
        </p:nvSpPr>
        <p:spPr>
          <a:xfrm>
            <a:off x="626364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2</a:t>
            </a:r>
            <a:endParaRPr lang="en-US" sz="1200" dirty="0"/>
          </a:p>
        </p:txBody>
      </p:sp>
      <p:pic>
        <p:nvPicPr>
          <p:cNvPr id="11" name="Image 1" descr="preencoded.png">    </p:cNvPr>
          <p:cNvPicPr>
            <a:picLocks noChangeAspect="1"/>
          </p:cNvPicPr>
          <p:nvPr/>
        </p:nvPicPr>
        <p:blipFill>
          <a:blip r:embed="rId2"/>
          <a:stretch>
            <a:fillRect/>
          </a:stretch>
        </p:blipFill>
        <p:spPr>
          <a:xfrm>
            <a:off x="8343900" y="2926080"/>
            <a:ext cx="1097280" cy="1097280"/>
          </a:xfrm>
          <a:prstGeom prst="rect">
            <a:avLst/>
          </a:prstGeom>
        </p:spPr>
      </p:pic>
      <p:sp>
        <p:nvSpPr>
          <p:cNvPr id="12" name="Text 8"/>
          <p:cNvSpPr txBox="1"/>
          <p:nvPr/>
        </p:nvSpPr>
        <p:spPr>
          <a:xfrm>
            <a:off x="626364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never read it</a:t>
            </a:r>
            <a:endParaRPr lang="en-US" sz="2600" dirty="0"/>
          </a:p>
        </p:txBody>
      </p:sp>
      <p:sp>
        <p:nvSpPr>
          <p:cNvPr id="13" name="Text 9"/>
          <p:cNvSpPr txBox="1"/>
          <p:nvPr/>
        </p:nvSpPr>
        <p:spPr>
          <a:xfrm>
            <a:off x="626364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6 questions</a:t>
            </a:r>
            <a:endParaRPr lang="en-US" sz="1600" dirty="0"/>
          </a:p>
        </p:txBody>
      </p:sp>
      <p:sp>
        <p:nvSpPr>
          <p:cNvPr id="14"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Nine questions. </a:t>
            </a:r>
            <a:pPr indent="0" marL="0">
              <a:buNone/>
            </a:pPr>
            <a:r>
              <a:rPr lang="en-US" sz="1800" b="1" i="1" dirty="0">
                <a:solidFill>
                  <a:srgbClr val="6B7280"/>
                </a:solidFill>
              </a:rPr>
              <a:t>One answer at the end.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1</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Does the model know more than it says?</a:t>
            </a:r>
            <a:endParaRPr lang="en-US" sz="3200" dirty="0"/>
          </a:p>
        </p:txBody>
      </p:sp>
      <p:sp>
        <p:nvSpPr>
          <p:cNvPr id="4" name="Shape 2"/>
          <p:cNvSpPr/>
          <p:nvPr/>
        </p:nvSpPr>
        <p:spPr>
          <a:xfrm>
            <a:off x="822960" y="4937760"/>
            <a:ext cx="822960" cy="182880"/>
          </a:xfrm>
          <a:prstGeom prst="rect">
            <a:avLst/>
          </a:prstGeom>
          <a:solidFill>
            <a:srgbClr val="FDBA74"/>
          </a:solidFill>
          <a:ln w="12700">
            <a:solidFill>
              <a:srgbClr val="FDBA74"/>
            </a:solidFill>
            <a:prstDash val="solid"/>
          </a:ln>
        </p:spPr>
      </p:sp>
      <p:sp>
        <p:nvSpPr>
          <p:cNvPr id="5" name="Text 3"/>
          <p:cNvSpPr txBox="1"/>
          <p:nvPr/>
        </p:nvSpPr>
        <p:spPr>
          <a:xfrm>
            <a:off x="640080" y="45537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6" name="Text 4"/>
          <p:cNvSpPr txBox="1"/>
          <p:nvPr/>
        </p:nvSpPr>
        <p:spPr>
          <a:xfrm>
            <a:off x="73152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once</a:t>
            </a:r>
            <a:endParaRPr lang="en-US" sz="1300" dirty="0"/>
          </a:p>
        </p:txBody>
      </p:sp>
      <p:sp>
        <p:nvSpPr>
          <p:cNvPr id="7" name="Shape 5"/>
          <p:cNvSpPr/>
          <p:nvPr/>
        </p:nvSpPr>
        <p:spPr>
          <a:xfrm>
            <a:off x="1920240" y="4709160"/>
            <a:ext cx="822960" cy="411480"/>
          </a:xfrm>
          <a:prstGeom prst="rect">
            <a:avLst/>
          </a:prstGeom>
          <a:solidFill>
            <a:srgbClr val="FB923C"/>
          </a:solidFill>
          <a:ln w="12700">
            <a:solidFill>
              <a:srgbClr val="FB923C"/>
            </a:solidFill>
            <a:prstDash val="solid"/>
          </a:ln>
        </p:spPr>
      </p:sp>
      <p:sp>
        <p:nvSpPr>
          <p:cNvPr id="8" name="Text 6"/>
          <p:cNvSpPr txBox="1"/>
          <p:nvPr/>
        </p:nvSpPr>
        <p:spPr>
          <a:xfrm>
            <a:off x="1737360" y="43251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9" name="Text 7"/>
          <p:cNvSpPr txBox="1"/>
          <p:nvPr/>
        </p:nvSpPr>
        <p:spPr>
          <a:xfrm>
            <a:off x="182880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a few</a:t>
            </a:r>
            <a:endParaRPr lang="en-US" sz="1300" dirty="0"/>
          </a:p>
        </p:txBody>
      </p:sp>
      <p:sp>
        <p:nvSpPr>
          <p:cNvPr id="10" name="Shape 8"/>
          <p:cNvSpPr/>
          <p:nvPr/>
        </p:nvSpPr>
        <p:spPr>
          <a:xfrm>
            <a:off x="3017520" y="4114800"/>
            <a:ext cx="822960" cy="1005840"/>
          </a:xfrm>
          <a:prstGeom prst="rect">
            <a:avLst/>
          </a:prstGeom>
          <a:solidFill>
            <a:srgbClr val="F97316"/>
          </a:solidFill>
          <a:ln w="12700">
            <a:solidFill>
              <a:srgbClr val="F97316"/>
            </a:solidFill>
            <a:prstDash val="solid"/>
          </a:ln>
        </p:spPr>
      </p:sp>
      <p:sp>
        <p:nvSpPr>
          <p:cNvPr id="11" name="Text 9"/>
          <p:cNvSpPr txBox="1"/>
          <p:nvPr/>
        </p:nvSpPr>
        <p:spPr>
          <a:xfrm>
            <a:off x="2834640" y="373075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2" name="Text 10"/>
          <p:cNvSpPr txBox="1"/>
          <p:nvPr/>
        </p:nvSpPr>
        <p:spPr>
          <a:xfrm>
            <a:off x="292608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dozens</a:t>
            </a:r>
            <a:endParaRPr lang="en-US" sz="1300" dirty="0"/>
          </a:p>
        </p:txBody>
      </p:sp>
      <p:sp>
        <p:nvSpPr>
          <p:cNvPr id="13" name="Shape 11"/>
          <p:cNvSpPr/>
          <p:nvPr/>
        </p:nvSpPr>
        <p:spPr>
          <a:xfrm>
            <a:off x="4114800" y="3474720"/>
            <a:ext cx="822960" cy="1645920"/>
          </a:xfrm>
          <a:prstGeom prst="rect">
            <a:avLst/>
          </a:prstGeom>
          <a:solidFill>
            <a:srgbClr val="EA580C"/>
          </a:solidFill>
          <a:ln w="12700">
            <a:solidFill>
              <a:srgbClr val="EA580C"/>
            </a:solidFill>
            <a:prstDash val="solid"/>
          </a:ln>
        </p:spPr>
      </p:sp>
      <p:sp>
        <p:nvSpPr>
          <p:cNvPr id="14" name="Text 12"/>
          <p:cNvSpPr txBox="1"/>
          <p:nvPr/>
        </p:nvSpPr>
        <p:spPr>
          <a:xfrm>
            <a:off x="3931920" y="309067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5" name="Text 13"/>
          <p:cNvSpPr txBox="1"/>
          <p:nvPr/>
        </p:nvSpPr>
        <p:spPr>
          <a:xfrm>
            <a:off x="402336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~100</a:t>
            </a:r>
            <a:endParaRPr lang="en-US" sz="1300" dirty="0"/>
          </a:p>
        </p:txBody>
      </p:sp>
      <p:sp>
        <p:nvSpPr>
          <p:cNvPr id="16" name="Shape 14"/>
          <p:cNvSpPr/>
          <p:nvPr/>
        </p:nvSpPr>
        <p:spPr>
          <a:xfrm>
            <a:off x="5212080" y="2651760"/>
            <a:ext cx="822960" cy="2468880"/>
          </a:xfrm>
          <a:prstGeom prst="rect">
            <a:avLst/>
          </a:prstGeom>
          <a:solidFill>
            <a:srgbClr val="C2410C"/>
          </a:solidFill>
          <a:ln w="12700">
            <a:solidFill>
              <a:srgbClr val="C2410C"/>
            </a:solidFill>
            <a:prstDash val="solid"/>
          </a:ln>
        </p:spPr>
      </p:sp>
      <p:sp>
        <p:nvSpPr>
          <p:cNvPr id="17" name="Text 15"/>
          <p:cNvSpPr txBox="1"/>
          <p:nvPr/>
        </p:nvSpPr>
        <p:spPr>
          <a:xfrm>
            <a:off x="5029200" y="226771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8" name="Text 16"/>
          <p:cNvSpPr txBox="1"/>
          <p:nvPr/>
        </p:nvSpPr>
        <p:spPr>
          <a:xfrm>
            <a:off x="512064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200+</a:t>
            </a:r>
            <a:endParaRPr lang="en-US" sz="1300" dirty="0"/>
          </a:p>
        </p:txBody>
      </p:sp>
      <p:sp>
        <p:nvSpPr>
          <p:cNvPr id="19" name="Shape 17"/>
          <p:cNvSpPr/>
          <p:nvPr/>
        </p:nvSpPr>
        <p:spPr>
          <a:xfrm>
            <a:off x="731520" y="5120640"/>
            <a:ext cx="5486400" cy="0"/>
          </a:xfrm>
          <a:prstGeom prst="line">
            <a:avLst/>
          </a:prstGeom>
          <a:noFill/>
          <a:ln w="25400">
            <a:solidFill>
              <a:srgbClr val="111827"/>
            </a:solidFill>
            <a:prstDash val="solid"/>
          </a:ln>
        </p:spPr>
      </p:sp>
      <p:sp>
        <p:nvSpPr>
          <p:cNvPr id="20" name="Text 18"/>
          <p:cNvSpPr txBox="1"/>
          <p:nvPr/>
        </p:nvSpPr>
        <p:spPr>
          <a:xfrm>
            <a:off x="731520" y="5504688"/>
            <a:ext cx="5486400" cy="274320"/>
          </a:xfrm>
          <a:prstGeom prst="rect">
            <a:avLst/>
          </a:prstGeom>
          <a:noFill/>
          <a:ln/>
        </p:spPr>
        <p:txBody>
          <a:bodyPr wrap="square" lIns="0" tIns="0" rIns="0" bIns="0" rtlCol="0" anchor="ctr"/>
          <a:lstStyle/>
          <a:p>
            <a:pPr indent="0" marL="0">
              <a:buNone/>
            </a:pPr>
            <a:r>
              <a:rPr lang="en-US" sz="1200" dirty="0">
                <a:solidFill>
                  <a:srgbClr val="6B7280"/>
                </a:solidFill>
              </a:rPr>
              <a:t>how often the model has seen a fact → how well it answers</a:t>
            </a:r>
            <a:endParaRPr lang="en-US" sz="1200" dirty="0"/>
          </a:p>
        </p:txBody>
      </p:sp>
      <p:sp>
        <p:nvSpPr>
          <p:cNvPr id="21" name="Shape 19"/>
          <p:cNvSpPr/>
          <p:nvPr/>
        </p:nvSpPr>
        <p:spPr>
          <a:xfrm>
            <a:off x="6675120" y="2286000"/>
            <a:ext cx="4846320" cy="1188720"/>
          </a:xfrm>
          <a:prstGeom prst="roundRect">
            <a:avLst>
              <a:gd name="adj" fmla="val 9231"/>
            </a:avLst>
          </a:prstGeom>
          <a:solidFill>
            <a:srgbClr val="F9FAFB"/>
          </a:solidFill>
          <a:ln w="12700">
            <a:solidFill>
              <a:srgbClr val="E5E7EB"/>
            </a:solidFill>
            <a:prstDash val="solid"/>
          </a:ln>
        </p:spPr>
      </p:sp>
      <p:sp>
        <p:nvSpPr>
          <p:cNvPr id="22" name="Text 20"/>
          <p:cNvSpPr txBox="1"/>
          <p:nvPr/>
        </p:nvSpPr>
        <p:spPr>
          <a:xfrm>
            <a:off x="6903720" y="2377440"/>
            <a:ext cx="4480560" cy="457200"/>
          </a:xfrm>
          <a:prstGeom prst="rect">
            <a:avLst/>
          </a:prstGeom>
          <a:noFill/>
          <a:ln/>
        </p:spPr>
        <p:txBody>
          <a:bodyPr wrap="square" lIns="0" tIns="0" rIns="0" bIns="0" rtlCol="0" anchor="ctr"/>
          <a:lstStyle/>
          <a:p>
            <a:pPr indent="0" marL="0">
              <a:buNone/>
            </a:pPr>
            <a:r>
              <a:rPr lang="en-US" sz="1800" b="1" dirty="0">
                <a:solidFill>
                  <a:srgbClr val="111827"/>
                </a:solidFill>
              </a:rPr>
              <a:t>Even a fact seen once leaves a trace</a:t>
            </a:r>
            <a:endParaRPr lang="en-US" sz="1800" dirty="0"/>
          </a:p>
        </p:txBody>
      </p:sp>
      <p:sp>
        <p:nvSpPr>
          <p:cNvPr id="23" name="Text 21"/>
          <p:cNvSpPr txBox="1"/>
          <p:nvPr/>
        </p:nvSpPr>
        <p:spPr>
          <a:xfrm>
            <a:off x="6903720" y="2834640"/>
            <a:ext cx="4480560" cy="457200"/>
          </a:xfrm>
          <a:prstGeom prst="rect">
            <a:avLst/>
          </a:prstGeom>
          <a:noFill/>
          <a:ln/>
        </p:spPr>
        <p:txBody>
          <a:bodyPr wrap="square" lIns="0" tIns="0" rIns="0" bIns="0" rtlCol="0" anchor="ctr"/>
          <a:lstStyle/>
          <a:p>
            <a:pPr indent="0" marL="0">
              <a:buNone/>
            </a:pPr>
            <a:r>
              <a:rPr lang="en-US" sz="1500" dirty="0">
                <a:solidFill>
                  <a:srgbClr val="374151"/>
                </a:solidFill>
              </a:rPr>
              <a:t>the information is in there, weakly</a:t>
            </a:r>
            <a:endParaRPr lang="en-US" sz="1500" dirty="0"/>
          </a:p>
        </p:txBody>
      </p:sp>
      <p:sp>
        <p:nvSpPr>
          <p:cNvPr id="24" name="Shape 22"/>
          <p:cNvSpPr/>
          <p:nvPr/>
        </p:nvSpPr>
        <p:spPr>
          <a:xfrm>
            <a:off x="6675120" y="3749040"/>
            <a:ext cx="4846320" cy="1371600"/>
          </a:xfrm>
          <a:prstGeom prst="roundRect">
            <a:avLst>
              <a:gd name="adj" fmla="val 8000"/>
            </a:avLst>
          </a:prstGeom>
          <a:solidFill>
            <a:srgbClr val="F9FAFB"/>
          </a:solidFill>
          <a:ln w="12700">
            <a:solidFill>
              <a:srgbClr val="E5E7EB"/>
            </a:solidFill>
            <a:prstDash val="solid"/>
          </a:ln>
        </p:spPr>
      </p:sp>
      <p:sp>
        <p:nvSpPr>
          <p:cNvPr id="25" name="Text 23"/>
          <p:cNvSpPr txBox="1"/>
          <p:nvPr/>
        </p:nvSpPr>
        <p:spPr>
          <a:xfrm>
            <a:off x="6903720" y="3840480"/>
            <a:ext cx="4480560" cy="548640"/>
          </a:xfrm>
          <a:prstGeom prst="rect">
            <a:avLst/>
          </a:prstGeom>
          <a:noFill/>
          <a:ln/>
        </p:spPr>
        <p:txBody>
          <a:bodyPr wrap="square" lIns="0" tIns="0" rIns="0" bIns="0" rtlCol="0" anchor="ctr"/>
          <a:lstStyle/>
          <a:p>
            <a:pPr indent="0" marL="0">
              <a:buNone/>
            </a:pPr>
            <a:r>
              <a:rPr lang="en-US" sz="1800" b="1" dirty="0">
                <a:solidFill>
                  <a:srgbClr val="111827"/>
                </a:solidFill>
              </a:rPr>
              <a:t>But it gets drowned out on the way to the output</a:t>
            </a:r>
            <a:endParaRPr lang="en-US" sz="1800" dirty="0"/>
          </a:p>
        </p:txBody>
      </p:sp>
      <p:sp>
        <p:nvSpPr>
          <p:cNvPr id="26" name="Text 24"/>
          <p:cNvSpPr txBox="1"/>
          <p:nvPr/>
        </p:nvSpPr>
        <p:spPr>
          <a:xfrm>
            <a:off x="6903720" y="4434840"/>
            <a:ext cx="4480560" cy="548640"/>
          </a:xfrm>
          <a:prstGeom prst="rect">
            <a:avLst/>
          </a:prstGeom>
          <a:noFill/>
          <a:ln/>
        </p:spPr>
        <p:txBody>
          <a:bodyPr wrap="square" lIns="0" tIns="0" rIns="0" bIns="0" rtlCol="0" anchor="ctr"/>
          <a:lstStyle/>
          <a:p>
            <a:pPr indent="0" marL="0">
              <a:buNone/>
            </a:pPr>
            <a:r>
              <a:rPr lang="en-US" sz="1500" dirty="0">
                <a:solidFill>
                  <a:srgbClr val="374151"/>
                </a:solidFill>
              </a:rPr>
              <a:t>higher layers mix it with everything else: vague, not wrong</a:t>
            </a:r>
            <a:endParaRPr lang="en-US" sz="1500" dirty="0"/>
          </a:p>
        </p:txBody>
      </p:sp>
      <p:sp>
        <p:nvSpPr>
          <p:cNvPr id="27"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a:t>
            </a:r>
            <a:pPr indent="0" marL="0">
              <a:buNone/>
            </a:pPr>
            <a:r>
              <a:rPr lang="en-US" sz="1800" b="1" i="1" dirty="0">
                <a:solidFill>
                  <a:srgbClr val="6B7280"/>
                </a:solidFill>
              </a:rPr>
              <a:t>Even a fact seen once leaves a trace; it just gets drowned out on the way to the output.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2</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get it out without training?</a:t>
            </a:r>
            <a:endParaRPr lang="en-US" sz="3200" dirty="0"/>
          </a:p>
        </p:txBody>
      </p:sp>
      <p:sp>
        <p:nvSpPr>
          <p:cNvPr id="4" name="Shape 2"/>
          <p:cNvSpPr/>
          <p:nvPr/>
        </p:nvSpPr>
        <p:spPr>
          <a:xfrm>
            <a:off x="640080" y="2148840"/>
            <a:ext cx="4754880" cy="3291840"/>
          </a:xfrm>
          <a:prstGeom prst="roundRect">
            <a:avLst>
              <a:gd name="adj" fmla="val 3333"/>
            </a:avLst>
          </a:prstGeom>
          <a:solidFill>
            <a:srgbClr val="F9FAFB"/>
          </a:solidFill>
          <a:ln w="12700">
            <a:solidFill>
              <a:srgbClr val="E5E7EB"/>
            </a:solidFill>
            <a:prstDash val="solid"/>
          </a:ln>
        </p:spPr>
      </p:sp>
      <p:sp>
        <p:nvSpPr>
          <p:cNvPr id="5" name="Shape 3"/>
          <p:cNvSpPr/>
          <p:nvPr/>
        </p:nvSpPr>
        <p:spPr>
          <a:xfrm>
            <a:off x="1280160" y="2971800"/>
            <a:ext cx="201168" cy="201168"/>
          </a:xfrm>
          <a:prstGeom prst="ellipse">
            <a:avLst/>
          </a:prstGeom>
          <a:solidFill>
            <a:srgbClr val="C2410C"/>
          </a:solidFill>
          <a:ln w="12700">
            <a:solidFill>
              <a:srgbClr val="C2410C"/>
            </a:solidFill>
            <a:prstDash val="solid"/>
          </a:ln>
        </p:spPr>
      </p:sp>
      <p:sp>
        <p:nvSpPr>
          <p:cNvPr id="6" name="Shape 4"/>
          <p:cNvSpPr/>
          <p:nvPr/>
        </p:nvSpPr>
        <p:spPr>
          <a:xfrm>
            <a:off x="1737360" y="2697480"/>
            <a:ext cx="201168" cy="201168"/>
          </a:xfrm>
          <a:prstGeom prst="ellipse">
            <a:avLst/>
          </a:prstGeom>
          <a:solidFill>
            <a:srgbClr val="C2410C"/>
          </a:solidFill>
          <a:ln w="12700">
            <a:solidFill>
              <a:srgbClr val="C2410C"/>
            </a:solidFill>
            <a:prstDash val="solid"/>
          </a:ln>
        </p:spPr>
      </p:sp>
      <p:sp>
        <p:nvSpPr>
          <p:cNvPr id="7" name="Shape 5"/>
          <p:cNvSpPr/>
          <p:nvPr/>
        </p:nvSpPr>
        <p:spPr>
          <a:xfrm>
            <a:off x="1508760" y="3520440"/>
            <a:ext cx="201168" cy="201168"/>
          </a:xfrm>
          <a:prstGeom prst="ellipse">
            <a:avLst/>
          </a:prstGeom>
          <a:solidFill>
            <a:srgbClr val="C2410C"/>
          </a:solidFill>
          <a:ln w="12700">
            <a:solidFill>
              <a:srgbClr val="C2410C"/>
            </a:solidFill>
            <a:prstDash val="solid"/>
          </a:ln>
        </p:spPr>
      </p:sp>
      <p:sp>
        <p:nvSpPr>
          <p:cNvPr id="8" name="Shape 6"/>
          <p:cNvSpPr/>
          <p:nvPr/>
        </p:nvSpPr>
        <p:spPr>
          <a:xfrm>
            <a:off x="2103120" y="3246120"/>
            <a:ext cx="201168" cy="201168"/>
          </a:xfrm>
          <a:prstGeom prst="ellipse">
            <a:avLst/>
          </a:prstGeom>
          <a:solidFill>
            <a:srgbClr val="C2410C"/>
          </a:solidFill>
          <a:ln w="12700">
            <a:solidFill>
              <a:srgbClr val="C2410C"/>
            </a:solidFill>
            <a:prstDash val="solid"/>
          </a:ln>
        </p:spPr>
      </p:sp>
      <p:sp>
        <p:nvSpPr>
          <p:cNvPr id="9" name="Shape 7"/>
          <p:cNvSpPr/>
          <p:nvPr/>
        </p:nvSpPr>
        <p:spPr>
          <a:xfrm>
            <a:off x="1188720" y="4069080"/>
            <a:ext cx="201168" cy="201168"/>
          </a:xfrm>
          <a:prstGeom prst="ellipse">
            <a:avLst/>
          </a:prstGeom>
          <a:solidFill>
            <a:srgbClr val="C2410C"/>
          </a:solidFill>
          <a:ln w="12700">
            <a:solidFill>
              <a:srgbClr val="C2410C"/>
            </a:solidFill>
            <a:prstDash val="solid"/>
          </a:ln>
        </p:spPr>
      </p:sp>
      <p:sp>
        <p:nvSpPr>
          <p:cNvPr id="10" name="Shape 8"/>
          <p:cNvSpPr/>
          <p:nvPr/>
        </p:nvSpPr>
        <p:spPr>
          <a:xfrm>
            <a:off x="1828800" y="3977640"/>
            <a:ext cx="201168" cy="201168"/>
          </a:xfrm>
          <a:prstGeom prst="ellipse">
            <a:avLst/>
          </a:prstGeom>
          <a:solidFill>
            <a:srgbClr val="C2410C"/>
          </a:solidFill>
          <a:ln w="12700">
            <a:solidFill>
              <a:srgbClr val="C2410C"/>
            </a:solidFill>
            <a:prstDash val="solid"/>
          </a:ln>
        </p:spPr>
      </p:sp>
      <p:sp>
        <p:nvSpPr>
          <p:cNvPr id="11" name="Shape 9"/>
          <p:cNvSpPr/>
          <p:nvPr/>
        </p:nvSpPr>
        <p:spPr>
          <a:xfrm>
            <a:off x="2286000" y="3703320"/>
            <a:ext cx="201168" cy="201168"/>
          </a:xfrm>
          <a:prstGeom prst="ellipse">
            <a:avLst/>
          </a:prstGeom>
          <a:solidFill>
            <a:srgbClr val="C2410C"/>
          </a:solidFill>
          <a:ln w="12700">
            <a:solidFill>
              <a:srgbClr val="C2410C"/>
            </a:solidFill>
            <a:prstDash val="solid"/>
          </a:ln>
        </p:spPr>
      </p:sp>
      <p:sp>
        <p:nvSpPr>
          <p:cNvPr id="12" name="Shape 10"/>
          <p:cNvSpPr/>
          <p:nvPr/>
        </p:nvSpPr>
        <p:spPr>
          <a:xfrm>
            <a:off x="1554480" y="4526280"/>
            <a:ext cx="201168" cy="201168"/>
          </a:xfrm>
          <a:prstGeom prst="ellipse">
            <a:avLst/>
          </a:prstGeom>
          <a:solidFill>
            <a:srgbClr val="C2410C"/>
          </a:solidFill>
          <a:ln w="12700">
            <a:solidFill>
              <a:srgbClr val="C2410C"/>
            </a:solidFill>
            <a:prstDash val="solid"/>
          </a:ln>
        </p:spPr>
      </p:sp>
      <p:sp>
        <p:nvSpPr>
          <p:cNvPr id="13" name="Shape 11"/>
          <p:cNvSpPr/>
          <p:nvPr/>
        </p:nvSpPr>
        <p:spPr>
          <a:xfrm>
            <a:off x="3657600" y="3246120"/>
            <a:ext cx="201168" cy="201168"/>
          </a:xfrm>
          <a:prstGeom prst="ellipse">
            <a:avLst/>
          </a:prstGeom>
          <a:solidFill>
            <a:srgbClr val="2563EB"/>
          </a:solidFill>
          <a:ln w="12700">
            <a:solidFill>
              <a:srgbClr val="2563EB"/>
            </a:solidFill>
            <a:prstDash val="solid"/>
          </a:ln>
        </p:spPr>
      </p:sp>
      <p:sp>
        <p:nvSpPr>
          <p:cNvPr id="14" name="Shape 12"/>
          <p:cNvSpPr/>
          <p:nvPr/>
        </p:nvSpPr>
        <p:spPr>
          <a:xfrm>
            <a:off x="4114800" y="2880360"/>
            <a:ext cx="201168" cy="201168"/>
          </a:xfrm>
          <a:prstGeom prst="ellipse">
            <a:avLst/>
          </a:prstGeom>
          <a:solidFill>
            <a:srgbClr val="2563EB"/>
          </a:solidFill>
          <a:ln w="12700">
            <a:solidFill>
              <a:srgbClr val="2563EB"/>
            </a:solidFill>
            <a:prstDash val="solid"/>
          </a:ln>
        </p:spPr>
      </p:sp>
      <p:sp>
        <p:nvSpPr>
          <p:cNvPr id="15" name="Shape 13"/>
          <p:cNvSpPr/>
          <p:nvPr/>
        </p:nvSpPr>
        <p:spPr>
          <a:xfrm>
            <a:off x="4480560" y="3520440"/>
            <a:ext cx="201168" cy="201168"/>
          </a:xfrm>
          <a:prstGeom prst="ellipse">
            <a:avLst/>
          </a:prstGeom>
          <a:solidFill>
            <a:srgbClr val="2563EB"/>
          </a:solidFill>
          <a:ln w="12700">
            <a:solidFill>
              <a:srgbClr val="2563EB"/>
            </a:solidFill>
            <a:prstDash val="solid"/>
          </a:ln>
        </p:spPr>
      </p:sp>
      <p:sp>
        <p:nvSpPr>
          <p:cNvPr id="16" name="Shape 14"/>
          <p:cNvSpPr/>
          <p:nvPr/>
        </p:nvSpPr>
        <p:spPr>
          <a:xfrm>
            <a:off x="3840480" y="3886200"/>
            <a:ext cx="201168" cy="201168"/>
          </a:xfrm>
          <a:prstGeom prst="ellipse">
            <a:avLst/>
          </a:prstGeom>
          <a:solidFill>
            <a:srgbClr val="2563EB"/>
          </a:solidFill>
          <a:ln w="12700">
            <a:solidFill>
              <a:srgbClr val="2563EB"/>
            </a:solidFill>
            <a:prstDash val="solid"/>
          </a:ln>
        </p:spPr>
      </p:sp>
      <p:sp>
        <p:nvSpPr>
          <p:cNvPr id="17" name="Shape 15"/>
          <p:cNvSpPr/>
          <p:nvPr/>
        </p:nvSpPr>
        <p:spPr>
          <a:xfrm>
            <a:off x="4297680" y="4251960"/>
            <a:ext cx="201168" cy="201168"/>
          </a:xfrm>
          <a:prstGeom prst="ellipse">
            <a:avLst/>
          </a:prstGeom>
          <a:solidFill>
            <a:srgbClr val="2563EB"/>
          </a:solidFill>
          <a:ln w="12700">
            <a:solidFill>
              <a:srgbClr val="2563EB"/>
            </a:solidFill>
            <a:prstDash val="solid"/>
          </a:ln>
        </p:spPr>
      </p:sp>
      <p:sp>
        <p:nvSpPr>
          <p:cNvPr id="18" name="Shape 16"/>
          <p:cNvSpPr/>
          <p:nvPr/>
        </p:nvSpPr>
        <p:spPr>
          <a:xfrm>
            <a:off x="3474720" y="4617720"/>
            <a:ext cx="201168" cy="201168"/>
          </a:xfrm>
          <a:prstGeom prst="ellipse">
            <a:avLst/>
          </a:prstGeom>
          <a:solidFill>
            <a:srgbClr val="2563EB"/>
          </a:solidFill>
          <a:ln w="12700">
            <a:solidFill>
              <a:srgbClr val="2563EB"/>
            </a:solidFill>
            <a:prstDash val="solid"/>
          </a:ln>
        </p:spPr>
      </p:sp>
      <p:sp>
        <p:nvSpPr>
          <p:cNvPr id="19" name="Shape 17"/>
          <p:cNvSpPr/>
          <p:nvPr/>
        </p:nvSpPr>
        <p:spPr>
          <a:xfrm>
            <a:off x="4023360" y="4892040"/>
            <a:ext cx="201168" cy="201168"/>
          </a:xfrm>
          <a:prstGeom prst="ellipse">
            <a:avLst/>
          </a:prstGeom>
          <a:solidFill>
            <a:srgbClr val="2563EB"/>
          </a:solidFill>
          <a:ln w="12700">
            <a:solidFill>
              <a:srgbClr val="2563EB"/>
            </a:solidFill>
            <a:prstDash val="solid"/>
          </a:ln>
        </p:spPr>
      </p:sp>
      <p:sp>
        <p:nvSpPr>
          <p:cNvPr id="20" name="Shape 18"/>
          <p:cNvSpPr/>
          <p:nvPr/>
        </p:nvSpPr>
        <p:spPr>
          <a:xfrm>
            <a:off x="4572000" y="3977640"/>
            <a:ext cx="201168" cy="201168"/>
          </a:xfrm>
          <a:prstGeom prst="ellipse">
            <a:avLst/>
          </a:prstGeom>
          <a:solidFill>
            <a:srgbClr val="2563EB"/>
          </a:solidFill>
          <a:ln w="12700">
            <a:solidFill>
              <a:srgbClr val="2563EB"/>
            </a:solidFill>
            <a:prstDash val="solid"/>
          </a:ln>
        </p:spPr>
      </p:sp>
      <p:sp>
        <p:nvSpPr>
          <p:cNvPr id="21" name="Shape 19"/>
          <p:cNvSpPr/>
          <p:nvPr/>
        </p:nvSpPr>
        <p:spPr>
          <a:xfrm flipH="1">
            <a:off x="2011680" y="3611880"/>
            <a:ext cx="2011680" cy="274320"/>
          </a:xfrm>
          <a:prstGeom prst="line">
            <a:avLst/>
          </a:prstGeom>
          <a:noFill/>
          <a:ln w="38100">
            <a:solidFill>
              <a:srgbClr val="111827"/>
            </a:solidFill>
            <a:prstDash val="solid"/>
            <a:tailEnd type="triangle"/>
          </a:ln>
        </p:spPr>
      </p:sp>
      <p:sp>
        <p:nvSpPr>
          <p:cNvPr id="22" name="Text 20"/>
          <p:cNvSpPr txBox="1"/>
          <p:nvPr/>
        </p:nvSpPr>
        <p:spPr>
          <a:xfrm>
            <a:off x="2834640" y="3154680"/>
            <a:ext cx="457200" cy="365760"/>
          </a:xfrm>
          <a:prstGeom prst="rect">
            <a:avLst/>
          </a:prstGeom>
          <a:noFill/>
          <a:ln/>
        </p:spPr>
        <p:txBody>
          <a:bodyPr wrap="square" lIns="0" tIns="0" rIns="0" bIns="0" rtlCol="0" anchor="ctr"/>
          <a:lstStyle/>
          <a:p>
            <a:pPr indent="0" marL="0">
              <a:buNone/>
            </a:pPr>
            <a:r>
              <a:rPr lang="en-US" sz="2000" b="1" dirty="0">
                <a:solidFill>
                  <a:srgbClr val="111827"/>
                </a:solidFill>
              </a:rPr>
              <a:t>v</a:t>
            </a:r>
            <a:endParaRPr lang="en-US" sz="2000" dirty="0"/>
          </a:p>
        </p:txBody>
      </p:sp>
      <p:sp>
        <p:nvSpPr>
          <p:cNvPr id="23" name="Text 21"/>
          <p:cNvSpPr txBox="1"/>
          <p:nvPr/>
        </p:nvSpPr>
        <p:spPr>
          <a:xfrm>
            <a:off x="914400" y="4892040"/>
            <a:ext cx="1828800" cy="365760"/>
          </a:xfrm>
          <a:prstGeom prst="rect">
            <a:avLst/>
          </a:prstGeom>
          <a:noFill/>
          <a:ln/>
        </p:spPr>
        <p:txBody>
          <a:bodyPr wrap="square" lIns="0" tIns="0" rIns="0" bIns="0" rtlCol="0" anchor="ctr"/>
          <a:lstStyle/>
          <a:p>
            <a:pPr indent="0" marL="0">
              <a:buNone/>
            </a:pPr>
            <a:r>
              <a:rPr lang="en-US" sz="1400" b="1" dirty="0">
                <a:solidFill>
                  <a:srgbClr val="C2410C"/>
                </a:solidFill>
              </a:rPr>
              <a:t>medical</a:t>
            </a:r>
            <a:endParaRPr lang="en-US" sz="1400" dirty="0"/>
          </a:p>
        </p:txBody>
      </p:sp>
      <p:sp>
        <p:nvSpPr>
          <p:cNvPr id="24" name="Text 22"/>
          <p:cNvSpPr txBox="1"/>
          <p:nvPr/>
        </p:nvSpPr>
        <p:spPr>
          <a:xfrm>
            <a:off x="3383280" y="2423160"/>
            <a:ext cx="1828800" cy="365760"/>
          </a:xfrm>
          <a:prstGeom prst="rect">
            <a:avLst/>
          </a:prstGeom>
          <a:noFill/>
          <a:ln/>
        </p:spPr>
        <p:txBody>
          <a:bodyPr wrap="square" lIns="0" tIns="0" rIns="0" bIns="0" rtlCol="0" anchor="ctr"/>
          <a:lstStyle/>
          <a:p>
            <a:pPr algn="r" indent="0" marL="0">
              <a:buNone/>
            </a:pPr>
            <a:r>
              <a:rPr lang="en-US" sz="1400" b="1" dirty="0">
                <a:solidFill>
                  <a:srgbClr val="2563EB"/>
                </a:solidFill>
              </a:rPr>
              <a:t>everything else</a:t>
            </a:r>
            <a:endParaRPr lang="en-US" sz="1400" dirty="0"/>
          </a:p>
        </p:txBody>
      </p:sp>
      <p:sp>
        <p:nvSpPr>
          <p:cNvPr id="25" name="Text 23"/>
          <p:cNvSpPr txBox="1"/>
          <p:nvPr/>
        </p:nvSpPr>
        <p:spPr>
          <a:xfrm>
            <a:off x="640080" y="5486400"/>
            <a:ext cx="4754880" cy="365760"/>
          </a:xfrm>
          <a:prstGeom prst="rect">
            <a:avLst/>
          </a:prstGeom>
          <a:noFill/>
          <a:ln/>
        </p:spPr>
        <p:txBody>
          <a:bodyPr wrap="square" lIns="0" tIns="0" rIns="0" bIns="0" rtlCol="0" anchor="ctr"/>
          <a:lstStyle/>
          <a:p>
            <a:pPr algn="ctr" indent="0" marL="0">
              <a:buNone/>
            </a:pPr>
            <a:r>
              <a:rPr lang="en-US" sz="1200" dirty="0">
                <a:solidFill>
                  <a:srgbClr val="6B7280"/>
                </a:solidFill>
              </a:rPr>
              <a:t>inside one layer, each dot a sentence: the domains are separable</a:t>
            </a:r>
            <a:endParaRPr lang="en-US" sz="1200" dirty="0"/>
          </a:p>
        </p:txBody>
      </p:sp>
      <p:sp>
        <p:nvSpPr>
          <p:cNvPr id="26" name="Shape 24"/>
          <p:cNvSpPr/>
          <p:nvPr/>
        </p:nvSpPr>
        <p:spPr>
          <a:xfrm>
            <a:off x="6400800" y="2377440"/>
            <a:ext cx="3108960" cy="457200"/>
          </a:xfrm>
          <a:prstGeom prst="roundRect">
            <a:avLst>
              <a:gd name="adj" fmla="val 12000"/>
            </a:avLst>
          </a:prstGeom>
          <a:solidFill>
            <a:srgbClr val="E5E7EB"/>
          </a:solidFill>
          <a:ln w="12700">
            <a:solidFill>
              <a:srgbClr val="E5E7EB"/>
            </a:solidFill>
            <a:prstDash val="solid"/>
          </a:ln>
        </p:spPr>
      </p:sp>
      <p:sp>
        <p:nvSpPr>
          <p:cNvPr id="27" name="Shape 25"/>
          <p:cNvSpPr/>
          <p:nvPr/>
        </p:nvSpPr>
        <p:spPr>
          <a:xfrm>
            <a:off x="6400800" y="2944368"/>
            <a:ext cx="3108960" cy="457200"/>
          </a:xfrm>
          <a:prstGeom prst="roundRect">
            <a:avLst>
              <a:gd name="adj" fmla="val 12000"/>
            </a:avLst>
          </a:prstGeom>
          <a:solidFill>
            <a:srgbClr val="E5E7EB"/>
          </a:solidFill>
          <a:ln w="12700">
            <a:solidFill>
              <a:srgbClr val="E5E7EB"/>
            </a:solidFill>
            <a:prstDash val="solid"/>
          </a:ln>
        </p:spPr>
      </p:sp>
      <p:sp>
        <p:nvSpPr>
          <p:cNvPr id="28" name="Shape 26"/>
          <p:cNvSpPr/>
          <p:nvPr/>
        </p:nvSpPr>
        <p:spPr>
          <a:xfrm>
            <a:off x="6400800" y="3511296"/>
            <a:ext cx="3108960" cy="457200"/>
          </a:xfrm>
          <a:prstGeom prst="roundRect">
            <a:avLst>
              <a:gd name="adj" fmla="val 12000"/>
            </a:avLst>
          </a:prstGeom>
          <a:solidFill>
            <a:srgbClr val="C2410C"/>
          </a:solidFill>
          <a:ln w="12700">
            <a:solidFill>
              <a:srgbClr val="C2410C"/>
            </a:solidFill>
            <a:prstDash val="solid"/>
          </a:ln>
        </p:spPr>
      </p:sp>
      <p:sp>
        <p:nvSpPr>
          <p:cNvPr id="29" name="Text 27"/>
          <p:cNvSpPr txBox="1"/>
          <p:nvPr/>
        </p:nvSpPr>
        <p:spPr>
          <a:xfrm>
            <a:off x="6400800" y="3511296"/>
            <a:ext cx="3108960" cy="457200"/>
          </a:xfrm>
          <a:prstGeom prst="rect">
            <a:avLst/>
          </a:prstGeom>
          <a:noFill/>
          <a:ln/>
        </p:spPr>
        <p:txBody>
          <a:bodyPr wrap="square" lIns="0" tIns="0" rIns="0" bIns="0" rtlCol="0" anchor="ctr"/>
          <a:lstStyle/>
          <a:p>
            <a:pPr algn="ctr" indent="0" marL="0">
              <a:buNone/>
            </a:pPr>
            <a:r>
              <a:rPr lang="en-US" sz="1600" b="1" dirty="0">
                <a:solidFill>
                  <a:srgbClr val="FFFFFF"/>
                </a:solidFill>
              </a:rPr>
              <a:t>MLP, layer 8</a:t>
            </a:r>
            <a:endParaRPr lang="en-US" sz="1600" dirty="0"/>
          </a:p>
        </p:txBody>
      </p:sp>
      <p:sp>
        <p:nvSpPr>
          <p:cNvPr id="30" name="Text 28"/>
          <p:cNvSpPr txBox="1"/>
          <p:nvPr/>
        </p:nvSpPr>
        <p:spPr>
          <a:xfrm>
            <a:off x="9738360" y="3465576"/>
            <a:ext cx="1097280" cy="548640"/>
          </a:xfrm>
          <a:prstGeom prst="rect">
            <a:avLst/>
          </a:prstGeom>
          <a:noFill/>
          <a:ln/>
        </p:spPr>
        <p:txBody>
          <a:bodyPr wrap="square" lIns="0" tIns="0" rIns="0" bIns="0" rtlCol="0" anchor="ctr"/>
          <a:lstStyle/>
          <a:p>
            <a:pPr indent="0" marL="0">
              <a:buNone/>
            </a:pPr>
            <a:r>
              <a:rPr lang="en-US" sz="2800" b="1" dirty="0">
                <a:solidFill>
                  <a:srgbClr val="C2410C"/>
                </a:solidFill>
              </a:rPr>
              <a:t>+ v</a:t>
            </a:r>
            <a:endParaRPr lang="en-US" sz="2800" dirty="0"/>
          </a:p>
        </p:txBody>
      </p:sp>
      <p:sp>
        <p:nvSpPr>
          <p:cNvPr id="31" name="Shape 29"/>
          <p:cNvSpPr/>
          <p:nvPr/>
        </p:nvSpPr>
        <p:spPr>
          <a:xfrm>
            <a:off x="6400800" y="4078224"/>
            <a:ext cx="3108960" cy="457200"/>
          </a:xfrm>
          <a:prstGeom prst="roundRect">
            <a:avLst>
              <a:gd name="adj" fmla="val 12000"/>
            </a:avLst>
          </a:prstGeom>
          <a:solidFill>
            <a:srgbClr val="E5E7EB"/>
          </a:solidFill>
          <a:ln w="12700">
            <a:solidFill>
              <a:srgbClr val="E5E7EB"/>
            </a:solidFill>
            <a:prstDash val="solid"/>
          </a:ln>
        </p:spPr>
      </p:sp>
      <p:sp>
        <p:nvSpPr>
          <p:cNvPr id="32" name="Shape 30"/>
          <p:cNvSpPr/>
          <p:nvPr/>
        </p:nvSpPr>
        <p:spPr>
          <a:xfrm>
            <a:off x="6400800" y="4645152"/>
            <a:ext cx="3108960" cy="457200"/>
          </a:xfrm>
          <a:prstGeom prst="roundRect">
            <a:avLst>
              <a:gd name="adj" fmla="val 12000"/>
            </a:avLst>
          </a:prstGeom>
          <a:solidFill>
            <a:srgbClr val="E5E7EB"/>
          </a:solidFill>
          <a:ln w="12700">
            <a:solidFill>
              <a:srgbClr val="E5E7EB"/>
            </a:solidFill>
            <a:prstDash val="solid"/>
          </a:ln>
        </p:spPr>
      </p:sp>
      <p:sp>
        <p:nvSpPr>
          <p:cNvPr id="33" name="Shape 31"/>
          <p:cNvSpPr/>
          <p:nvPr/>
        </p:nvSpPr>
        <p:spPr>
          <a:xfrm>
            <a:off x="6400800" y="5394960"/>
            <a:ext cx="4846320" cy="384048"/>
          </a:xfrm>
          <a:prstGeom prst="roundRect">
            <a:avLst>
              <a:gd name="adj" fmla="val 50000"/>
            </a:avLst>
          </a:prstGeom>
          <a:solidFill>
            <a:srgbClr val="DCFCE7"/>
          </a:solidFill>
          <a:ln w="12700">
            <a:solidFill>
              <a:srgbClr val="DCFCE7"/>
            </a:solidFill>
            <a:prstDash val="solid"/>
          </a:ln>
        </p:spPr>
      </p:sp>
      <p:sp>
        <p:nvSpPr>
          <p:cNvPr id="34" name="Text 32"/>
          <p:cNvSpPr txBox="1"/>
          <p:nvPr/>
        </p:nvSpPr>
        <p:spPr>
          <a:xfrm>
            <a:off x="6400800" y="5394960"/>
            <a:ext cx="4846320" cy="384048"/>
          </a:xfrm>
          <a:prstGeom prst="rect">
            <a:avLst/>
          </a:prstGeom>
          <a:noFill/>
          <a:ln/>
        </p:spPr>
        <p:txBody>
          <a:bodyPr wrap="square" lIns="0" tIns="0" rIns="0" bIns="0" rtlCol="0" anchor="ctr"/>
          <a:lstStyle/>
          <a:p>
            <a:pPr algn="ctr" indent="0" marL="0">
              <a:buNone/>
            </a:pPr>
            <a:r>
              <a:rPr lang="en-US" sz="1300" b="1" dirty="0">
                <a:solidFill>
                  <a:srgbClr val="166534"/>
                </a:solidFill>
              </a:rPr>
              <a:t>one vector addition  ·  versus billions of tokens of training</a:t>
            </a:r>
            <a:endParaRPr lang="en-US" sz="1300" dirty="0"/>
          </a:p>
        </p:txBody>
      </p:sp>
      <p:sp>
        <p:nvSpPr>
          <p:cNvPr id="3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one vector addition. </a:t>
            </a:r>
            <a:pPr indent="0" marL="0">
              <a:buNone/>
            </a:pPr>
            <a:r>
              <a:rPr lang="en-US" sz="1800" b="1" i="1" dirty="0">
                <a:solidFill>
                  <a:srgbClr val="6B7280"/>
                </a:solidFill>
              </a:rPr>
              <a:t>Compute the “medical” direction once, add it at inference.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3</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Where should we nudge?</a:t>
            </a:r>
            <a:endParaRPr lang="en-US" sz="3200" dirty="0"/>
          </a:p>
        </p:txBody>
      </p:sp>
      <p:sp>
        <p:nvSpPr>
          <p:cNvPr id="4" name="Shape 2"/>
          <p:cNvSpPr/>
          <p:nvPr/>
        </p:nvSpPr>
        <p:spPr>
          <a:xfrm>
            <a:off x="914400" y="4023360"/>
            <a:ext cx="1280160" cy="1188720"/>
          </a:xfrm>
          <a:prstGeom prst="rect">
            <a:avLst/>
          </a:prstGeom>
          <a:solidFill>
            <a:srgbClr val="9CA3AF"/>
          </a:solidFill>
          <a:ln w="12700">
            <a:solidFill>
              <a:srgbClr val="9CA3AF"/>
            </a:solidFill>
            <a:prstDash val="solid"/>
          </a:ln>
        </p:spPr>
      </p:sp>
      <p:sp>
        <p:nvSpPr>
          <p:cNvPr id="5" name="Text 3"/>
          <p:cNvSpPr txBox="1"/>
          <p:nvPr/>
        </p:nvSpPr>
        <p:spPr>
          <a:xfrm>
            <a:off x="731520" y="36393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+21%</a:t>
            </a:r>
            <a:endParaRPr lang="en-US" sz="1600" dirty="0"/>
          </a:p>
        </p:txBody>
      </p:sp>
      <p:sp>
        <p:nvSpPr>
          <p:cNvPr id="6" name="Shape 4"/>
          <p:cNvSpPr/>
          <p:nvPr/>
        </p:nvSpPr>
        <p:spPr>
          <a:xfrm>
            <a:off x="2651760" y="3566160"/>
            <a:ext cx="1280160" cy="1645920"/>
          </a:xfrm>
          <a:prstGeom prst="rect">
            <a:avLst/>
          </a:prstGeom>
          <a:solidFill>
            <a:srgbClr val="9CA3AF"/>
          </a:solidFill>
          <a:ln w="12700">
            <a:solidFill>
              <a:srgbClr val="9CA3AF"/>
            </a:solidFill>
            <a:prstDash val="solid"/>
          </a:ln>
        </p:spPr>
      </p:sp>
      <p:sp>
        <p:nvSpPr>
          <p:cNvPr id="7" name="Text 5"/>
          <p:cNvSpPr txBox="1"/>
          <p:nvPr/>
        </p:nvSpPr>
        <p:spPr>
          <a:xfrm>
            <a:off x="2468880" y="31821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+29%</a:t>
            </a:r>
            <a:endParaRPr lang="en-US" sz="1600" dirty="0"/>
          </a:p>
        </p:txBody>
      </p:sp>
      <p:sp>
        <p:nvSpPr>
          <p:cNvPr id="8" name="Shape 6"/>
          <p:cNvSpPr/>
          <p:nvPr/>
        </p:nvSpPr>
        <p:spPr>
          <a:xfrm>
            <a:off x="4389120" y="2651760"/>
            <a:ext cx="1280160" cy="2560320"/>
          </a:xfrm>
          <a:prstGeom prst="rect">
            <a:avLst/>
          </a:prstGeom>
          <a:solidFill>
            <a:srgbClr val="C2410C"/>
          </a:solidFill>
          <a:ln w="12700">
            <a:solidFill>
              <a:srgbClr val="C2410C"/>
            </a:solidFill>
            <a:prstDash val="solid"/>
          </a:ln>
        </p:spPr>
      </p:sp>
      <p:sp>
        <p:nvSpPr>
          <p:cNvPr id="9" name="Text 7"/>
          <p:cNvSpPr txBox="1"/>
          <p:nvPr/>
        </p:nvSpPr>
        <p:spPr>
          <a:xfrm>
            <a:off x="4206240" y="2267712"/>
            <a:ext cx="164592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10" name="Shape 8"/>
          <p:cNvSpPr/>
          <p:nvPr/>
        </p:nvSpPr>
        <p:spPr>
          <a:xfrm>
            <a:off x="777240" y="5212080"/>
            <a:ext cx="5212080" cy="0"/>
          </a:xfrm>
          <a:prstGeom prst="line">
            <a:avLst/>
          </a:prstGeom>
          <a:noFill/>
          <a:ln w="25400">
            <a:solidFill>
              <a:srgbClr val="111827"/>
            </a:solidFill>
            <a:prstDash val="solid"/>
          </a:ln>
        </p:spPr>
      </p:sp>
      <p:sp>
        <p:nvSpPr>
          <p:cNvPr id="11" name="Text 9"/>
          <p:cNvSpPr txBox="1"/>
          <p:nvPr/>
        </p:nvSpPr>
        <p:spPr>
          <a:xfrm>
            <a:off x="73152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residual stream</a:t>
            </a:r>
            <a:pPr algn="ctr" indent="0" marL="0">
              <a:buNone/>
            </a:pPr>
            <a:endParaRPr lang="en-US" sz="1400" dirty="0"/>
          </a:p>
          <a:p>
            <a:pPr algn="ctr" indent="0" marL="0">
              <a:buNone/>
            </a:pPr>
            <a:r>
              <a:rPr lang="en-US" sz="1400" dirty="0">
                <a:solidFill>
                  <a:srgbClr val="6B7280"/>
                </a:solidFill>
              </a:rPr>
              <a:t>the usual spot</a:t>
            </a:r>
            <a:endParaRPr lang="en-US" sz="1400" dirty="0"/>
          </a:p>
        </p:txBody>
      </p:sp>
      <p:sp>
        <p:nvSpPr>
          <p:cNvPr id="12" name="Text 10"/>
          <p:cNvSpPr txBox="1"/>
          <p:nvPr/>
        </p:nvSpPr>
        <p:spPr>
          <a:xfrm>
            <a:off x="246888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attention</a:t>
            </a:r>
            <a:pPr algn="ctr" indent="0" marL="0">
              <a:buNone/>
            </a:pPr>
            <a:endParaRPr lang="en-US" sz="1400" dirty="0"/>
          </a:p>
        </p:txBody>
      </p:sp>
      <p:sp>
        <p:nvSpPr>
          <p:cNvPr id="13" name="Text 11"/>
          <p:cNvSpPr txBox="1"/>
          <p:nvPr/>
        </p:nvSpPr>
        <p:spPr>
          <a:xfrm>
            <a:off x="4206240" y="5285232"/>
            <a:ext cx="1645920" cy="640080"/>
          </a:xfrm>
          <a:prstGeom prst="rect">
            <a:avLst/>
          </a:prstGeom>
          <a:noFill/>
          <a:ln/>
        </p:spPr>
        <p:txBody>
          <a:bodyPr wrap="square" lIns="0" tIns="0" rIns="0" bIns="0" rtlCol="0" anchor="t"/>
          <a:lstStyle/>
          <a:p>
            <a:pPr algn="ctr" indent="0" marL="0">
              <a:buNone/>
            </a:pPr>
            <a:r>
              <a:rPr lang="en-US" sz="1400" b="1" dirty="0">
                <a:solidFill>
                  <a:srgbClr val="C2410C"/>
                </a:solidFill>
              </a:rPr>
              <a:t>MLP</a:t>
            </a:r>
            <a:pPr algn="ctr" indent="0" marL="0">
              <a:buNone/>
            </a:pPr>
            <a:endParaRPr lang="en-US" sz="1400" dirty="0"/>
          </a:p>
        </p:txBody>
      </p:sp>
      <p:sp>
        <p:nvSpPr>
          <p:cNvPr id="14" name="Shape 12"/>
          <p:cNvSpPr/>
          <p:nvPr/>
        </p:nvSpPr>
        <p:spPr>
          <a:xfrm>
            <a:off x="6766560" y="2377440"/>
            <a:ext cx="4754880" cy="1188720"/>
          </a:xfrm>
          <a:prstGeom prst="roundRect">
            <a:avLst>
              <a:gd name="adj" fmla="val 9231"/>
            </a:avLst>
          </a:prstGeom>
          <a:solidFill>
            <a:srgbClr val="F9FAFB"/>
          </a:solidFill>
          <a:ln w="12700">
            <a:solidFill>
              <a:srgbClr val="E5E7EB"/>
            </a:solidFill>
            <a:prstDash val="solid"/>
          </a:ln>
        </p:spPr>
      </p:sp>
      <p:sp>
        <p:nvSpPr>
          <p:cNvPr id="15" name="Text 13"/>
          <p:cNvSpPr txBox="1"/>
          <p:nvPr/>
        </p:nvSpPr>
        <p:spPr>
          <a:xfrm>
            <a:off x="6995160" y="246888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FACTS · MEDICAL, LAW</a:t>
            </a:r>
            <a:endParaRPr lang="en-US" sz="1200" dirty="0"/>
          </a:p>
        </p:txBody>
      </p:sp>
      <p:sp>
        <p:nvSpPr>
          <p:cNvPr id="16" name="Text 14"/>
          <p:cNvSpPr txBox="1"/>
          <p:nvPr/>
        </p:nvSpPr>
        <p:spPr>
          <a:xfrm>
            <a:off x="6995160" y="283464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MLP wins, in 3 of 3 models</a:t>
            </a:r>
            <a:endParaRPr lang="en-US" sz="2000" dirty="0"/>
          </a:p>
        </p:txBody>
      </p:sp>
      <p:sp>
        <p:nvSpPr>
          <p:cNvPr id="17" name="Shape 15"/>
          <p:cNvSpPr/>
          <p:nvPr/>
        </p:nvSpPr>
        <p:spPr>
          <a:xfrm>
            <a:off x="6766560" y="3840480"/>
            <a:ext cx="4754880" cy="1188720"/>
          </a:xfrm>
          <a:prstGeom prst="roundRect">
            <a:avLst>
              <a:gd name="adj" fmla="val 9231"/>
            </a:avLst>
          </a:prstGeom>
          <a:solidFill>
            <a:srgbClr val="F9FAFB"/>
          </a:solidFill>
          <a:ln w="12700">
            <a:solidFill>
              <a:srgbClr val="E5E7EB"/>
            </a:solidFill>
            <a:prstDash val="solid"/>
          </a:ln>
        </p:spPr>
      </p:sp>
      <p:sp>
        <p:nvSpPr>
          <p:cNvPr id="18" name="Text 16"/>
          <p:cNvSpPr txBox="1"/>
          <p:nvPr/>
        </p:nvSpPr>
        <p:spPr>
          <a:xfrm>
            <a:off x="6995160" y="393192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BEHAVIOUR · TONE</a:t>
            </a:r>
            <a:endParaRPr lang="en-US" sz="1200" dirty="0"/>
          </a:p>
        </p:txBody>
      </p:sp>
      <p:sp>
        <p:nvSpPr>
          <p:cNvPr id="19" name="Text 17"/>
          <p:cNvSpPr txBox="1"/>
          <p:nvPr/>
        </p:nvSpPr>
        <p:spPr>
          <a:xfrm>
            <a:off x="6995160" y="429768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attention wins, MLP can even hurt</a:t>
            </a:r>
            <a:endParaRPr lang="en-US" sz="20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The MLP layers, where facts live. </a:t>
            </a:r>
            <a:pPr indent="0" marL="0">
              <a:buNone/>
            </a:pPr>
            <a:r>
              <a:rPr lang="en-US" sz="1800" b="1" i="1" dirty="0">
                <a:solidFill>
                  <a:srgbClr val="6B7280"/>
                </a:solidFill>
              </a:rPr>
              <a:t>But steering can only surface what the model has already read.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4</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How do we teach it something it never read?</a:t>
            </a:r>
            <a:endParaRPr lang="en-US" sz="3200" dirty="0"/>
          </a:p>
        </p:txBody>
      </p:sp>
      <p:sp>
        <p:nvSpPr>
          <p:cNvPr id="4" name="Shape 2"/>
          <p:cNvSpPr/>
          <p:nvPr/>
        </p:nvSpPr>
        <p:spPr>
          <a:xfrm>
            <a:off x="640080" y="2286000"/>
            <a:ext cx="4206240" cy="1417320"/>
          </a:xfrm>
          <a:prstGeom prst="roundRect">
            <a:avLst>
              <a:gd name="adj" fmla="val 7742"/>
            </a:avLst>
          </a:prstGeom>
          <a:solidFill>
            <a:srgbClr val="F9FAFB"/>
          </a:solidFill>
          <a:ln w="12700">
            <a:solidFill>
              <a:srgbClr val="E5E7EB"/>
            </a:solidFill>
            <a:prstDash val="solid"/>
          </a:ln>
        </p:spPr>
      </p:sp>
      <p:sp>
        <p:nvSpPr>
          <p:cNvPr id="5" name="Text 3"/>
          <p:cNvSpPr txBox="1"/>
          <p:nvPr/>
        </p:nvSpPr>
        <p:spPr>
          <a:xfrm>
            <a:off x="868680" y="2377440"/>
            <a:ext cx="3840480" cy="274320"/>
          </a:xfrm>
          <a:prstGeom prst="rect">
            <a:avLst/>
          </a:prstGeom>
          <a:noFill/>
          <a:ln/>
        </p:spPr>
        <p:txBody>
          <a:bodyPr wrap="square" lIns="0" tIns="0" rIns="0" bIns="0" rtlCol="0" anchor="ctr"/>
          <a:lstStyle/>
          <a:p>
            <a:pPr indent="0" marL="0">
              <a:buNone/>
            </a:pPr>
            <a:r>
              <a:rPr lang="en-US" sz="1100" b="1" spc="200" kern="0" dirty="0">
                <a:solidFill>
                  <a:srgbClr val="6B7280"/>
                </a:solidFill>
              </a:rPr>
              <a:t>RETRAIN FROM SCRATCH</a:t>
            </a:r>
            <a:endParaRPr lang="en-US" sz="1100" dirty="0"/>
          </a:p>
        </p:txBody>
      </p:sp>
      <p:sp>
        <p:nvSpPr>
          <p:cNvPr id="6" name="Text 4"/>
          <p:cNvSpPr txBox="1"/>
          <p:nvPr/>
        </p:nvSpPr>
        <p:spPr>
          <a:xfrm>
            <a:off x="868680" y="2651760"/>
            <a:ext cx="3840480" cy="60960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trillions</a:t>
            </a:r>
            <a:endParaRPr lang="en-US" sz="4000" dirty="0"/>
          </a:p>
        </p:txBody>
      </p:sp>
      <p:sp>
        <p:nvSpPr>
          <p:cNvPr id="7" name="Text 5"/>
          <p:cNvSpPr txBox="1"/>
          <p:nvPr/>
        </p:nvSpPr>
        <p:spPr>
          <a:xfrm>
            <a:off x="868680" y="3291840"/>
            <a:ext cx="3840480" cy="365760"/>
          </a:xfrm>
          <a:prstGeom prst="rect">
            <a:avLst/>
          </a:prstGeom>
          <a:noFill/>
          <a:ln/>
        </p:spPr>
        <p:txBody>
          <a:bodyPr wrap="square" lIns="0" tIns="0" rIns="0" bIns="0" rtlCol="0" anchor="ctr"/>
          <a:lstStyle/>
          <a:p>
            <a:pPr indent="0" marL="0">
              <a:buNone/>
            </a:pPr>
            <a:r>
              <a:rPr lang="en-US" sz="1300" dirty="0">
                <a:solidFill>
                  <a:srgbClr val="374151"/>
                </a:solidFill>
              </a:rPr>
              <a:t>of tokens, millions of dollars, every few months</a:t>
            </a:r>
            <a:endParaRPr lang="en-US" sz="1300" dirty="0"/>
          </a:p>
        </p:txBody>
      </p:sp>
      <p:sp>
        <p:nvSpPr>
          <p:cNvPr id="8" name="Shape 6"/>
          <p:cNvSpPr/>
          <p:nvPr/>
        </p:nvSpPr>
        <p:spPr>
          <a:xfrm>
            <a:off x="640080" y="3931920"/>
            <a:ext cx="4206240" cy="1417320"/>
          </a:xfrm>
          <a:prstGeom prst="roundRect">
            <a:avLst>
              <a:gd name="adj" fmla="val 7742"/>
            </a:avLst>
          </a:prstGeom>
          <a:solidFill>
            <a:srgbClr val="FFF7ED"/>
          </a:solidFill>
          <a:ln w="12700">
            <a:solidFill>
              <a:srgbClr val="FDBA74"/>
            </a:solidFill>
            <a:prstDash val="solid"/>
          </a:ln>
        </p:spPr>
      </p:sp>
      <p:sp>
        <p:nvSpPr>
          <p:cNvPr id="9" name="Text 7"/>
          <p:cNvSpPr txBox="1"/>
          <p:nvPr/>
        </p:nvSpPr>
        <p:spPr>
          <a:xfrm>
            <a:off x="868680" y="4023360"/>
            <a:ext cx="38404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CONTINUED PRETRAINING</a:t>
            </a:r>
            <a:endParaRPr lang="en-US" sz="1100" dirty="0"/>
          </a:p>
        </p:txBody>
      </p:sp>
      <p:sp>
        <p:nvSpPr>
          <p:cNvPr id="10" name="Text 8"/>
          <p:cNvSpPr txBox="1"/>
          <p:nvPr/>
        </p:nvSpPr>
        <p:spPr>
          <a:xfrm>
            <a:off x="868680" y="4297680"/>
            <a:ext cx="3840480" cy="60960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 billion</a:t>
            </a:r>
            <a:endParaRPr lang="en-US" sz="4000" dirty="0"/>
          </a:p>
        </p:txBody>
      </p:sp>
      <p:sp>
        <p:nvSpPr>
          <p:cNvPr id="11" name="Text 9"/>
          <p:cNvSpPr txBox="1"/>
          <p:nvPr/>
        </p:nvSpPr>
        <p:spPr>
          <a:xfrm>
            <a:off x="868680" y="4937760"/>
            <a:ext cx="3840480" cy="365760"/>
          </a:xfrm>
          <a:prstGeom prst="rect">
            <a:avLst/>
          </a:prstGeom>
          <a:noFill/>
          <a:ln/>
        </p:spPr>
        <p:txBody>
          <a:bodyPr wrap="square" lIns="0" tIns="0" rIns="0" bIns="0" rtlCol="0" anchor="ctr"/>
          <a:lstStyle/>
          <a:p>
            <a:pPr indent="0" marL="0">
              <a:buNone/>
            </a:pPr>
            <a:r>
              <a:rPr lang="en-US" sz="1300" dirty="0">
                <a:solidFill>
                  <a:srgbClr val="374151"/>
                </a:solidFill>
              </a:rPr>
              <a:t>tokens of fresh news, same recipe, a few days</a:t>
            </a:r>
            <a:endParaRPr lang="en-US" sz="1300" dirty="0"/>
          </a:p>
        </p:txBody>
      </p:sp>
      <p:sp>
        <p:nvSpPr>
          <p:cNvPr id="12" name="Shape 10"/>
          <p:cNvSpPr/>
          <p:nvPr/>
        </p:nvSpPr>
        <p:spPr>
          <a:xfrm>
            <a:off x="5852160" y="2743200"/>
            <a:ext cx="640080" cy="2103120"/>
          </a:xfrm>
          <a:prstGeom prst="rect">
            <a:avLst/>
          </a:prstGeom>
          <a:solidFill>
            <a:srgbClr val="C2410C"/>
          </a:solidFill>
          <a:ln w="12700">
            <a:solidFill>
              <a:srgbClr val="C2410C"/>
            </a:solidFill>
            <a:prstDash val="solid"/>
          </a:ln>
        </p:spPr>
      </p:sp>
      <p:sp>
        <p:nvSpPr>
          <p:cNvPr id="13" name="Text 11"/>
          <p:cNvSpPr txBox="1"/>
          <p:nvPr/>
        </p:nvSpPr>
        <p:spPr>
          <a:xfrm>
            <a:off x="5669280" y="23591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4" name="Shape 12"/>
          <p:cNvSpPr/>
          <p:nvPr/>
        </p:nvSpPr>
        <p:spPr>
          <a:xfrm>
            <a:off x="6583680" y="4343400"/>
            <a:ext cx="640080" cy="502920"/>
          </a:xfrm>
          <a:prstGeom prst="rect">
            <a:avLst/>
          </a:prstGeom>
          <a:solidFill>
            <a:srgbClr val="9CA3AF"/>
          </a:solidFill>
          <a:ln w="12700">
            <a:solidFill>
              <a:srgbClr val="9CA3AF"/>
            </a:solidFill>
            <a:prstDash val="solid"/>
          </a:ln>
        </p:spPr>
      </p:sp>
      <p:sp>
        <p:nvSpPr>
          <p:cNvPr id="15" name="Text 13"/>
          <p:cNvSpPr txBox="1"/>
          <p:nvPr/>
        </p:nvSpPr>
        <p:spPr>
          <a:xfrm>
            <a:off x="6400800" y="39593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16" name="Shape 14"/>
          <p:cNvSpPr/>
          <p:nvPr/>
        </p:nvSpPr>
        <p:spPr>
          <a:xfrm>
            <a:off x="7772400" y="3566160"/>
            <a:ext cx="640080" cy="1280160"/>
          </a:xfrm>
          <a:prstGeom prst="rect">
            <a:avLst/>
          </a:prstGeom>
          <a:solidFill>
            <a:srgbClr val="C2410C"/>
          </a:solidFill>
          <a:ln w="12700">
            <a:solidFill>
              <a:srgbClr val="C2410C"/>
            </a:solidFill>
            <a:prstDash val="solid"/>
          </a:ln>
        </p:spPr>
      </p:sp>
      <p:sp>
        <p:nvSpPr>
          <p:cNvPr id="17" name="Text 15"/>
          <p:cNvSpPr txBox="1"/>
          <p:nvPr/>
        </p:nvSpPr>
        <p:spPr>
          <a:xfrm>
            <a:off x="7589520" y="318211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8" name="Shape 16"/>
          <p:cNvSpPr/>
          <p:nvPr/>
        </p:nvSpPr>
        <p:spPr>
          <a:xfrm>
            <a:off x="8503920" y="4572000"/>
            <a:ext cx="640080" cy="274320"/>
          </a:xfrm>
          <a:prstGeom prst="rect">
            <a:avLst/>
          </a:prstGeom>
          <a:solidFill>
            <a:srgbClr val="9CA3AF"/>
          </a:solidFill>
          <a:ln w="12700">
            <a:solidFill>
              <a:srgbClr val="9CA3AF"/>
            </a:solidFill>
            <a:prstDash val="solid"/>
          </a:ln>
        </p:spPr>
      </p:sp>
      <p:sp>
        <p:nvSpPr>
          <p:cNvPr id="19" name="Text 17"/>
          <p:cNvSpPr txBox="1"/>
          <p:nvPr/>
        </p:nvSpPr>
        <p:spPr>
          <a:xfrm>
            <a:off x="8321040" y="41879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20" name="Shape 18"/>
          <p:cNvSpPr/>
          <p:nvPr/>
        </p:nvSpPr>
        <p:spPr>
          <a:xfrm>
            <a:off x="9692640" y="3657600"/>
            <a:ext cx="640080" cy="1188720"/>
          </a:xfrm>
          <a:prstGeom prst="rect">
            <a:avLst/>
          </a:prstGeom>
          <a:solidFill>
            <a:srgbClr val="C2410C"/>
          </a:solidFill>
          <a:ln w="12700">
            <a:solidFill>
              <a:srgbClr val="C2410C"/>
            </a:solidFill>
            <a:prstDash val="solid"/>
          </a:ln>
        </p:spPr>
      </p:sp>
      <p:sp>
        <p:nvSpPr>
          <p:cNvPr id="21" name="Text 19"/>
          <p:cNvSpPr txBox="1"/>
          <p:nvPr/>
        </p:nvSpPr>
        <p:spPr>
          <a:xfrm>
            <a:off x="9509760" y="32735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22" name="Shape 20"/>
          <p:cNvSpPr/>
          <p:nvPr/>
        </p:nvSpPr>
        <p:spPr>
          <a:xfrm>
            <a:off x="10424160" y="4818888"/>
            <a:ext cx="640080" cy="27432"/>
          </a:xfrm>
          <a:prstGeom prst="rect">
            <a:avLst/>
          </a:prstGeom>
          <a:solidFill>
            <a:srgbClr val="9CA3AF"/>
          </a:solidFill>
          <a:ln w="12700">
            <a:solidFill>
              <a:srgbClr val="9CA3AF"/>
            </a:solidFill>
            <a:prstDash val="solid"/>
          </a:ln>
        </p:spPr>
      </p:sp>
      <p:sp>
        <p:nvSpPr>
          <p:cNvPr id="23" name="Text 21"/>
          <p:cNvSpPr txBox="1"/>
          <p:nvPr/>
        </p:nvSpPr>
        <p:spPr>
          <a:xfrm>
            <a:off x="10241280" y="4434840"/>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0</a:t>
            </a:r>
            <a:endParaRPr lang="en-US" sz="1600" dirty="0"/>
          </a:p>
        </p:txBody>
      </p:sp>
      <p:sp>
        <p:nvSpPr>
          <p:cNvPr id="24" name="Shape 22"/>
          <p:cNvSpPr/>
          <p:nvPr/>
        </p:nvSpPr>
        <p:spPr>
          <a:xfrm>
            <a:off x="5715000" y="4846320"/>
            <a:ext cx="5760720" cy="0"/>
          </a:xfrm>
          <a:prstGeom prst="line">
            <a:avLst/>
          </a:prstGeom>
          <a:noFill/>
          <a:ln w="25400">
            <a:solidFill>
              <a:srgbClr val="111827"/>
            </a:solidFill>
            <a:prstDash val="solid"/>
          </a:ln>
        </p:spPr>
      </p:sp>
      <p:sp>
        <p:nvSpPr>
          <p:cNvPr id="25" name="Shape 23"/>
          <p:cNvSpPr/>
          <p:nvPr/>
        </p:nvSpPr>
        <p:spPr>
          <a:xfrm>
            <a:off x="6675120" y="5074920"/>
            <a:ext cx="201168" cy="201168"/>
          </a:xfrm>
          <a:prstGeom prst="rect">
            <a:avLst/>
          </a:prstGeom>
          <a:solidFill>
            <a:srgbClr val="C2410C"/>
          </a:solidFill>
          <a:ln w="12700">
            <a:solidFill>
              <a:srgbClr val="C2410C"/>
            </a:solidFill>
            <a:prstDash val="solid"/>
          </a:ln>
        </p:spPr>
      </p:sp>
      <p:sp>
        <p:nvSpPr>
          <p:cNvPr id="26" name="Text 24"/>
          <p:cNvSpPr txBox="1"/>
          <p:nvPr/>
        </p:nvSpPr>
        <p:spPr>
          <a:xfrm>
            <a:off x="6949440" y="5029200"/>
            <a:ext cx="1097280" cy="292608"/>
          </a:xfrm>
          <a:prstGeom prst="rect">
            <a:avLst/>
          </a:prstGeom>
          <a:noFill/>
          <a:ln/>
        </p:spPr>
        <p:txBody>
          <a:bodyPr wrap="square" lIns="0" tIns="0" rIns="0" bIns="0" rtlCol="0" anchor="ctr"/>
          <a:lstStyle/>
          <a:p>
            <a:pPr indent="0" marL="0">
              <a:buNone/>
            </a:pPr>
            <a:r>
              <a:rPr lang="en-US" sz="1300" b="1" dirty="0">
                <a:solidFill>
                  <a:srgbClr val="374151"/>
                </a:solidFill>
              </a:rPr>
              <a:t>news</a:t>
            </a:r>
            <a:endParaRPr lang="en-US" sz="1300" dirty="0"/>
          </a:p>
        </p:txBody>
      </p:sp>
      <p:sp>
        <p:nvSpPr>
          <p:cNvPr id="27" name="Shape 25"/>
          <p:cNvSpPr/>
          <p:nvPr/>
        </p:nvSpPr>
        <p:spPr>
          <a:xfrm>
            <a:off x="8138160" y="5074920"/>
            <a:ext cx="201168" cy="201168"/>
          </a:xfrm>
          <a:prstGeom prst="rect">
            <a:avLst/>
          </a:prstGeom>
          <a:solidFill>
            <a:srgbClr val="9CA3AF"/>
          </a:solidFill>
          <a:ln w="12700">
            <a:solidFill>
              <a:srgbClr val="9CA3AF"/>
            </a:solidFill>
            <a:prstDash val="solid"/>
          </a:ln>
        </p:spPr>
      </p:sp>
      <p:sp>
        <p:nvSpPr>
          <p:cNvPr id="28" name="Text 26"/>
          <p:cNvSpPr txBox="1"/>
          <p:nvPr/>
        </p:nvSpPr>
        <p:spPr>
          <a:xfrm>
            <a:off x="8412480" y="5029200"/>
            <a:ext cx="2194560" cy="292608"/>
          </a:xfrm>
          <a:prstGeom prst="rect">
            <a:avLst/>
          </a:prstGeom>
          <a:noFill/>
          <a:ln/>
        </p:spPr>
        <p:txBody>
          <a:bodyPr wrap="square" lIns="0" tIns="0" rIns="0" bIns="0" rtlCol="0" anchor="ctr"/>
          <a:lstStyle/>
          <a:p>
            <a:pPr indent="0" marL="0">
              <a:buNone/>
            </a:pPr>
            <a:r>
              <a:rPr lang="en-US" sz="1300" b="1" dirty="0">
                <a:solidFill>
                  <a:srgbClr val="374151"/>
                </a:solidFill>
              </a:rPr>
              <a:t>random web text</a:t>
            </a:r>
            <a:endParaRPr lang="en-US" sz="1300" dirty="0"/>
          </a:p>
        </p:txBody>
      </p:sp>
      <p:sp>
        <p:nvSpPr>
          <p:cNvPr id="29" name="Text 27"/>
          <p:cNvSpPr txBox="1"/>
          <p:nvPr/>
        </p:nvSpPr>
        <p:spPr>
          <a:xfrm>
            <a:off x="5760720" y="5394960"/>
            <a:ext cx="5486400" cy="274320"/>
          </a:xfrm>
          <a:prstGeom prst="rect">
            <a:avLst/>
          </a:prstGeom>
          <a:noFill/>
          <a:ln/>
        </p:spPr>
        <p:txBody>
          <a:bodyPr wrap="square" lIns="0" tIns="0" rIns="0" bIns="0" rtlCol="0" anchor="ctr"/>
          <a:lstStyle/>
          <a:p>
            <a:pPr indent="0" marL="0">
              <a:buNone/>
            </a:pPr>
            <a:r>
              <a:rPr lang="en-US" sz="1200" dirty="0">
                <a:solidFill>
                  <a:srgbClr val="6B7280"/>
                </a:solidFill>
              </a:rPr>
              <a:t>new facts learned, three quizzes, eight models</a:t>
            </a:r>
            <a:endParaRPr lang="en-US" sz="1200" dirty="0"/>
          </a:p>
        </p:txBody>
      </p:sp>
      <p:sp>
        <p:nvSpPr>
          <p:cNvPr id="3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Let it read the news. </a:t>
            </a:r>
            <a:pPr indent="0" marL="0">
              <a:buNone/>
            </a:pPr>
            <a:r>
              <a:rPr lang="en-US" sz="1800" b="1" i="1" dirty="0">
                <a:solidFill>
                  <a:srgbClr val="6B7280"/>
                </a:solidFill>
              </a:rPr>
              <a:t>6 billion tokens instead of a new model, and news teaches 2–4× more than web text.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Taught in English, does it know it in German?</a:t>
            </a:r>
            <a:endParaRPr lang="en-US" sz="3200" dirty="0"/>
          </a:p>
        </p:txBody>
      </p:sp>
      <p:sp>
        <p:nvSpPr>
          <p:cNvPr id="4" name="Text 2"/>
          <p:cNvSpPr txBox="1"/>
          <p:nvPr/>
        </p:nvSpPr>
        <p:spPr>
          <a:xfrm>
            <a:off x="914400" y="2240280"/>
            <a:ext cx="2011680" cy="320040"/>
          </a:xfrm>
          <a:prstGeom prst="rect">
            <a:avLst/>
          </a:prstGeom>
          <a:noFill/>
          <a:ln/>
        </p:spPr>
        <p:txBody>
          <a:bodyPr wrap="square" lIns="0" tIns="0" rIns="0" bIns="0" rtlCol="0" anchor="ctr"/>
          <a:lstStyle/>
          <a:p>
            <a:pPr algn="ctr" indent="0" marL="0">
              <a:buNone/>
            </a:pPr>
            <a:r>
              <a:rPr lang="en-US" sz="1400" b="1" dirty="0">
                <a:solidFill>
                  <a:srgbClr val="6B7280"/>
                </a:solidFill>
              </a:rPr>
              <a:t>reads news in</a:t>
            </a:r>
            <a:endParaRPr lang="en-US" sz="1400" dirty="0"/>
          </a:p>
        </p:txBody>
      </p:sp>
      <p:sp>
        <p:nvSpPr>
          <p:cNvPr id="5" name="Shape 3"/>
          <p:cNvSpPr/>
          <p:nvPr/>
        </p:nvSpPr>
        <p:spPr>
          <a:xfrm>
            <a:off x="914400" y="2651760"/>
            <a:ext cx="2011680" cy="548640"/>
          </a:xfrm>
          <a:prstGeom prst="roundRect">
            <a:avLst>
              <a:gd name="adj" fmla="val 16667"/>
            </a:avLst>
          </a:prstGeom>
          <a:solidFill>
            <a:srgbClr val="2563EB"/>
          </a:solidFill>
          <a:ln w="12700">
            <a:solidFill>
              <a:srgbClr val="2563EB"/>
            </a:solidFill>
            <a:prstDash val="solid"/>
          </a:ln>
        </p:spPr>
      </p:sp>
      <p:sp>
        <p:nvSpPr>
          <p:cNvPr id="6" name="Text 4"/>
          <p:cNvSpPr txBox="1"/>
          <p:nvPr/>
        </p:nvSpPr>
        <p:spPr>
          <a:xfrm>
            <a:off x="914400" y="265176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EN</a:t>
            </a:r>
            <a:endParaRPr lang="en-US" sz="2000" dirty="0"/>
          </a:p>
        </p:txBody>
      </p:sp>
      <p:sp>
        <p:nvSpPr>
          <p:cNvPr id="7" name="Shape 5"/>
          <p:cNvSpPr/>
          <p:nvPr/>
        </p:nvSpPr>
        <p:spPr>
          <a:xfrm>
            <a:off x="914400" y="3383280"/>
            <a:ext cx="2011680" cy="548640"/>
          </a:xfrm>
          <a:prstGeom prst="roundRect">
            <a:avLst>
              <a:gd name="adj" fmla="val 16667"/>
            </a:avLst>
          </a:prstGeom>
          <a:solidFill>
            <a:srgbClr val="D97706"/>
          </a:solidFill>
          <a:ln w="12700">
            <a:solidFill>
              <a:srgbClr val="D97706"/>
            </a:solidFill>
            <a:prstDash val="solid"/>
          </a:ln>
        </p:spPr>
      </p:sp>
      <p:sp>
        <p:nvSpPr>
          <p:cNvPr id="8" name="Text 6"/>
          <p:cNvSpPr txBox="1"/>
          <p:nvPr/>
        </p:nvSpPr>
        <p:spPr>
          <a:xfrm>
            <a:off x="914400" y="338328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DE</a:t>
            </a:r>
            <a:endParaRPr lang="en-US" sz="2000" dirty="0"/>
          </a:p>
        </p:txBody>
      </p:sp>
      <p:sp>
        <p:nvSpPr>
          <p:cNvPr id="9" name="Shape 7"/>
          <p:cNvSpPr/>
          <p:nvPr/>
        </p:nvSpPr>
        <p:spPr>
          <a:xfrm>
            <a:off x="914400" y="4114800"/>
            <a:ext cx="2011680" cy="548640"/>
          </a:xfrm>
          <a:prstGeom prst="roundRect">
            <a:avLst>
              <a:gd name="adj" fmla="val 16667"/>
            </a:avLst>
          </a:prstGeom>
          <a:solidFill>
            <a:srgbClr val="7C3AED"/>
          </a:solidFill>
          <a:ln w="12700">
            <a:solidFill>
              <a:srgbClr val="7C3AED"/>
            </a:solidFill>
            <a:prstDash val="solid"/>
          </a:ln>
        </p:spPr>
      </p:sp>
      <p:sp>
        <p:nvSpPr>
          <p:cNvPr id="10" name="Text 8"/>
          <p:cNvSpPr txBox="1"/>
          <p:nvPr/>
        </p:nvSpPr>
        <p:spPr>
          <a:xfrm>
            <a:off x="914400" y="411480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FR</a:t>
            </a:r>
            <a:endParaRPr lang="en-US" sz="2000" dirty="0"/>
          </a:p>
        </p:txBody>
      </p:sp>
      <p:sp>
        <p:nvSpPr>
          <p:cNvPr id="11" name="Shape 9"/>
          <p:cNvSpPr/>
          <p:nvPr/>
        </p:nvSpPr>
        <p:spPr>
          <a:xfrm>
            <a:off x="3291840" y="3429000"/>
            <a:ext cx="1188720" cy="502920"/>
          </a:xfrm>
          <a:prstGeom prst="rightArrow">
            <a:avLst/>
          </a:prstGeom>
          <a:solidFill>
            <a:srgbClr val="9CA3AF"/>
          </a:solidFill>
          <a:ln w="12700">
            <a:solidFill>
              <a:srgbClr val="9CA3AF"/>
            </a:solidFill>
            <a:prstDash val="solid"/>
          </a:ln>
        </p:spPr>
      </p:sp>
      <p:sp>
        <p:nvSpPr>
          <p:cNvPr id="12" name="Text 10"/>
          <p:cNvSpPr txBox="1"/>
          <p:nvPr/>
        </p:nvSpPr>
        <p:spPr>
          <a:xfrm>
            <a:off x="4754880" y="3154680"/>
            <a:ext cx="2651760" cy="457200"/>
          </a:xfrm>
          <a:prstGeom prst="rect">
            <a:avLst/>
          </a:prstGeom>
          <a:noFill/>
          <a:ln/>
        </p:spPr>
        <p:txBody>
          <a:bodyPr wrap="square" lIns="0" tIns="0" rIns="0" bIns="0" rtlCol="0" anchor="ctr"/>
          <a:lstStyle/>
          <a:p>
            <a:pPr algn="ctr" indent="0" marL="0">
              <a:buNone/>
            </a:pPr>
            <a:r>
              <a:rPr lang="en-US" sz="2400" b="1" dirty="0">
                <a:solidFill>
                  <a:srgbClr val="111827"/>
                </a:solidFill>
              </a:rPr>
              <a:t>plain LLM</a:t>
            </a:r>
            <a:endParaRPr lang="en-US" sz="2400" dirty="0"/>
          </a:p>
        </p:txBody>
      </p:sp>
      <p:sp>
        <p:nvSpPr>
          <p:cNvPr id="13" name="Text 11"/>
          <p:cNvSpPr txBox="1"/>
          <p:nvPr/>
        </p:nvSpPr>
        <p:spPr>
          <a:xfrm>
            <a:off x="4754880" y="3611880"/>
            <a:ext cx="2651760" cy="365760"/>
          </a:xfrm>
          <a:prstGeom prst="rect">
            <a:avLst/>
          </a:prstGeom>
          <a:noFill/>
          <a:ln/>
        </p:spPr>
        <p:txBody>
          <a:bodyPr wrap="square" lIns="0" tIns="0" rIns="0" bIns="0" rtlCol="0" anchor="ctr"/>
          <a:lstStyle/>
          <a:p>
            <a:pPr algn="ctr" indent="0" marL="0">
              <a:buNone/>
            </a:pPr>
            <a:r>
              <a:rPr lang="en-US" sz="1400" dirty="0">
                <a:solidFill>
                  <a:srgbClr val="6B7280"/>
                </a:solidFill>
              </a:rPr>
              <a:t>no reasoning</a:t>
            </a:r>
            <a:endParaRPr lang="en-US" sz="1400" dirty="0"/>
          </a:p>
        </p:txBody>
      </p:sp>
      <p:sp>
        <p:nvSpPr>
          <p:cNvPr id="14" name="Shape 12"/>
          <p:cNvSpPr/>
          <p:nvPr/>
        </p:nvSpPr>
        <p:spPr>
          <a:xfrm>
            <a:off x="7680960" y="3429000"/>
            <a:ext cx="1188720" cy="502920"/>
          </a:xfrm>
          <a:prstGeom prst="rightArrow">
            <a:avLst/>
          </a:prstGeom>
          <a:solidFill>
            <a:srgbClr val="9CA3AF"/>
          </a:solidFill>
          <a:ln w="12700">
            <a:solidFill>
              <a:srgbClr val="9CA3AF"/>
            </a:solidFill>
            <a:prstDash val="solid"/>
          </a:ln>
        </p:spPr>
      </p:sp>
      <p:sp>
        <p:nvSpPr>
          <p:cNvPr id="15" name="Text 13"/>
          <p:cNvSpPr txBox="1"/>
          <p:nvPr/>
        </p:nvSpPr>
        <p:spPr>
          <a:xfrm>
            <a:off x="9144000" y="2240280"/>
            <a:ext cx="2103120" cy="320040"/>
          </a:xfrm>
          <a:prstGeom prst="rect">
            <a:avLst/>
          </a:prstGeom>
          <a:noFill/>
          <a:ln/>
        </p:spPr>
        <p:txBody>
          <a:bodyPr wrap="square" lIns="0" tIns="0" rIns="0" bIns="0" rtlCol="0" anchor="ctr"/>
          <a:lstStyle/>
          <a:p>
            <a:pPr algn="ctr" indent="0" marL="0">
              <a:buNone/>
            </a:pPr>
            <a:r>
              <a:rPr lang="en-US" sz="1400" b="1" dirty="0">
                <a:solidFill>
                  <a:srgbClr val="6B7280"/>
                </a:solidFill>
              </a:rPr>
              <a:t>same fact asked in</a:t>
            </a:r>
            <a:endParaRPr lang="en-US" sz="1400" dirty="0"/>
          </a:p>
        </p:txBody>
      </p:sp>
      <p:sp>
        <p:nvSpPr>
          <p:cNvPr id="16" name="Shape 14"/>
          <p:cNvSpPr/>
          <p:nvPr/>
        </p:nvSpPr>
        <p:spPr>
          <a:xfrm>
            <a:off x="9144000" y="2651760"/>
            <a:ext cx="2103120" cy="548640"/>
          </a:xfrm>
          <a:prstGeom prst="roundRect">
            <a:avLst>
              <a:gd name="adj" fmla="val 16667"/>
            </a:avLst>
          </a:prstGeom>
          <a:solidFill>
            <a:srgbClr val="FFFFFF"/>
          </a:solidFill>
          <a:ln w="31750">
            <a:solidFill>
              <a:srgbClr val="2563EB"/>
            </a:solidFill>
            <a:prstDash val="solid"/>
          </a:ln>
        </p:spPr>
      </p:sp>
      <p:sp>
        <p:nvSpPr>
          <p:cNvPr id="17" name="Text 15"/>
          <p:cNvSpPr txBox="1"/>
          <p:nvPr/>
        </p:nvSpPr>
        <p:spPr>
          <a:xfrm>
            <a:off x="9144000" y="265176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EN</a:t>
            </a:r>
            <a:endParaRPr lang="en-US" sz="2000" dirty="0"/>
          </a:p>
        </p:txBody>
      </p:sp>
      <p:sp>
        <p:nvSpPr>
          <p:cNvPr id="18" name="Shape 16"/>
          <p:cNvSpPr/>
          <p:nvPr/>
        </p:nvSpPr>
        <p:spPr>
          <a:xfrm>
            <a:off x="9144000" y="3383280"/>
            <a:ext cx="2103120" cy="548640"/>
          </a:xfrm>
          <a:prstGeom prst="roundRect">
            <a:avLst>
              <a:gd name="adj" fmla="val 16667"/>
            </a:avLst>
          </a:prstGeom>
          <a:solidFill>
            <a:srgbClr val="FFFFFF"/>
          </a:solidFill>
          <a:ln w="31750">
            <a:solidFill>
              <a:srgbClr val="D97706"/>
            </a:solidFill>
            <a:prstDash val="solid"/>
          </a:ln>
        </p:spPr>
      </p:sp>
      <p:sp>
        <p:nvSpPr>
          <p:cNvPr id="19" name="Text 17"/>
          <p:cNvSpPr txBox="1"/>
          <p:nvPr/>
        </p:nvSpPr>
        <p:spPr>
          <a:xfrm>
            <a:off x="9144000" y="338328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DE</a:t>
            </a:r>
            <a:endParaRPr lang="en-US" sz="2000" dirty="0"/>
          </a:p>
        </p:txBody>
      </p:sp>
      <p:sp>
        <p:nvSpPr>
          <p:cNvPr id="20" name="Shape 18"/>
          <p:cNvSpPr/>
          <p:nvPr/>
        </p:nvSpPr>
        <p:spPr>
          <a:xfrm>
            <a:off x="9144000" y="4114800"/>
            <a:ext cx="2103120" cy="548640"/>
          </a:xfrm>
          <a:prstGeom prst="roundRect">
            <a:avLst>
              <a:gd name="adj" fmla="val 16667"/>
            </a:avLst>
          </a:prstGeom>
          <a:solidFill>
            <a:srgbClr val="FFFFFF"/>
          </a:solidFill>
          <a:ln w="31750">
            <a:solidFill>
              <a:srgbClr val="7C3AED"/>
            </a:solidFill>
            <a:prstDash val="solid"/>
          </a:ln>
        </p:spPr>
      </p:sp>
      <p:sp>
        <p:nvSpPr>
          <p:cNvPr id="21" name="Text 19"/>
          <p:cNvSpPr txBox="1"/>
          <p:nvPr/>
        </p:nvSpPr>
        <p:spPr>
          <a:xfrm>
            <a:off x="9144000" y="411480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FR</a:t>
            </a:r>
            <a:endParaRPr lang="en-US" sz="2000" dirty="0"/>
          </a:p>
        </p:txBody>
      </p:sp>
      <p:sp>
        <p:nvSpPr>
          <p:cNvPr id="2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Plain model, no reasoning, same facts in three languages. </a:t>
            </a:r>
            <a:pPr indent="0" marL="0">
              <a:buNone/>
            </a:pPr>
            <a:r>
              <a:rPr lang="en-US" sz="1800" b="1" i="1" dirty="0">
                <a:solidFill>
                  <a:srgbClr val="6B7280"/>
                </a:solidFill>
              </a:rPr>
              <a:t>What's your guess?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 · THE ANSWER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Knowledge mostly doesn't speak a language. </a:t>
            </a:r>
            <a:pPr algn="l" indent="0" marL="0">
              <a:buNone/>
            </a:pPr>
            <a:r>
              <a:rPr lang="en-US" sz="3200" b="1" i="1" dirty="0">
                <a:solidFill>
                  <a:srgbClr val="6B7280"/>
                </a:solidFill>
              </a:rPr>
              <a:t>~70% carries over.</a:t>
            </a:r>
            <a:endParaRPr lang="en-US" sz="3200" dirty="0"/>
          </a:p>
        </p:txBody>
      </p:sp>
      <p:sp>
        <p:nvSpPr>
          <p:cNvPr id="4" name="Text 2"/>
          <p:cNvSpPr txBox="1"/>
          <p:nvPr/>
        </p:nvSpPr>
        <p:spPr>
          <a:xfrm>
            <a:off x="640080" y="2103120"/>
            <a:ext cx="10908792" cy="1828800"/>
          </a:xfrm>
          <a:prstGeom prst="rect">
            <a:avLst/>
          </a:prstGeom>
          <a:noFill/>
          <a:ln/>
        </p:spPr>
        <p:txBody>
          <a:bodyPr wrap="square" lIns="0" tIns="0" rIns="0" bIns="0" rtlCol="0" anchor="ctr"/>
          <a:lstStyle/>
          <a:p>
            <a:pPr algn="ctr" indent="0" marL="0">
              <a:buNone/>
            </a:pPr>
            <a:r>
              <a:rPr lang="en-US" sz="12000" b="1" dirty="0">
                <a:solidFill>
                  <a:srgbClr val="C2410C"/>
                </a:solidFill>
                <a:latin typeface="Cambria" pitchFamily="34" charset="0"/>
                <a:ea typeface="Cambria" pitchFamily="34" charset="-122"/>
                <a:cs typeface="Cambria" pitchFamily="34" charset="-120"/>
              </a:rPr>
              <a:t>~70%</a:t>
            </a:r>
            <a:endParaRPr lang="en-US" sz="12000" dirty="0"/>
          </a:p>
        </p:txBody>
      </p:sp>
      <p:sp>
        <p:nvSpPr>
          <p:cNvPr id="5" name="Shape 3"/>
          <p:cNvSpPr/>
          <p:nvPr/>
        </p:nvSpPr>
        <p:spPr>
          <a:xfrm>
            <a:off x="1554480" y="4206240"/>
            <a:ext cx="9052560" cy="502920"/>
          </a:xfrm>
          <a:prstGeom prst="roundRect">
            <a:avLst>
              <a:gd name="adj" fmla="val 18182"/>
            </a:avLst>
          </a:prstGeom>
          <a:solidFill>
            <a:srgbClr val="F3F4F6"/>
          </a:solidFill>
          <a:ln w="12700">
            <a:solidFill>
              <a:srgbClr val="E5E7EB"/>
            </a:solidFill>
            <a:prstDash val="solid"/>
          </a:ln>
        </p:spPr>
      </p:sp>
      <p:sp>
        <p:nvSpPr>
          <p:cNvPr id="6" name="Shape 4"/>
          <p:cNvSpPr/>
          <p:nvPr/>
        </p:nvSpPr>
        <p:spPr>
          <a:xfrm>
            <a:off x="1554480" y="4206240"/>
            <a:ext cx="6336792" cy="502920"/>
          </a:xfrm>
          <a:prstGeom prst="roundRect">
            <a:avLst>
              <a:gd name="adj" fmla="val 18182"/>
            </a:avLst>
          </a:prstGeom>
          <a:solidFill>
            <a:srgbClr val="C2410C"/>
          </a:solidFill>
          <a:ln w="12700">
            <a:solidFill>
              <a:srgbClr val="C2410C"/>
            </a:solidFill>
            <a:prstDash val="solid"/>
          </a:ln>
        </p:spPr>
      </p:sp>
      <p:sp>
        <p:nvSpPr>
          <p:cNvPr id="7" name="Text 5"/>
          <p:cNvSpPr txBox="1"/>
          <p:nvPr/>
        </p:nvSpPr>
        <p:spPr>
          <a:xfrm>
            <a:off x="1554480" y="4800600"/>
            <a:ext cx="3657600" cy="320040"/>
          </a:xfrm>
          <a:prstGeom prst="rect">
            <a:avLst/>
          </a:prstGeom>
          <a:noFill/>
          <a:ln/>
        </p:spPr>
        <p:txBody>
          <a:bodyPr wrap="square" lIns="0" tIns="0" rIns="0" bIns="0" rtlCol="0" anchor="ctr"/>
          <a:lstStyle/>
          <a:p>
            <a:pPr indent="0" marL="0">
              <a:buNone/>
            </a:pPr>
            <a:r>
              <a:rPr lang="en-US" sz="1400" b="1" dirty="0">
                <a:solidFill>
                  <a:srgbClr val="6B7280"/>
                </a:solidFill>
              </a:rPr>
              <a:t>learned in English</a:t>
            </a:r>
            <a:endParaRPr lang="en-US" sz="1400" dirty="0"/>
          </a:p>
        </p:txBody>
      </p:sp>
      <p:sp>
        <p:nvSpPr>
          <p:cNvPr id="8" name="Text 6"/>
          <p:cNvSpPr txBox="1"/>
          <p:nvPr/>
        </p:nvSpPr>
        <p:spPr>
          <a:xfrm>
            <a:off x="6949440" y="4800600"/>
            <a:ext cx="3657600" cy="320040"/>
          </a:xfrm>
          <a:prstGeom prst="rect">
            <a:avLst/>
          </a:prstGeom>
          <a:noFill/>
          <a:ln/>
        </p:spPr>
        <p:txBody>
          <a:bodyPr wrap="square" lIns="0" tIns="0" rIns="0" bIns="0" rtlCol="0" anchor="ctr"/>
          <a:lstStyle/>
          <a:p>
            <a:pPr algn="r" indent="0" marL="0">
              <a:buNone/>
            </a:pPr>
            <a:r>
              <a:rPr lang="en-US" sz="1400" b="1" dirty="0">
                <a:solidFill>
                  <a:srgbClr val="6B7280"/>
                </a:solidFill>
              </a:rPr>
              <a:t>100% = as good as asking in English</a:t>
            </a:r>
            <a:endParaRPr lang="en-US" sz="1400" dirty="0"/>
          </a:p>
        </p:txBody>
      </p:sp>
      <p:sp>
        <p:nvSpPr>
          <p:cNvPr id="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Learn it once, use it in the other two. </a:t>
            </a:r>
            <a:pPr indent="0" marL="0">
              <a:buNone/>
            </a:pPr>
            <a:r>
              <a:rPr lang="en-US" sz="1800" b="1" i="1" dirty="0">
                <a:solidFill>
                  <a:srgbClr val="6B7280"/>
                </a:solidFill>
              </a:rPr>
              <a:t>Asking in the language it read is still a bit better.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6</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What decides how much it learns?</a:t>
            </a:r>
            <a:endParaRPr lang="en-US" sz="3200" dirty="0"/>
          </a:p>
        </p:txBody>
      </p:sp>
      <p:sp>
        <p:nvSpPr>
          <p:cNvPr id="4" name="Shape 2"/>
          <p:cNvSpPr/>
          <p:nvPr/>
        </p:nvSpPr>
        <p:spPr>
          <a:xfrm>
            <a:off x="1463040" y="4663440"/>
            <a:ext cx="914400" cy="365760"/>
          </a:xfrm>
          <a:prstGeom prst="rect">
            <a:avLst/>
          </a:prstGeom>
          <a:solidFill>
            <a:srgbClr val="C2410C"/>
          </a:solidFill>
          <a:ln w="12700">
            <a:solidFill>
              <a:srgbClr val="C2410C"/>
            </a:solidFill>
            <a:prstDash val="solid"/>
          </a:ln>
        </p:spPr>
      </p:sp>
      <p:sp>
        <p:nvSpPr>
          <p:cNvPr id="5" name="Text 3"/>
          <p:cNvSpPr txBox="1"/>
          <p:nvPr/>
        </p:nvSpPr>
        <p:spPr>
          <a:xfrm>
            <a:off x="1280160" y="427939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+2</a:t>
            </a:r>
            <a:endParaRPr lang="en-US" sz="1600" dirty="0"/>
          </a:p>
        </p:txBody>
      </p:sp>
      <p:sp>
        <p:nvSpPr>
          <p:cNvPr id="6" name="Shape 4"/>
          <p:cNvSpPr/>
          <p:nvPr/>
        </p:nvSpPr>
        <p:spPr>
          <a:xfrm>
            <a:off x="2560320" y="4681728"/>
            <a:ext cx="914400" cy="347472"/>
          </a:xfrm>
          <a:prstGeom prst="rect">
            <a:avLst/>
          </a:prstGeom>
          <a:solidFill>
            <a:srgbClr val="FDBA74"/>
          </a:solidFill>
          <a:ln w="12700">
            <a:solidFill>
              <a:srgbClr val="FDBA74"/>
            </a:solidFill>
            <a:prstDash val="solid"/>
          </a:ln>
        </p:spPr>
      </p:sp>
      <p:sp>
        <p:nvSpPr>
          <p:cNvPr id="7" name="Text 5"/>
          <p:cNvSpPr txBox="1"/>
          <p:nvPr/>
        </p:nvSpPr>
        <p:spPr>
          <a:xfrm>
            <a:off x="2377440" y="4297680"/>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8" name="Shape 6"/>
          <p:cNvSpPr/>
          <p:nvPr/>
        </p:nvSpPr>
        <p:spPr>
          <a:xfrm>
            <a:off x="1325880" y="5029200"/>
            <a:ext cx="2286000" cy="0"/>
          </a:xfrm>
          <a:prstGeom prst="line">
            <a:avLst/>
          </a:prstGeom>
          <a:noFill/>
          <a:ln w="25400">
            <a:solidFill>
              <a:srgbClr val="111827"/>
            </a:solidFill>
            <a:prstDash val="solid"/>
          </a:ln>
        </p:spPr>
      </p:sp>
      <p:sp>
        <p:nvSpPr>
          <p:cNvPr id="9" name="Text 7"/>
          <p:cNvSpPr txBox="1"/>
          <p:nvPr/>
        </p:nvSpPr>
        <p:spPr>
          <a:xfrm>
            <a:off x="109728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a few times</a:t>
            </a:r>
            <a:endParaRPr lang="en-US" sz="1500" dirty="0"/>
          </a:p>
        </p:txBody>
      </p:sp>
      <p:sp>
        <p:nvSpPr>
          <p:cNvPr id="10" name="Shape 8"/>
          <p:cNvSpPr/>
          <p:nvPr/>
        </p:nvSpPr>
        <p:spPr>
          <a:xfrm>
            <a:off x="4754880" y="2743200"/>
            <a:ext cx="914400" cy="2286000"/>
          </a:xfrm>
          <a:prstGeom prst="rect">
            <a:avLst/>
          </a:prstGeom>
          <a:solidFill>
            <a:srgbClr val="C2410C"/>
          </a:solidFill>
          <a:ln w="12700">
            <a:solidFill>
              <a:srgbClr val="C2410C"/>
            </a:solidFill>
            <a:prstDash val="solid"/>
          </a:ln>
        </p:spPr>
      </p:sp>
      <p:sp>
        <p:nvSpPr>
          <p:cNvPr id="11" name="Text 9"/>
          <p:cNvSpPr txBox="1"/>
          <p:nvPr/>
        </p:nvSpPr>
        <p:spPr>
          <a:xfrm>
            <a:off x="4572000" y="235915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2" name="Shape 10"/>
          <p:cNvSpPr/>
          <p:nvPr/>
        </p:nvSpPr>
        <p:spPr>
          <a:xfrm>
            <a:off x="5852160" y="3291840"/>
            <a:ext cx="914400" cy="1737360"/>
          </a:xfrm>
          <a:prstGeom prst="rect">
            <a:avLst/>
          </a:prstGeom>
          <a:solidFill>
            <a:srgbClr val="FDBA74"/>
          </a:solidFill>
          <a:ln w="12700">
            <a:solidFill>
              <a:srgbClr val="FDBA74"/>
            </a:solidFill>
            <a:prstDash val="solid"/>
          </a:ln>
        </p:spPr>
      </p:sp>
      <p:sp>
        <p:nvSpPr>
          <p:cNvPr id="13" name="Text 11"/>
          <p:cNvSpPr txBox="1"/>
          <p:nvPr/>
        </p:nvSpPr>
        <p:spPr>
          <a:xfrm>
            <a:off x="5669280" y="2907792"/>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+9</a:t>
            </a:r>
            <a:endParaRPr lang="en-US" sz="1600" dirty="0"/>
          </a:p>
        </p:txBody>
      </p:sp>
      <p:sp>
        <p:nvSpPr>
          <p:cNvPr id="14" name="Shape 12"/>
          <p:cNvSpPr/>
          <p:nvPr/>
        </p:nvSpPr>
        <p:spPr>
          <a:xfrm>
            <a:off x="4617720" y="5029200"/>
            <a:ext cx="2286000" cy="0"/>
          </a:xfrm>
          <a:prstGeom prst="line">
            <a:avLst/>
          </a:prstGeom>
          <a:noFill/>
          <a:ln w="25400">
            <a:solidFill>
              <a:srgbClr val="111827"/>
            </a:solidFill>
            <a:prstDash val="solid"/>
          </a:ln>
        </p:spPr>
      </p:sp>
      <p:sp>
        <p:nvSpPr>
          <p:cNvPr id="15" name="Text 13"/>
          <p:cNvSpPr txBox="1"/>
          <p:nvPr/>
        </p:nvSpPr>
        <p:spPr>
          <a:xfrm>
            <a:off x="438912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200+ times</a:t>
            </a:r>
            <a:endParaRPr lang="en-US" sz="1500" dirty="0"/>
          </a:p>
        </p:txBody>
      </p:sp>
      <p:sp>
        <p:nvSpPr>
          <p:cNvPr id="16" name="Shape 14"/>
          <p:cNvSpPr/>
          <p:nvPr/>
        </p:nvSpPr>
        <p:spPr>
          <a:xfrm>
            <a:off x="8046720" y="3291840"/>
            <a:ext cx="274320" cy="274320"/>
          </a:xfrm>
          <a:prstGeom prst="rect">
            <a:avLst/>
          </a:prstGeom>
          <a:solidFill>
            <a:srgbClr val="C2410C"/>
          </a:solidFill>
          <a:ln w="12700">
            <a:solidFill>
              <a:srgbClr val="C2410C"/>
            </a:solidFill>
            <a:prstDash val="solid"/>
          </a:ln>
        </p:spPr>
      </p:sp>
      <p:sp>
        <p:nvSpPr>
          <p:cNvPr id="17" name="Text 15"/>
          <p:cNvSpPr txBox="1"/>
          <p:nvPr/>
        </p:nvSpPr>
        <p:spPr>
          <a:xfrm>
            <a:off x="8458200" y="324612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training language</a:t>
            </a:r>
            <a:endParaRPr lang="en-US" sz="1400" dirty="0"/>
          </a:p>
        </p:txBody>
      </p:sp>
      <p:sp>
        <p:nvSpPr>
          <p:cNvPr id="18" name="Shape 16"/>
          <p:cNvSpPr/>
          <p:nvPr/>
        </p:nvSpPr>
        <p:spPr>
          <a:xfrm>
            <a:off x="8046720" y="3840480"/>
            <a:ext cx="274320" cy="274320"/>
          </a:xfrm>
          <a:prstGeom prst="rect">
            <a:avLst/>
          </a:prstGeom>
          <a:solidFill>
            <a:srgbClr val="FDBA74"/>
          </a:solidFill>
          <a:ln w="12700">
            <a:solidFill>
              <a:srgbClr val="FDBA74"/>
            </a:solidFill>
            <a:prstDash val="solid"/>
          </a:ln>
        </p:spPr>
      </p:sp>
      <p:sp>
        <p:nvSpPr>
          <p:cNvPr id="19" name="Text 17"/>
          <p:cNvSpPr txBox="1"/>
          <p:nvPr/>
        </p:nvSpPr>
        <p:spPr>
          <a:xfrm>
            <a:off x="8458200" y="379476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other two</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Repetition, the same curve as in Way 1. </a:t>
            </a:r>
            <a:pPr indent="0" marL="0">
              <a:buNone/>
            </a:pPr>
            <a:r>
              <a:rPr lang="en-US" sz="1800" b="1" i="1" dirty="0">
                <a:solidFill>
                  <a:srgbClr val="6B7280"/>
                </a:solidFill>
              </a:rPr>
              <a:t>What the news repeats, the model learns, in every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7</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What does it cost?</a:t>
            </a:r>
            <a:endParaRPr lang="en-US" sz="3200" dirty="0"/>
          </a:p>
        </p:txBody>
      </p:sp>
      <p:sp>
        <p:nvSpPr>
          <p:cNvPr id="4" name="Shape 2"/>
          <p:cNvSpPr/>
          <p:nvPr/>
        </p:nvSpPr>
        <p:spPr>
          <a:xfrm>
            <a:off x="640080" y="2286000"/>
            <a:ext cx="5212080" cy="3108960"/>
          </a:xfrm>
          <a:prstGeom prst="roundRect">
            <a:avLst>
              <a:gd name="adj" fmla="val 3529"/>
            </a:avLst>
          </a:prstGeom>
          <a:solidFill>
            <a:srgbClr val="F9FAFB"/>
          </a:solidFill>
          <a:ln w="12700">
            <a:solidFill>
              <a:srgbClr val="E5E7EB"/>
            </a:solidFill>
            <a:prstDash val="solid"/>
          </a:ln>
        </p:spPr>
      </p:sp>
      <p:sp>
        <p:nvSpPr>
          <p:cNvPr id="5" name="Text 3"/>
          <p:cNvSpPr txBox="1"/>
          <p:nvPr/>
        </p:nvSpPr>
        <p:spPr>
          <a:xfrm>
            <a:off x="640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6B7280"/>
                </a:solidFill>
              </a:rPr>
              <a:t>FACTS FROM BEFORE 2023</a:t>
            </a:r>
            <a:endParaRPr lang="en-US" sz="1200" dirty="0"/>
          </a:p>
        </p:txBody>
      </p:sp>
      <p:sp>
        <p:nvSpPr>
          <p:cNvPr id="6" name="Text 4"/>
          <p:cNvSpPr txBox="1"/>
          <p:nvPr/>
        </p:nvSpPr>
        <p:spPr>
          <a:xfrm>
            <a:off x="640080" y="2926080"/>
            <a:ext cx="5212080" cy="1463040"/>
          </a:xfrm>
          <a:prstGeom prst="rect">
            <a:avLst/>
          </a:prstGeom>
          <a:noFill/>
          <a:ln/>
        </p:spPr>
        <p:txBody>
          <a:bodyPr wrap="square" lIns="0" tIns="0" rIns="0" bIns="0" rtlCol="0" anchor="ctr"/>
          <a:lstStyle/>
          <a:p>
            <a:pPr algn="ctr" indent="0" marL="0">
              <a:buNone/>
            </a:pPr>
            <a:r>
              <a:rPr lang="en-US" sz="8400" b="1" dirty="0">
                <a:solidFill>
                  <a:srgbClr val="111827"/>
                </a:solidFill>
                <a:latin typeface="Cambria" pitchFamily="34" charset="0"/>
                <a:ea typeface="Cambria" pitchFamily="34" charset="-122"/>
                <a:cs typeface="Cambria" pitchFamily="34" charset="-120"/>
              </a:rPr>
              <a:t>+0.3</a:t>
            </a:r>
            <a:endParaRPr lang="en-US" sz="8400" dirty="0"/>
          </a:p>
        </p:txBody>
      </p:sp>
      <p:sp>
        <p:nvSpPr>
          <p:cNvPr id="7" name="Text 5"/>
          <p:cNvSpPr txBox="1"/>
          <p:nvPr/>
        </p:nvSpPr>
        <p:spPr>
          <a:xfrm>
            <a:off x="640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nothing forgotten</a:t>
            </a:r>
            <a:endParaRPr lang="en-US" sz="1600" dirty="0"/>
          </a:p>
        </p:txBody>
      </p:sp>
      <p:sp>
        <p:nvSpPr>
          <p:cNvPr id="8" name="Shape 6"/>
          <p:cNvSpPr/>
          <p:nvPr/>
        </p:nvSpPr>
        <p:spPr>
          <a:xfrm>
            <a:off x="6355080" y="2286000"/>
            <a:ext cx="5212080" cy="3108960"/>
          </a:xfrm>
          <a:prstGeom prst="roundRect">
            <a:avLst>
              <a:gd name="adj" fmla="val 3529"/>
            </a:avLst>
          </a:prstGeom>
          <a:solidFill>
            <a:srgbClr val="FFF7ED"/>
          </a:solidFill>
          <a:ln w="12700">
            <a:solidFill>
              <a:srgbClr val="FDBA74"/>
            </a:solidFill>
            <a:prstDash val="solid"/>
          </a:ln>
        </p:spPr>
      </p:sp>
      <p:sp>
        <p:nvSpPr>
          <p:cNvPr id="9" name="Text 7"/>
          <p:cNvSpPr txBox="1"/>
          <p:nvPr/>
        </p:nvSpPr>
        <p:spPr>
          <a:xfrm>
            <a:off x="6355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C2410C"/>
                </a:solidFill>
              </a:rPr>
              <a:t>GENERAL SKILLS · 20 TESTS</a:t>
            </a:r>
            <a:endParaRPr lang="en-US" sz="1200" dirty="0"/>
          </a:p>
        </p:txBody>
      </p:sp>
      <p:sp>
        <p:nvSpPr>
          <p:cNvPr id="10" name="Text 8"/>
          <p:cNvSpPr txBox="1"/>
          <p:nvPr/>
        </p:nvSpPr>
        <p:spPr>
          <a:xfrm>
            <a:off x="6355080" y="2926080"/>
            <a:ext cx="5212080" cy="1463040"/>
          </a:xfrm>
          <a:prstGeom prst="rect">
            <a:avLst/>
          </a:prstGeom>
          <a:noFill/>
          <a:ln/>
        </p:spPr>
        <p:txBody>
          <a:bodyPr wrap="square" lIns="0" tIns="0" rIns="0" bIns="0" rtlCol="0" anchor="ctr"/>
          <a:lstStyle/>
          <a:p>
            <a:pPr algn="ctr" indent="0" marL="0">
              <a:buNone/>
            </a:pPr>
            <a:r>
              <a:rPr lang="en-US" sz="8400" b="1" dirty="0">
                <a:solidFill>
                  <a:srgbClr val="C2410C"/>
                </a:solidFill>
                <a:latin typeface="Cambria" pitchFamily="34" charset="0"/>
                <a:ea typeface="Cambria" pitchFamily="34" charset="-122"/>
                <a:cs typeface="Cambria" pitchFamily="34" charset="-120"/>
              </a:rPr>
              <a:t>−1.2</a:t>
            </a:r>
            <a:endParaRPr lang="en-US" sz="8400" dirty="0"/>
          </a:p>
        </p:txBody>
      </p:sp>
      <p:sp>
        <p:nvSpPr>
          <p:cNvPr id="11" name="Text 9"/>
          <p:cNvSpPr txBox="1"/>
          <p:nvPr/>
        </p:nvSpPr>
        <p:spPr>
          <a:xfrm>
            <a:off x="6355080" y="452628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after French-only news</a:t>
            </a:r>
            <a:endParaRPr lang="en-US" sz="1600" dirty="0"/>
          </a:p>
        </p:txBody>
      </p:sp>
      <p:sp>
        <p:nvSpPr>
          <p:cNvPr id="12" name="Text 10"/>
          <p:cNvSpPr txBox="1"/>
          <p:nvPr/>
        </p:nvSpPr>
        <p:spPr>
          <a:xfrm>
            <a:off x="6355080" y="4846320"/>
            <a:ext cx="5212080" cy="365760"/>
          </a:xfrm>
          <a:prstGeom prst="rect">
            <a:avLst/>
          </a:prstGeom>
          <a:noFill/>
          <a:ln/>
        </p:spPr>
        <p:txBody>
          <a:bodyPr wrap="square" lIns="0" tIns="0" rIns="0" bIns="0" rtlCol="0" anchor="ctr"/>
          <a:lstStyle/>
          <a:p>
            <a:pPr algn="ctr" indent="0" marL="0">
              <a:buNone/>
            </a:pPr>
            <a:r>
              <a:rPr lang="en-US" sz="1600" b="1" dirty="0">
                <a:solidFill>
                  <a:srgbClr val="374151"/>
                </a:solidFill>
              </a:rPr>
              <a:t>+0.3</a:t>
            </a:r>
            <a:pPr algn="ctr" indent="0" marL="0">
              <a:buNone/>
            </a:pPr>
            <a:r>
              <a:rPr lang="en-US" sz="1600" dirty="0">
                <a:solidFill>
                  <a:srgbClr val="374151"/>
                </a:solidFill>
              </a:rPr>
              <a:t> if you only test in French</a:t>
            </a:r>
            <a:endParaRPr lang="en-US" sz="1600" dirty="0"/>
          </a:p>
        </p:txBody>
      </p:sp>
      <p:sp>
        <p:nvSpPr>
          <p:cNvPr id="13"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Old facts stay, general skills slip. </a:t>
            </a:r>
            <a:pPr indent="0" marL="0">
              <a:buNone/>
            </a:pPr>
            <a:r>
              <a:rPr lang="en-US" sz="1800" b="1" i="1" dirty="0">
                <a:solidFill>
                  <a:srgbClr val="6B7280"/>
                </a:solidFill>
              </a:rPr>
              <a:t>And you only see it if you test beyond the training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8</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keep the facts without the cost?</a:t>
            </a:r>
            <a:endParaRPr lang="en-US" sz="3200" dirty="0"/>
          </a:p>
        </p:txBody>
      </p:sp>
      <p:sp>
        <p:nvSpPr>
          <p:cNvPr id="4" name="Text 2"/>
          <p:cNvSpPr txBox="1"/>
          <p:nvPr/>
        </p:nvSpPr>
        <p:spPr>
          <a:xfrm>
            <a:off x="82296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new facts learned</a:t>
            </a:r>
            <a:endParaRPr lang="en-US" sz="1400" dirty="0"/>
          </a:p>
        </p:txBody>
      </p:sp>
      <p:sp>
        <p:nvSpPr>
          <p:cNvPr id="5" name="Shape 3"/>
          <p:cNvSpPr/>
          <p:nvPr/>
        </p:nvSpPr>
        <p:spPr>
          <a:xfrm>
            <a:off x="914400" y="3474720"/>
            <a:ext cx="731520" cy="1371600"/>
          </a:xfrm>
          <a:prstGeom prst="rect">
            <a:avLst/>
          </a:prstGeom>
          <a:solidFill>
            <a:srgbClr val="2563EB"/>
          </a:solidFill>
          <a:ln w="12700">
            <a:solidFill>
              <a:srgbClr val="2563EB"/>
            </a:solidFill>
            <a:prstDash val="solid"/>
          </a:ln>
        </p:spPr>
      </p:sp>
      <p:sp>
        <p:nvSpPr>
          <p:cNvPr id="6" name="Text 4"/>
          <p:cNvSpPr txBox="1"/>
          <p:nvPr/>
        </p:nvSpPr>
        <p:spPr>
          <a:xfrm>
            <a:off x="731520" y="309067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+3.4</a:t>
            </a:r>
            <a:endParaRPr lang="en-US" sz="1600" dirty="0"/>
          </a:p>
        </p:txBody>
      </p:sp>
      <p:sp>
        <p:nvSpPr>
          <p:cNvPr id="7" name="Text 5"/>
          <p:cNvSpPr txBox="1"/>
          <p:nvPr/>
        </p:nvSpPr>
        <p:spPr>
          <a:xfrm>
            <a:off x="82296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8" name="Shape 6"/>
          <p:cNvSpPr/>
          <p:nvPr/>
        </p:nvSpPr>
        <p:spPr>
          <a:xfrm>
            <a:off x="1874520" y="3794760"/>
            <a:ext cx="731520" cy="1051560"/>
          </a:xfrm>
          <a:prstGeom prst="rect">
            <a:avLst/>
          </a:prstGeom>
          <a:solidFill>
            <a:srgbClr val="D97706"/>
          </a:solidFill>
          <a:ln w="12700">
            <a:solidFill>
              <a:srgbClr val="D97706"/>
            </a:solidFill>
            <a:prstDash val="solid"/>
          </a:ln>
        </p:spPr>
      </p:sp>
      <p:sp>
        <p:nvSpPr>
          <p:cNvPr id="9" name="Text 7"/>
          <p:cNvSpPr txBox="1"/>
          <p:nvPr/>
        </p:nvSpPr>
        <p:spPr>
          <a:xfrm>
            <a:off x="1691640" y="341071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+2.6</a:t>
            </a:r>
            <a:endParaRPr lang="en-US" sz="1600" dirty="0"/>
          </a:p>
        </p:txBody>
      </p:sp>
      <p:sp>
        <p:nvSpPr>
          <p:cNvPr id="10" name="Text 8"/>
          <p:cNvSpPr txBox="1"/>
          <p:nvPr/>
        </p:nvSpPr>
        <p:spPr>
          <a:xfrm>
            <a:off x="178308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11" name="Shape 9"/>
          <p:cNvSpPr/>
          <p:nvPr/>
        </p:nvSpPr>
        <p:spPr>
          <a:xfrm>
            <a:off x="2834640" y="3520440"/>
            <a:ext cx="731520" cy="1325880"/>
          </a:xfrm>
          <a:prstGeom prst="rect">
            <a:avLst/>
          </a:prstGeom>
          <a:solidFill>
            <a:srgbClr val="7C3AED"/>
          </a:solidFill>
          <a:ln w="12700">
            <a:solidFill>
              <a:srgbClr val="7C3AED"/>
            </a:solidFill>
            <a:prstDash val="solid"/>
          </a:ln>
        </p:spPr>
      </p:sp>
      <p:sp>
        <p:nvSpPr>
          <p:cNvPr id="12" name="Text 10"/>
          <p:cNvSpPr txBox="1"/>
          <p:nvPr/>
        </p:nvSpPr>
        <p:spPr>
          <a:xfrm>
            <a:off x="2651760" y="313639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+3.3</a:t>
            </a:r>
            <a:endParaRPr lang="en-US" sz="1600" dirty="0"/>
          </a:p>
        </p:txBody>
      </p:sp>
      <p:sp>
        <p:nvSpPr>
          <p:cNvPr id="13" name="Text 11"/>
          <p:cNvSpPr txBox="1"/>
          <p:nvPr/>
        </p:nvSpPr>
        <p:spPr>
          <a:xfrm>
            <a:off x="274320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14" name="Shape 12"/>
          <p:cNvSpPr/>
          <p:nvPr/>
        </p:nvSpPr>
        <p:spPr>
          <a:xfrm>
            <a:off x="3794760" y="2834640"/>
            <a:ext cx="731520" cy="2011680"/>
          </a:xfrm>
          <a:prstGeom prst="rect">
            <a:avLst/>
          </a:prstGeom>
          <a:solidFill>
            <a:srgbClr val="C2410C"/>
          </a:solidFill>
          <a:ln w="12700">
            <a:solidFill>
              <a:srgbClr val="C2410C"/>
            </a:solidFill>
            <a:prstDash val="solid"/>
          </a:ln>
        </p:spPr>
      </p:sp>
      <p:sp>
        <p:nvSpPr>
          <p:cNvPr id="15" name="Text 13"/>
          <p:cNvSpPr txBox="1"/>
          <p:nvPr/>
        </p:nvSpPr>
        <p:spPr>
          <a:xfrm>
            <a:off x="3611880" y="2450592"/>
            <a:ext cx="1097280" cy="365760"/>
          </a:xfrm>
          <a:prstGeom prst="rect">
            <a:avLst/>
          </a:prstGeom>
          <a:noFill/>
          <a:ln/>
        </p:spPr>
        <p:txBody>
          <a:bodyPr wrap="square" lIns="0" tIns="0" rIns="0" bIns="0" rtlCol="0" anchor="ctr"/>
          <a:lstStyle/>
          <a:p>
            <a:pPr algn="ctr" indent="0" marL="0">
              <a:buNone/>
            </a:pPr>
            <a:r>
              <a:rPr lang="en-US" sz="1600" b="1" dirty="0">
                <a:solidFill>
                  <a:srgbClr val="C2410C"/>
                </a:solidFill>
              </a:rPr>
              <a:t>+5.0</a:t>
            </a:r>
            <a:endParaRPr lang="en-US" sz="1600" dirty="0"/>
          </a:p>
        </p:txBody>
      </p:sp>
      <p:sp>
        <p:nvSpPr>
          <p:cNvPr id="16" name="Text 14"/>
          <p:cNvSpPr txBox="1"/>
          <p:nvPr/>
        </p:nvSpPr>
        <p:spPr>
          <a:xfrm>
            <a:off x="370332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17" name="Shape 15"/>
          <p:cNvSpPr/>
          <p:nvPr/>
        </p:nvSpPr>
        <p:spPr>
          <a:xfrm>
            <a:off x="777240" y="4846320"/>
            <a:ext cx="3840480" cy="0"/>
          </a:xfrm>
          <a:prstGeom prst="line">
            <a:avLst/>
          </a:prstGeom>
          <a:noFill/>
          <a:ln w="25400">
            <a:solidFill>
              <a:srgbClr val="111827"/>
            </a:solidFill>
            <a:prstDash val="solid"/>
          </a:ln>
        </p:spPr>
      </p:sp>
      <p:sp>
        <p:nvSpPr>
          <p:cNvPr id="18" name="Text 16"/>
          <p:cNvSpPr txBox="1"/>
          <p:nvPr/>
        </p:nvSpPr>
        <p:spPr>
          <a:xfrm>
            <a:off x="658368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skills lost</a:t>
            </a:r>
            <a:endParaRPr lang="en-US" sz="1400" dirty="0"/>
          </a:p>
        </p:txBody>
      </p:sp>
      <p:sp>
        <p:nvSpPr>
          <p:cNvPr id="19" name="Shape 17"/>
          <p:cNvSpPr/>
          <p:nvPr/>
        </p:nvSpPr>
        <p:spPr>
          <a:xfrm>
            <a:off x="6537960" y="2651760"/>
            <a:ext cx="3840480" cy="0"/>
          </a:xfrm>
          <a:prstGeom prst="line">
            <a:avLst/>
          </a:prstGeom>
          <a:noFill/>
          <a:ln w="25400">
            <a:solidFill>
              <a:srgbClr val="111827"/>
            </a:solidFill>
            <a:prstDash val="solid"/>
          </a:ln>
        </p:spPr>
      </p:sp>
      <p:sp>
        <p:nvSpPr>
          <p:cNvPr id="20" name="Shape 18"/>
          <p:cNvSpPr/>
          <p:nvPr/>
        </p:nvSpPr>
        <p:spPr>
          <a:xfrm>
            <a:off x="6675120" y="2651760"/>
            <a:ext cx="731520" cy="640080"/>
          </a:xfrm>
          <a:prstGeom prst="rect">
            <a:avLst/>
          </a:prstGeom>
          <a:solidFill>
            <a:srgbClr val="2563EB"/>
          </a:solidFill>
          <a:ln w="12700">
            <a:solidFill>
              <a:srgbClr val="2563EB"/>
            </a:solidFill>
            <a:prstDash val="solid"/>
          </a:ln>
        </p:spPr>
      </p:sp>
      <p:sp>
        <p:nvSpPr>
          <p:cNvPr id="21" name="Text 19"/>
          <p:cNvSpPr txBox="1"/>
          <p:nvPr/>
        </p:nvSpPr>
        <p:spPr>
          <a:xfrm>
            <a:off x="6492240" y="3337560"/>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−0.5</a:t>
            </a:r>
            <a:endParaRPr lang="en-US" sz="1600" dirty="0"/>
          </a:p>
        </p:txBody>
      </p:sp>
      <p:sp>
        <p:nvSpPr>
          <p:cNvPr id="22" name="Text 20"/>
          <p:cNvSpPr txBox="1"/>
          <p:nvPr/>
        </p:nvSpPr>
        <p:spPr>
          <a:xfrm>
            <a:off x="6583680" y="365760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23" name="Shape 21"/>
          <p:cNvSpPr/>
          <p:nvPr/>
        </p:nvSpPr>
        <p:spPr>
          <a:xfrm>
            <a:off x="7635240" y="2651760"/>
            <a:ext cx="731520" cy="1645920"/>
          </a:xfrm>
          <a:prstGeom prst="rect">
            <a:avLst/>
          </a:prstGeom>
          <a:solidFill>
            <a:srgbClr val="D97706"/>
          </a:solidFill>
          <a:ln w="12700">
            <a:solidFill>
              <a:srgbClr val="D97706"/>
            </a:solidFill>
            <a:prstDash val="solid"/>
          </a:ln>
        </p:spPr>
      </p:sp>
      <p:sp>
        <p:nvSpPr>
          <p:cNvPr id="24" name="Text 22"/>
          <p:cNvSpPr txBox="1"/>
          <p:nvPr/>
        </p:nvSpPr>
        <p:spPr>
          <a:xfrm>
            <a:off x="7452360" y="434340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−1.3</a:t>
            </a:r>
            <a:endParaRPr lang="en-US" sz="1600" dirty="0"/>
          </a:p>
        </p:txBody>
      </p:sp>
      <p:sp>
        <p:nvSpPr>
          <p:cNvPr id="25" name="Text 23"/>
          <p:cNvSpPr txBox="1"/>
          <p:nvPr/>
        </p:nvSpPr>
        <p:spPr>
          <a:xfrm>
            <a:off x="7543800" y="466344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26" name="Shape 24"/>
          <p:cNvSpPr/>
          <p:nvPr/>
        </p:nvSpPr>
        <p:spPr>
          <a:xfrm>
            <a:off x="8595360" y="2651760"/>
            <a:ext cx="731520" cy="1508760"/>
          </a:xfrm>
          <a:prstGeom prst="rect">
            <a:avLst/>
          </a:prstGeom>
          <a:solidFill>
            <a:srgbClr val="7C3AED"/>
          </a:solidFill>
          <a:ln w="12700">
            <a:solidFill>
              <a:srgbClr val="7C3AED"/>
            </a:solidFill>
            <a:prstDash val="solid"/>
          </a:ln>
        </p:spPr>
      </p:sp>
      <p:sp>
        <p:nvSpPr>
          <p:cNvPr id="27" name="Text 25"/>
          <p:cNvSpPr txBox="1"/>
          <p:nvPr/>
        </p:nvSpPr>
        <p:spPr>
          <a:xfrm>
            <a:off x="8412480" y="420624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28" name="Text 26"/>
          <p:cNvSpPr txBox="1"/>
          <p:nvPr/>
        </p:nvSpPr>
        <p:spPr>
          <a:xfrm>
            <a:off x="8503920" y="452628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29" name="Shape 27"/>
          <p:cNvSpPr/>
          <p:nvPr/>
        </p:nvSpPr>
        <p:spPr>
          <a:xfrm>
            <a:off x="9555480" y="2651760"/>
            <a:ext cx="731520" cy="384048"/>
          </a:xfrm>
          <a:prstGeom prst="rect">
            <a:avLst/>
          </a:prstGeom>
          <a:solidFill>
            <a:srgbClr val="C2410C"/>
          </a:solidFill>
          <a:ln w="12700">
            <a:solidFill>
              <a:srgbClr val="C2410C"/>
            </a:solidFill>
            <a:prstDash val="solid"/>
          </a:ln>
        </p:spPr>
      </p:sp>
      <p:sp>
        <p:nvSpPr>
          <p:cNvPr id="30" name="Text 28"/>
          <p:cNvSpPr txBox="1"/>
          <p:nvPr/>
        </p:nvSpPr>
        <p:spPr>
          <a:xfrm>
            <a:off x="9372600" y="3081528"/>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−0.3</a:t>
            </a:r>
            <a:endParaRPr lang="en-US" sz="1600" dirty="0"/>
          </a:p>
        </p:txBody>
      </p:sp>
      <p:sp>
        <p:nvSpPr>
          <p:cNvPr id="31" name="Text 29"/>
          <p:cNvSpPr txBox="1"/>
          <p:nvPr/>
        </p:nvSpPr>
        <p:spPr>
          <a:xfrm>
            <a:off x="9464040" y="3401568"/>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3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Mixing helps: more facts, less damage. </a:t>
            </a:r>
            <a:pPr indent="0" marL="0">
              <a:buNone/>
            </a:pPr>
            <a:r>
              <a:rPr lang="en-US" sz="1800" b="1" i="1" dirty="0">
                <a:solidFill>
                  <a:srgbClr val="6B7280"/>
                </a:solidFill>
              </a:rPr>
              <a:t>But can we do better without training at all?</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8 · THE TRICK</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Three models, one average. </a:t>
            </a:r>
            <a:pPr algn="l" indent="0" marL="0">
              <a:buNone/>
            </a:pPr>
            <a:r>
              <a:rPr lang="en-US" sz="3200" b="1" i="1" dirty="0">
                <a:solidFill>
                  <a:srgbClr val="6B7280"/>
                </a:solidFill>
              </a:rPr>
              <a:t>No training.</a:t>
            </a:r>
            <a:endParaRPr lang="en-US" sz="3200" dirty="0"/>
          </a:p>
        </p:txBody>
      </p:sp>
      <p:sp>
        <p:nvSpPr>
          <p:cNvPr id="4" name="Shape 2"/>
          <p:cNvSpPr/>
          <p:nvPr/>
        </p:nvSpPr>
        <p:spPr>
          <a:xfrm>
            <a:off x="1280160" y="2743200"/>
            <a:ext cx="1005840" cy="1005840"/>
          </a:xfrm>
          <a:prstGeom prst="ellipse">
            <a:avLst/>
          </a:prstGeom>
          <a:solidFill>
            <a:srgbClr val="2563EB"/>
          </a:solidFill>
          <a:ln w="12700">
            <a:solidFill>
              <a:srgbClr val="2563EB"/>
            </a:solidFill>
            <a:prstDash val="solid"/>
          </a:ln>
        </p:spPr>
      </p:sp>
      <p:sp>
        <p:nvSpPr>
          <p:cNvPr id="5" name="Text 3"/>
          <p:cNvSpPr txBox="1"/>
          <p:nvPr/>
        </p:nvSpPr>
        <p:spPr>
          <a:xfrm>
            <a:off x="128016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EN</a:t>
            </a:r>
            <a:endParaRPr lang="en-US" sz="2600" dirty="0"/>
          </a:p>
        </p:txBody>
      </p:sp>
      <p:sp>
        <p:nvSpPr>
          <p:cNvPr id="6" name="Text 4"/>
          <p:cNvSpPr txBox="1"/>
          <p:nvPr/>
        </p:nvSpPr>
        <p:spPr>
          <a:xfrm>
            <a:off x="237744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7" name="Shape 5"/>
          <p:cNvSpPr/>
          <p:nvPr/>
        </p:nvSpPr>
        <p:spPr>
          <a:xfrm>
            <a:off x="2926080" y="2743200"/>
            <a:ext cx="1005840" cy="1005840"/>
          </a:xfrm>
          <a:prstGeom prst="ellipse">
            <a:avLst/>
          </a:prstGeom>
          <a:solidFill>
            <a:srgbClr val="D97706"/>
          </a:solidFill>
          <a:ln w="12700">
            <a:solidFill>
              <a:srgbClr val="D97706"/>
            </a:solidFill>
            <a:prstDash val="solid"/>
          </a:ln>
        </p:spPr>
      </p:sp>
      <p:sp>
        <p:nvSpPr>
          <p:cNvPr id="8" name="Text 6"/>
          <p:cNvSpPr txBox="1"/>
          <p:nvPr/>
        </p:nvSpPr>
        <p:spPr>
          <a:xfrm>
            <a:off x="292608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DE</a:t>
            </a:r>
            <a:endParaRPr lang="en-US" sz="2600" dirty="0"/>
          </a:p>
        </p:txBody>
      </p:sp>
      <p:sp>
        <p:nvSpPr>
          <p:cNvPr id="9" name="Text 7"/>
          <p:cNvSpPr txBox="1"/>
          <p:nvPr/>
        </p:nvSpPr>
        <p:spPr>
          <a:xfrm>
            <a:off x="402336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10" name="Shape 8"/>
          <p:cNvSpPr/>
          <p:nvPr/>
        </p:nvSpPr>
        <p:spPr>
          <a:xfrm>
            <a:off x="4572000" y="2743200"/>
            <a:ext cx="1005840" cy="1005840"/>
          </a:xfrm>
          <a:prstGeom prst="ellipse">
            <a:avLst/>
          </a:prstGeom>
          <a:solidFill>
            <a:srgbClr val="7C3AED"/>
          </a:solidFill>
          <a:ln w="12700">
            <a:solidFill>
              <a:srgbClr val="7C3AED"/>
            </a:solidFill>
            <a:prstDash val="solid"/>
          </a:ln>
        </p:spPr>
      </p:sp>
      <p:sp>
        <p:nvSpPr>
          <p:cNvPr id="11" name="Text 9"/>
          <p:cNvSpPr txBox="1"/>
          <p:nvPr/>
        </p:nvSpPr>
        <p:spPr>
          <a:xfrm>
            <a:off x="457200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FR</a:t>
            </a:r>
            <a:endParaRPr lang="en-US" sz="2600" dirty="0"/>
          </a:p>
        </p:txBody>
      </p:sp>
      <p:sp>
        <p:nvSpPr>
          <p:cNvPr id="12" name="Text 10"/>
          <p:cNvSpPr txBox="1"/>
          <p:nvPr/>
        </p:nvSpPr>
        <p:spPr>
          <a:xfrm>
            <a:off x="5669280" y="2743200"/>
            <a:ext cx="1463040" cy="1005840"/>
          </a:xfrm>
          <a:prstGeom prst="rect">
            <a:avLst/>
          </a:prstGeom>
          <a:noFill/>
          <a:ln/>
        </p:spPr>
        <p:txBody>
          <a:bodyPr wrap="square" lIns="0" tIns="0" rIns="0" bIns="0" rtlCol="0" anchor="ctr"/>
          <a:lstStyle/>
          <a:p>
            <a:pPr algn="ctr" indent="0" marL="0">
              <a:buNone/>
            </a:pPr>
            <a:r>
              <a:rPr lang="en-US" sz="3600" b="1" dirty="0">
                <a:solidFill>
                  <a:srgbClr val="9CA3AF"/>
                </a:solidFill>
              </a:rPr>
              <a:t>÷ 3  =</a:t>
            </a:r>
            <a:endParaRPr lang="en-US" sz="3600" dirty="0"/>
          </a:p>
        </p:txBody>
      </p:sp>
      <p:sp>
        <p:nvSpPr>
          <p:cNvPr id="13" name="Shape 11"/>
          <p:cNvSpPr/>
          <p:nvPr/>
        </p:nvSpPr>
        <p:spPr>
          <a:xfrm>
            <a:off x="7315200" y="2560320"/>
            <a:ext cx="1371600" cy="1371600"/>
          </a:xfrm>
          <a:prstGeom prst="ellipse">
            <a:avLst/>
          </a:prstGeom>
          <a:solidFill>
            <a:srgbClr val="C2410C"/>
          </a:solidFill>
          <a:ln w="12700">
            <a:solidFill>
              <a:srgbClr val="C2410C"/>
            </a:solidFill>
            <a:prstDash val="solid"/>
          </a:ln>
        </p:spPr>
      </p:sp>
      <p:sp>
        <p:nvSpPr>
          <p:cNvPr id="14" name="Text 12"/>
          <p:cNvSpPr txBox="1"/>
          <p:nvPr/>
        </p:nvSpPr>
        <p:spPr>
          <a:xfrm>
            <a:off x="7315200" y="2560320"/>
            <a:ext cx="1371600" cy="1371600"/>
          </a:xfrm>
          <a:prstGeom prst="rect">
            <a:avLst/>
          </a:prstGeom>
          <a:noFill/>
          <a:ln/>
        </p:spPr>
        <p:txBody>
          <a:bodyPr wrap="square" lIns="0" tIns="0" rIns="0" bIns="0" rtlCol="0" anchor="ctr"/>
          <a:lstStyle/>
          <a:p>
            <a:pPr algn="ctr" indent="0" marL="0">
              <a:buNone/>
            </a:pPr>
            <a:r>
              <a:rPr lang="en-US" sz="4800" dirty="0">
                <a:solidFill>
                  <a:srgbClr val="FFFFFF"/>
                </a:solidFill>
              </a:rPr>
              <a:t>★</a:t>
            </a:r>
            <a:endParaRPr lang="en-US" sz="4800" dirty="0"/>
          </a:p>
        </p:txBody>
      </p:sp>
      <p:sp>
        <p:nvSpPr>
          <p:cNvPr id="15" name="Text 13"/>
          <p:cNvSpPr txBox="1"/>
          <p:nvPr/>
        </p:nvSpPr>
        <p:spPr>
          <a:xfrm>
            <a:off x="1280160" y="4206240"/>
            <a:ext cx="2377440" cy="914400"/>
          </a:xfrm>
          <a:prstGeom prst="rect">
            <a:avLst/>
          </a:prstGeom>
          <a:noFill/>
          <a:ln/>
        </p:spPr>
        <p:txBody>
          <a:bodyPr wrap="square" lIns="0" tIns="0" rIns="0" bIns="0" rtlCol="0" anchor="ctr"/>
          <a:lstStyle/>
          <a:p>
            <a:pPr algn="ctr" indent="0" marL="0">
              <a:buNone/>
            </a:pPr>
            <a:r>
              <a:rPr lang="en-US" sz="6000" b="1" dirty="0">
                <a:solidFill>
                  <a:srgbClr val="C2410C"/>
                </a:solidFill>
                <a:latin typeface="Cambria" pitchFamily="34" charset="0"/>
                <a:ea typeface="Cambria" pitchFamily="34" charset="-122"/>
                <a:cs typeface="Cambria" pitchFamily="34" charset="-120"/>
              </a:rPr>
              <a:t>+5.1</a:t>
            </a:r>
            <a:endParaRPr lang="en-US" sz="6000" dirty="0"/>
          </a:p>
        </p:txBody>
      </p:sp>
      <p:sp>
        <p:nvSpPr>
          <p:cNvPr id="16" name="Text 14"/>
          <p:cNvSpPr txBox="1"/>
          <p:nvPr/>
        </p:nvSpPr>
        <p:spPr>
          <a:xfrm>
            <a:off x="12801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new facts</a:t>
            </a:r>
            <a:endParaRPr lang="en-US" sz="1500" dirty="0"/>
          </a:p>
        </p:txBody>
      </p:sp>
      <p:sp>
        <p:nvSpPr>
          <p:cNvPr id="17" name="Text 15"/>
          <p:cNvSpPr txBox="1"/>
          <p:nvPr/>
        </p:nvSpPr>
        <p:spPr>
          <a:xfrm>
            <a:off x="4023360" y="4206240"/>
            <a:ext cx="2377440" cy="914400"/>
          </a:xfrm>
          <a:prstGeom prst="rect">
            <a:avLst/>
          </a:prstGeom>
          <a:noFill/>
          <a:ln/>
        </p:spPr>
        <p:txBody>
          <a:bodyPr wrap="square" lIns="0" tIns="0" rIns="0" bIns="0" rtlCol="0" anchor="ctr"/>
          <a:lstStyle/>
          <a:p>
            <a:pPr algn="ctr" indent="0" marL="0">
              <a:buNone/>
            </a:pPr>
            <a:r>
              <a:rPr lang="en-US" sz="6000" b="1" dirty="0">
                <a:solidFill>
                  <a:srgbClr val="111827"/>
                </a:solidFill>
                <a:latin typeface="Cambria" pitchFamily="34" charset="0"/>
                <a:ea typeface="Cambria" pitchFamily="34" charset="-122"/>
                <a:cs typeface="Cambria" pitchFamily="34" charset="-120"/>
              </a:rPr>
              <a:t>+0.2</a:t>
            </a:r>
            <a:endParaRPr lang="en-US" sz="6000" dirty="0"/>
          </a:p>
        </p:txBody>
      </p:sp>
      <p:sp>
        <p:nvSpPr>
          <p:cNvPr id="18" name="Text 16"/>
          <p:cNvSpPr txBox="1"/>
          <p:nvPr/>
        </p:nvSpPr>
        <p:spPr>
          <a:xfrm>
            <a:off x="40233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skills, nothing lost</a:t>
            </a:r>
            <a:endParaRPr lang="en-US" sz="1500" dirty="0"/>
          </a:p>
        </p:txBody>
      </p:sp>
      <p:sp>
        <p:nvSpPr>
          <p:cNvPr id="19" name="Shape 17"/>
          <p:cNvSpPr/>
          <p:nvPr/>
        </p:nvSpPr>
        <p:spPr>
          <a:xfrm>
            <a:off x="6949440" y="4526280"/>
            <a:ext cx="4206240" cy="384048"/>
          </a:xfrm>
          <a:prstGeom prst="roundRect">
            <a:avLst>
              <a:gd name="adj" fmla="val 50000"/>
            </a:avLst>
          </a:prstGeom>
          <a:solidFill>
            <a:srgbClr val="DCFCE7"/>
          </a:solidFill>
          <a:ln w="12700">
            <a:solidFill>
              <a:srgbClr val="DCFCE7"/>
            </a:solidFill>
            <a:prstDash val="solid"/>
          </a:ln>
        </p:spPr>
      </p:sp>
      <p:sp>
        <p:nvSpPr>
          <p:cNvPr id="20" name="Text 18"/>
          <p:cNvSpPr txBox="1"/>
          <p:nvPr/>
        </p:nvSpPr>
        <p:spPr>
          <a:xfrm>
            <a:off x="6949440" y="4526280"/>
            <a:ext cx="4206240" cy="384048"/>
          </a:xfrm>
          <a:prstGeom prst="rect">
            <a:avLst/>
          </a:prstGeom>
          <a:noFill/>
          <a:ln/>
        </p:spPr>
        <p:txBody>
          <a:bodyPr wrap="square" lIns="0" tIns="0" rIns="0" bIns="0" rtlCol="0" anchor="ctr"/>
          <a:lstStyle/>
          <a:p>
            <a:pPr algn="ctr" indent="0" marL="0">
              <a:buNone/>
            </a:pPr>
            <a:r>
              <a:rPr lang="en-US" sz="1300" b="1" dirty="0">
                <a:solidFill>
                  <a:srgbClr val="166534"/>
                </a:solidFill>
              </a:rPr>
              <a:t>zero training  ·  just average the weights</a:t>
            </a:r>
            <a:endParaRPr lang="en-US" sz="130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All the facts, none of the damage. </a:t>
            </a:r>
            <a:pPr indent="0" marL="0">
              <a:buNone/>
            </a:pPr>
            <a:r>
              <a:rPr lang="en-US" sz="1800" b="1" i="1" dirty="0">
                <a:solidFill>
                  <a:srgbClr val="6B7280"/>
                </a:solidFill>
              </a:rPr>
              <a:t>Train separately, merge afterwards.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9 · WORK IN PROGRESS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Why does averaging work?</a:t>
            </a:r>
            <a:endParaRPr lang="en-US" sz="3200" dirty="0"/>
          </a:p>
        </p:txBody>
      </p:sp>
      <p:sp>
        <p:nvSpPr>
          <p:cNvPr id="4" name="Shape 2"/>
          <p:cNvSpPr/>
          <p:nvPr/>
        </p:nvSpPr>
        <p:spPr>
          <a:xfrm flipV="1">
            <a:off x="1463040" y="4206240"/>
            <a:ext cx="3657600" cy="731520"/>
          </a:xfrm>
          <a:prstGeom prst="line">
            <a:avLst/>
          </a:prstGeom>
          <a:noFill/>
          <a:ln w="50800">
            <a:solidFill>
              <a:srgbClr val="2563EB"/>
            </a:solidFill>
            <a:prstDash val="solid"/>
            <a:tailEnd type="triangle"/>
          </a:ln>
        </p:spPr>
      </p:sp>
      <p:sp>
        <p:nvSpPr>
          <p:cNvPr id="5" name="Shape 3"/>
          <p:cNvSpPr/>
          <p:nvPr/>
        </p:nvSpPr>
        <p:spPr>
          <a:xfrm flipV="1">
            <a:off x="1463040" y="2194560"/>
            <a:ext cx="1188720" cy="2743200"/>
          </a:xfrm>
          <a:prstGeom prst="line">
            <a:avLst/>
          </a:prstGeom>
          <a:noFill/>
          <a:ln w="50800">
            <a:solidFill>
              <a:srgbClr val="D97706"/>
            </a:solidFill>
            <a:prstDash val="solid"/>
            <a:tailEnd type="triangle"/>
          </a:ln>
        </p:spPr>
      </p:sp>
      <p:sp>
        <p:nvSpPr>
          <p:cNvPr id="6" name="Shape 4"/>
          <p:cNvSpPr/>
          <p:nvPr/>
        </p:nvSpPr>
        <p:spPr>
          <a:xfrm flipV="1">
            <a:off x="1463040" y="2286000"/>
            <a:ext cx="3017520" cy="2651760"/>
          </a:xfrm>
          <a:prstGeom prst="line">
            <a:avLst/>
          </a:prstGeom>
          <a:noFill/>
          <a:ln w="50800">
            <a:solidFill>
              <a:srgbClr val="7C3AED"/>
            </a:solidFill>
            <a:prstDash val="solid"/>
            <a:tailEnd type="triangle"/>
          </a:ln>
        </p:spPr>
      </p:sp>
      <p:sp>
        <p:nvSpPr>
          <p:cNvPr id="7" name="Shape 5"/>
          <p:cNvSpPr/>
          <p:nvPr/>
        </p:nvSpPr>
        <p:spPr>
          <a:xfrm flipV="1">
            <a:off x="1463040" y="3657600"/>
            <a:ext cx="2194560" cy="1280160"/>
          </a:xfrm>
          <a:prstGeom prst="line">
            <a:avLst/>
          </a:prstGeom>
          <a:noFill/>
          <a:ln w="88900">
            <a:solidFill>
              <a:srgbClr val="C2410C"/>
            </a:solidFill>
            <a:prstDash val="solid"/>
            <a:tailEnd type="triangle"/>
          </a:ln>
        </p:spPr>
      </p:sp>
      <p:sp>
        <p:nvSpPr>
          <p:cNvPr id="8" name="Shape 6"/>
          <p:cNvSpPr/>
          <p:nvPr/>
        </p:nvSpPr>
        <p:spPr>
          <a:xfrm>
            <a:off x="1325880" y="4800600"/>
            <a:ext cx="274320" cy="274320"/>
          </a:xfrm>
          <a:prstGeom prst="ellipse">
            <a:avLst/>
          </a:prstGeom>
          <a:solidFill>
            <a:srgbClr val="FFFFFF"/>
          </a:solidFill>
          <a:ln w="38100">
            <a:solidFill>
              <a:srgbClr val="111827"/>
            </a:solidFill>
            <a:prstDash val="solid"/>
          </a:ln>
        </p:spPr>
      </p:sp>
      <p:sp>
        <p:nvSpPr>
          <p:cNvPr id="9" name="Text 7"/>
          <p:cNvSpPr txBox="1"/>
          <p:nvPr/>
        </p:nvSpPr>
        <p:spPr>
          <a:xfrm>
            <a:off x="640080" y="5120640"/>
            <a:ext cx="1645920" cy="320040"/>
          </a:xfrm>
          <a:prstGeom prst="rect">
            <a:avLst/>
          </a:prstGeom>
          <a:noFill/>
          <a:ln/>
        </p:spPr>
        <p:txBody>
          <a:bodyPr wrap="square" lIns="0" tIns="0" rIns="0" bIns="0" rtlCol="0" anchor="ctr"/>
          <a:lstStyle/>
          <a:p>
            <a:pPr algn="ctr" indent="0" marL="0">
              <a:buNone/>
            </a:pPr>
            <a:r>
              <a:rPr lang="en-US" sz="1400" b="1" dirty="0">
                <a:solidFill>
                  <a:srgbClr val="111827"/>
                </a:solidFill>
              </a:rPr>
              <a:t>base model</a:t>
            </a:r>
            <a:endParaRPr lang="en-US" sz="1400" dirty="0"/>
          </a:p>
        </p:txBody>
      </p:sp>
      <p:sp>
        <p:nvSpPr>
          <p:cNvPr id="10" name="Text 8"/>
          <p:cNvSpPr txBox="1"/>
          <p:nvPr/>
        </p:nvSpPr>
        <p:spPr>
          <a:xfrm>
            <a:off x="5212080" y="4023360"/>
            <a:ext cx="548640" cy="320040"/>
          </a:xfrm>
          <a:prstGeom prst="rect">
            <a:avLst/>
          </a:prstGeom>
          <a:noFill/>
          <a:ln/>
        </p:spPr>
        <p:txBody>
          <a:bodyPr wrap="square" lIns="0" tIns="0" rIns="0" bIns="0" rtlCol="0" anchor="ctr"/>
          <a:lstStyle/>
          <a:p>
            <a:pPr indent="0" marL="0">
              <a:buNone/>
            </a:pPr>
            <a:r>
              <a:rPr lang="en-US" sz="1600" b="1" dirty="0">
                <a:solidFill>
                  <a:srgbClr val="2563EB"/>
                </a:solidFill>
              </a:rPr>
              <a:t>EN</a:t>
            </a:r>
            <a:endParaRPr lang="en-US" sz="1600" dirty="0"/>
          </a:p>
        </p:txBody>
      </p:sp>
      <p:sp>
        <p:nvSpPr>
          <p:cNvPr id="11" name="Text 9"/>
          <p:cNvSpPr txBox="1"/>
          <p:nvPr/>
        </p:nvSpPr>
        <p:spPr>
          <a:xfrm>
            <a:off x="2377440" y="1874520"/>
            <a:ext cx="548640" cy="320040"/>
          </a:xfrm>
          <a:prstGeom prst="rect">
            <a:avLst/>
          </a:prstGeom>
          <a:noFill/>
          <a:ln/>
        </p:spPr>
        <p:txBody>
          <a:bodyPr wrap="square" lIns="0" tIns="0" rIns="0" bIns="0" rtlCol="0" anchor="ctr"/>
          <a:lstStyle/>
          <a:p>
            <a:pPr indent="0" marL="0">
              <a:buNone/>
            </a:pPr>
            <a:r>
              <a:rPr lang="en-US" sz="1600" b="1" dirty="0">
                <a:solidFill>
                  <a:srgbClr val="D97706"/>
                </a:solidFill>
              </a:rPr>
              <a:t>DE</a:t>
            </a:r>
            <a:endParaRPr lang="en-US" sz="1600" dirty="0"/>
          </a:p>
        </p:txBody>
      </p:sp>
      <p:sp>
        <p:nvSpPr>
          <p:cNvPr id="12" name="Text 10"/>
          <p:cNvSpPr txBox="1"/>
          <p:nvPr/>
        </p:nvSpPr>
        <p:spPr>
          <a:xfrm>
            <a:off x="4526280" y="1965960"/>
            <a:ext cx="548640" cy="320040"/>
          </a:xfrm>
          <a:prstGeom prst="rect">
            <a:avLst/>
          </a:prstGeom>
          <a:noFill/>
          <a:ln/>
        </p:spPr>
        <p:txBody>
          <a:bodyPr wrap="square" lIns="0" tIns="0" rIns="0" bIns="0" rtlCol="0" anchor="ctr"/>
          <a:lstStyle/>
          <a:p>
            <a:pPr indent="0" marL="0">
              <a:buNone/>
            </a:pPr>
            <a:r>
              <a:rPr lang="en-US" sz="1600" b="1" dirty="0">
                <a:solidFill>
                  <a:srgbClr val="7C3AED"/>
                </a:solidFill>
              </a:rPr>
              <a:t>FR</a:t>
            </a:r>
            <a:endParaRPr lang="en-US" sz="1600" dirty="0"/>
          </a:p>
        </p:txBody>
      </p:sp>
      <p:sp>
        <p:nvSpPr>
          <p:cNvPr id="13" name="Text 11"/>
          <p:cNvSpPr txBox="1"/>
          <p:nvPr/>
        </p:nvSpPr>
        <p:spPr>
          <a:xfrm>
            <a:off x="3749040" y="3429000"/>
            <a:ext cx="1463040" cy="320040"/>
          </a:xfrm>
          <a:prstGeom prst="rect">
            <a:avLst/>
          </a:prstGeom>
          <a:noFill/>
          <a:ln/>
        </p:spPr>
        <p:txBody>
          <a:bodyPr wrap="square" lIns="0" tIns="0" rIns="0" bIns="0" rtlCol="0" anchor="ctr"/>
          <a:lstStyle/>
          <a:p>
            <a:pPr indent="0" marL="0">
              <a:buNone/>
            </a:pPr>
            <a:r>
              <a:rPr lang="en-US" sz="1600" b="1" dirty="0">
                <a:solidFill>
                  <a:srgbClr val="C2410C"/>
                </a:solidFill>
              </a:rPr>
              <a:t>average ★</a:t>
            </a:r>
            <a:endParaRPr lang="en-US" sz="1600" dirty="0"/>
          </a:p>
        </p:txBody>
      </p:sp>
      <p:sp>
        <p:nvSpPr>
          <p:cNvPr id="14" name="Text 12"/>
          <p:cNvSpPr txBox="1"/>
          <p:nvPr/>
        </p:nvSpPr>
        <p:spPr>
          <a:xfrm>
            <a:off x="6400800" y="228600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≈0.15</a:t>
            </a:r>
            <a:endParaRPr lang="en-US" sz="4000" dirty="0"/>
          </a:p>
        </p:txBody>
      </p:sp>
      <p:sp>
        <p:nvSpPr>
          <p:cNvPr id="15" name="Text 13"/>
          <p:cNvSpPr txBox="1"/>
          <p:nvPr/>
        </p:nvSpPr>
        <p:spPr>
          <a:xfrm>
            <a:off x="8229600" y="2331720"/>
            <a:ext cx="3383280" cy="731520"/>
          </a:xfrm>
          <a:prstGeom prst="rect">
            <a:avLst/>
          </a:prstGeom>
          <a:noFill/>
          <a:ln/>
        </p:spPr>
        <p:txBody>
          <a:bodyPr wrap="square" lIns="0" tIns="0" rIns="0" bIns="0" rtlCol="0" anchor="ctr"/>
          <a:lstStyle/>
          <a:p>
            <a:pPr indent="0" marL="0">
              <a:buNone/>
            </a:pPr>
            <a:r>
              <a:rPr lang="en-US" sz="1400" dirty="0">
                <a:solidFill>
                  <a:srgbClr val="374151"/>
                </a:solidFill>
              </a:rPr>
              <a:t>similarity of the three updates: nearly unrelated directions</a:t>
            </a:r>
            <a:endParaRPr lang="en-US" sz="1400" dirty="0"/>
          </a:p>
        </p:txBody>
      </p:sp>
      <p:sp>
        <p:nvSpPr>
          <p:cNvPr id="16" name="Text 14"/>
          <p:cNvSpPr txBox="1"/>
          <p:nvPr/>
        </p:nvSpPr>
        <p:spPr>
          <a:xfrm>
            <a:off x="6400800" y="3337560"/>
            <a:ext cx="1737360" cy="73152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≈65%</a:t>
            </a:r>
            <a:endParaRPr lang="en-US" sz="4000" dirty="0"/>
          </a:p>
        </p:txBody>
      </p:sp>
      <p:sp>
        <p:nvSpPr>
          <p:cNvPr id="17" name="Text 15"/>
          <p:cNvSpPr txBox="1"/>
          <p:nvPr/>
        </p:nvSpPr>
        <p:spPr>
          <a:xfrm>
            <a:off x="8229600" y="3383280"/>
            <a:ext cx="3383280" cy="731520"/>
          </a:xfrm>
          <a:prstGeom prst="rect">
            <a:avLst/>
          </a:prstGeom>
          <a:noFill/>
          <a:ln/>
        </p:spPr>
        <p:txBody>
          <a:bodyPr wrap="square" lIns="0" tIns="0" rIns="0" bIns="0" rtlCol="0" anchor="ctr"/>
          <a:lstStyle/>
          <a:p>
            <a:pPr indent="0" marL="0">
              <a:buNone/>
            </a:pPr>
            <a:r>
              <a:rPr lang="en-US" sz="1400" dirty="0">
                <a:solidFill>
                  <a:srgbClr val="374151"/>
                </a:solidFill>
              </a:rPr>
              <a:t>of one update's length: language-specific parts cancel, the shared part stays</a:t>
            </a:r>
            <a:endParaRPr lang="en-US" sz="1400" dirty="0"/>
          </a:p>
        </p:txBody>
      </p:sp>
      <p:sp>
        <p:nvSpPr>
          <p:cNvPr id="18" name="Text 16"/>
          <p:cNvSpPr txBox="1"/>
          <p:nvPr/>
        </p:nvSpPr>
        <p:spPr>
          <a:xfrm>
            <a:off x="6400800" y="438912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MLPs</a:t>
            </a:r>
            <a:endParaRPr lang="en-US" sz="4000" dirty="0"/>
          </a:p>
        </p:txBody>
      </p:sp>
      <p:sp>
        <p:nvSpPr>
          <p:cNvPr id="19" name="Text 17"/>
          <p:cNvSpPr txBox="1"/>
          <p:nvPr/>
        </p:nvSpPr>
        <p:spPr>
          <a:xfrm>
            <a:off x="8229600" y="4434840"/>
            <a:ext cx="3383280" cy="731520"/>
          </a:xfrm>
          <a:prstGeom prst="rect">
            <a:avLst/>
          </a:prstGeom>
          <a:noFill/>
          <a:ln/>
        </p:spPr>
        <p:txBody>
          <a:bodyPr wrap="square" lIns="0" tIns="0" rIns="0" bIns="0" rtlCol="0" anchor="ctr"/>
          <a:lstStyle/>
          <a:p>
            <a:pPr indent="0" marL="0">
              <a:buNone/>
            </a:pPr>
            <a:r>
              <a:rPr lang="en-US" sz="1400" dirty="0">
                <a:solidFill>
                  <a:srgbClr val="374151"/>
                </a:solidFill>
              </a:rPr>
              <a:t>carry 92–100% of the new facts, the same place steering found in part 1</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New knowledge is a direction; averaging keeps the shared part. </a:t>
            </a:r>
            <a:pPr indent="0" marL="0">
              <a:buNone/>
            </a:pPr>
            <a:r>
              <a:rPr lang="en-US" sz="1800" b="1" i="1" dirty="0">
                <a:solidFill>
                  <a:srgbClr val="6B7280"/>
                </a:solidFill>
              </a:rPr>
              <a:t>Running now: shorter step, or better direction?</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IN ONE PICTURE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Every update learns. </a:t>
            </a:r>
            <a:pPr algn="l" indent="0" marL="0">
              <a:buNone/>
            </a:pPr>
            <a:r>
              <a:rPr lang="en-US" sz="3200" b="1" i="1" dirty="0">
                <a:solidFill>
                  <a:srgbClr val="6B7280"/>
                </a:solidFill>
              </a:rPr>
              <a:t>Only the average learns without losing.</a:t>
            </a:r>
            <a:endParaRPr lang="en-US" sz="3200" dirty="0"/>
          </a:p>
        </p:txBody>
      </p:sp>
      <p:pic>
        <p:nvPicPr>
          <p:cNvPr id="4" name="Image 0" descr="/tmp/claude-0/-home-user-Claude-expo-repo-36501/d3d88de1-f67d-5aa6-8097-3ece5ccf8bcb/scratchpad/build/summary_part2.png">    </p:cNvPr>
          <p:cNvPicPr>
            <a:picLocks noChangeAspect="1"/>
          </p:cNvPicPr>
          <p:nvPr/>
        </p:nvPicPr>
        <p:blipFill>
          <a:blip r:embed="rId1"/>
          <a:stretch>
            <a:fillRect/>
          </a:stretch>
        </p:blipFill>
        <p:spPr>
          <a:xfrm>
            <a:off x="2331720" y="1965960"/>
            <a:ext cx="7498080" cy="3994831"/>
          </a:xfrm>
          <a:prstGeom prst="rect">
            <a:avLst/>
          </a:prstGeom>
        </p:spPr>
      </p:pic>
      <p:sp>
        <p:nvSpPr>
          <p:cNvPr id="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Right = more new facts. Up = nothing forgotten. </a:t>
            </a:r>
            <a:pPr indent="0" marL="0">
              <a:buNone/>
            </a:pPr>
            <a:r>
              <a:rPr lang="en-US" sz="1800" b="1" i="1" dirty="0">
                <a:solidFill>
                  <a:srgbClr val="6B7280"/>
                </a:solidFill>
              </a:rPr>
              <a:t>Top right is where we want to be.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ANSWERS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Retrain or teach? </a:t>
            </a:r>
            <a:pPr algn="l" indent="0" marL="0">
              <a:buNone/>
            </a:pPr>
            <a:r>
              <a:rPr lang="en-US" sz="3200" b="1" i="1" dirty="0">
                <a:solidFill>
                  <a:srgbClr val="6B7280"/>
                </a:solidFill>
              </a:rPr>
              <a:t>Teach.</a:t>
            </a:r>
            <a:endParaRPr lang="en-US" sz="3200" dirty="0"/>
          </a:p>
        </p:txBody>
      </p:sp>
      <p:sp>
        <p:nvSpPr>
          <p:cNvPr id="4" name="Shape 2"/>
          <p:cNvSpPr/>
          <p:nvPr/>
        </p:nvSpPr>
        <p:spPr>
          <a:xfrm>
            <a:off x="640080" y="2148840"/>
            <a:ext cx="3474720" cy="2651760"/>
          </a:xfrm>
          <a:prstGeom prst="roundRect">
            <a:avLst>
              <a:gd name="adj" fmla="val 4138"/>
            </a:avLst>
          </a:prstGeom>
          <a:solidFill>
            <a:srgbClr val="F9FAFB"/>
          </a:solidFill>
          <a:ln w="12700">
            <a:solidFill>
              <a:srgbClr val="E5E7EB"/>
            </a:solidFill>
            <a:prstDash val="solid"/>
          </a:ln>
        </p:spPr>
      </p:sp>
      <p:sp>
        <p:nvSpPr>
          <p:cNvPr id="5" name="Text 3"/>
          <p:cNvSpPr txBox="1"/>
          <p:nvPr/>
        </p:nvSpPr>
        <p:spPr>
          <a:xfrm>
            <a:off x="868680"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1 · IT ALREADY KNOWS IT</a:t>
            </a:r>
            <a:endParaRPr lang="en-US" sz="1050" dirty="0"/>
          </a:p>
        </p:txBody>
      </p:sp>
      <p:sp>
        <p:nvSpPr>
          <p:cNvPr id="6" name="Text 4"/>
          <p:cNvSpPr txBox="1"/>
          <p:nvPr/>
        </p:nvSpPr>
        <p:spPr>
          <a:xfrm>
            <a:off x="868680"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Steer it.</a:t>
            </a:r>
            <a:endParaRPr lang="en-US" sz="2400" dirty="0"/>
          </a:p>
        </p:txBody>
      </p:sp>
      <p:sp>
        <p:nvSpPr>
          <p:cNvPr id="7" name="Text 5"/>
          <p:cNvSpPr txBox="1"/>
          <p:nvPr/>
        </p:nvSpPr>
        <p:spPr>
          <a:xfrm>
            <a:off x="868680"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One vector at the MLP layers. No training, nothing forgotten.</a:t>
            </a:r>
            <a:endParaRPr lang="en-US" sz="1350" dirty="0"/>
          </a:p>
        </p:txBody>
      </p:sp>
      <p:sp>
        <p:nvSpPr>
          <p:cNvPr id="8" name="Shape 6"/>
          <p:cNvSpPr/>
          <p:nvPr/>
        </p:nvSpPr>
        <p:spPr>
          <a:xfrm>
            <a:off x="4361688" y="2148840"/>
            <a:ext cx="3474720" cy="2651760"/>
          </a:xfrm>
          <a:prstGeom prst="roundRect">
            <a:avLst>
              <a:gd name="adj" fmla="val 4138"/>
            </a:avLst>
          </a:prstGeom>
          <a:solidFill>
            <a:srgbClr val="F9FAFB"/>
          </a:solidFill>
          <a:ln w="12700">
            <a:solidFill>
              <a:srgbClr val="E5E7EB"/>
            </a:solidFill>
            <a:prstDash val="solid"/>
          </a:ln>
        </p:spPr>
      </p:sp>
      <p:sp>
        <p:nvSpPr>
          <p:cNvPr id="9" name="Text 7"/>
          <p:cNvSpPr txBox="1"/>
          <p:nvPr/>
        </p:nvSpPr>
        <p:spPr>
          <a:xfrm>
            <a:off x="4590288"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2 · IT NEVER READ IT</a:t>
            </a:r>
            <a:endParaRPr lang="en-US" sz="1050" dirty="0"/>
          </a:p>
        </p:txBody>
      </p:sp>
      <p:sp>
        <p:nvSpPr>
          <p:cNvPr id="10" name="Text 8"/>
          <p:cNvSpPr txBox="1"/>
          <p:nvPr/>
        </p:nvSpPr>
        <p:spPr>
          <a:xfrm>
            <a:off x="4590288"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Let it read, then average.</a:t>
            </a:r>
            <a:endParaRPr lang="en-US" sz="2400" dirty="0"/>
          </a:p>
        </p:txBody>
      </p:sp>
      <p:sp>
        <p:nvSpPr>
          <p:cNvPr id="11" name="Text 9"/>
          <p:cNvSpPr txBox="1"/>
          <p:nvPr/>
        </p:nvSpPr>
        <p:spPr>
          <a:xfrm>
            <a:off x="4590288"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Train per language, merge the weights. The facts without the price.</a:t>
            </a:r>
            <a:endParaRPr lang="en-US" sz="1350" dirty="0"/>
          </a:p>
        </p:txBody>
      </p:sp>
      <p:sp>
        <p:nvSpPr>
          <p:cNvPr id="12" name="Shape 10"/>
          <p:cNvSpPr/>
          <p:nvPr/>
        </p:nvSpPr>
        <p:spPr>
          <a:xfrm>
            <a:off x="8074152" y="2148840"/>
            <a:ext cx="3474720" cy="2651760"/>
          </a:xfrm>
          <a:prstGeom prst="roundRect">
            <a:avLst>
              <a:gd name="adj" fmla="val 4138"/>
            </a:avLst>
          </a:prstGeom>
          <a:solidFill>
            <a:srgbClr val="F9FAFB"/>
          </a:solidFill>
          <a:ln w="12700">
            <a:solidFill>
              <a:srgbClr val="E5E7EB"/>
            </a:solidFill>
            <a:prstDash val="solid"/>
          </a:ln>
        </p:spPr>
      </p:sp>
      <p:sp>
        <p:nvSpPr>
          <p:cNvPr id="13" name="Text 11"/>
          <p:cNvSpPr txBox="1"/>
          <p:nvPr/>
        </p:nvSpPr>
        <p:spPr>
          <a:xfrm>
            <a:off x="8302752"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DOES THE LANGUAGE MATTER?</a:t>
            </a:r>
            <a:endParaRPr lang="en-US" sz="1050" dirty="0"/>
          </a:p>
        </p:txBody>
      </p:sp>
      <p:sp>
        <p:nvSpPr>
          <p:cNvPr id="14" name="Text 12"/>
          <p:cNvSpPr txBox="1"/>
          <p:nvPr/>
        </p:nvSpPr>
        <p:spPr>
          <a:xfrm>
            <a:off x="8302752"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Less than you'd think.</a:t>
            </a:r>
            <a:endParaRPr lang="en-US" sz="2400" dirty="0"/>
          </a:p>
        </p:txBody>
      </p:sp>
      <p:sp>
        <p:nvSpPr>
          <p:cNvPr id="15" name="Text 13"/>
          <p:cNvSpPr txBox="1"/>
          <p:nvPr/>
        </p:nvSpPr>
        <p:spPr>
          <a:xfrm>
            <a:off x="8302752"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Facts cross languages. Costs hide in the others. Test in all of them.</a:t>
            </a:r>
            <a:endParaRPr lang="en-US" sz="1350" dirty="0"/>
          </a:p>
        </p:txBody>
      </p:sp>
      <p:sp>
        <p:nvSpPr>
          <p:cNvPr id="16" name="Text 14"/>
          <p:cNvSpPr txBox="1"/>
          <p:nvPr/>
        </p:nvSpPr>
        <p:spPr>
          <a:xfrm>
            <a:off x="640080" y="4937760"/>
            <a:ext cx="10908792" cy="457200"/>
          </a:xfrm>
          <a:prstGeom prst="rect">
            <a:avLst/>
          </a:prstGeom>
          <a:noFill/>
          <a:ln/>
        </p:spPr>
        <p:txBody>
          <a:bodyPr wrap="square" lIns="0" tIns="0" rIns="0" bIns="0" rtlCol="0" anchor="ctr"/>
          <a:lstStyle/>
          <a:p>
            <a:pPr algn="ctr" indent="0" marL="0">
              <a:buNone/>
            </a:pPr>
            <a:r>
              <a:rPr lang="en-US" sz="1700" b="1" dirty="0">
                <a:solidFill>
                  <a:srgbClr val="111827"/>
                </a:solidFill>
              </a:rPr>
              <a:t>If new knowledge is a direction we can add, average and steer: </a:t>
            </a:r>
            <a:pPr algn="ctr" indent="0" marL="0">
              <a:buNone/>
            </a:pPr>
            <a:r>
              <a:rPr lang="en-US" sz="1700" i="1" dirty="0">
                <a:solidFill>
                  <a:srgbClr val="6B7280"/>
                </a:solidFill>
              </a:rPr>
              <a:t>do we ever need to retrain from scratch?</a:t>
            </a:r>
            <a:endParaRPr lang="en-US" sz="1700" dirty="0"/>
          </a:p>
        </p:txBody>
      </p:sp>
      <p:sp>
        <p:nvSpPr>
          <p:cNvPr id="17" name="Shape 15"/>
          <p:cNvSpPr/>
          <p:nvPr/>
        </p:nvSpPr>
        <p:spPr>
          <a:xfrm>
            <a:off x="640080" y="5577840"/>
            <a:ext cx="10908792" cy="0"/>
          </a:xfrm>
          <a:prstGeom prst="line">
            <a:avLst/>
          </a:prstGeom>
          <a:noFill/>
          <a:ln w="12700">
            <a:solidFill>
              <a:srgbClr val="E5E7EB"/>
            </a:solidFill>
            <a:prstDash val="solid"/>
          </a:ln>
        </p:spPr>
      </p:sp>
      <p:sp>
        <p:nvSpPr>
          <p:cNvPr id="18" name="Text 16"/>
          <p:cNvSpPr txBox="1"/>
          <p:nvPr/>
        </p:nvSpPr>
        <p:spPr>
          <a:xfrm>
            <a:off x="640080" y="5715000"/>
            <a:ext cx="5486400" cy="457200"/>
          </a:xfrm>
          <a:prstGeom prst="rect">
            <a:avLst/>
          </a:prstGeom>
          <a:noFill/>
          <a:ln/>
        </p:spPr>
        <p:txBody>
          <a:bodyPr wrap="square" lIns="0" tIns="0" rIns="0" bIns="0" rtlCol="0" anchor="ctr"/>
          <a:lstStyle/>
          <a:p>
            <a:pPr indent="0" marL="0">
              <a:buNone/>
            </a:pPr>
            <a:r>
              <a:rPr lang="en-US" sz="1800" b="1" dirty="0">
                <a:solidFill>
                  <a:srgbClr val="111827"/>
                </a:solidFill>
              </a:rPr>
              <a:t>Thank you </a:t>
            </a:r>
            <a:pPr indent="0" marL="0">
              <a:buNone/>
            </a:pPr>
            <a:r>
              <a:rPr lang="en-US" sz="1800" i="1" dirty="0">
                <a:solidFill>
                  <a:srgbClr val="6B7280"/>
                </a:solidFill>
              </a:rPr>
              <a:t>for your attention.</a:t>
            </a:r>
            <a:endParaRPr lang="en-US" sz="1800" dirty="0"/>
          </a:p>
        </p:txBody>
      </p:sp>
      <p:sp>
        <p:nvSpPr>
          <p:cNvPr id="19" name="Text 17"/>
          <p:cNvSpPr txBox="1"/>
          <p:nvPr/>
        </p:nvSpPr>
        <p:spPr>
          <a:xfrm>
            <a:off x="6400800" y="5669280"/>
            <a:ext cx="5148072" cy="548640"/>
          </a:xfrm>
          <a:prstGeom prst="rect">
            <a:avLst/>
          </a:prstGeom>
          <a:noFill/>
          <a:ln/>
        </p:spPr>
        <p:txBody>
          <a:bodyPr wrap="square" lIns="0" tIns="0" rIns="0" bIns="0" rtlCol="0" anchor="ctr"/>
          <a:lstStyle/>
          <a:p>
            <a:pPr algn="r" indent="0" marL="0">
              <a:buNone/>
            </a:pPr>
            <a:r>
              <a:rPr lang="en-US" sz="1150" dirty="0">
                <a:solidFill>
                  <a:srgbClr val="6B7280"/>
                </a:solidFill>
              </a:rPr>
              <a:t>Nitin Sharma · MHM Lab</a:t>
            </a:r>
            <a:endParaRPr lang="en-US" sz="1150" dirty="0"/>
          </a:p>
          <a:p>
            <a:pPr algn="r" indent="0" marL="0">
              <a:buNone/>
            </a:pPr>
            <a:r>
              <a:rPr lang="en-US" sz="1150" dirty="0">
                <a:solidFill>
                  <a:srgbClr val="6B7280"/>
                </a:solidFill>
              </a:rPr>
              <a:t>nitinsharma3150@gmail.com</a:t>
            </a:r>
            <a:endParaRPr lang="en-US" sz="115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15</a:t>
            </a:fld>
            <a:endParaRPr lang="en-US"/>
          </a:p>
        </p:txBody>
      </p:sp>
    </p:spTree>
  </p:cSld>
  <p:clrMapOvr>
    <a:masterClrMapping/>
  </p:clrMapOvr>
  <p:transition spd="med">
    <p:fade/>
  </p:transition>
</p:sld>
</file>

<file path=ppt/theme/theme1.xml><?xml version="1.0" encoding="utf-8"?>
<a:theme xmlns:a="http://schemas.openxmlformats.org/drawingml/2006/main" name="Retrain or teach">
  <a:themeElements>
    <a:clrScheme name="Retrain or teach">
      <a:dk1>
        <a:srgbClr val="111827"/>
      </a:dk1>
      <a:lt1>
        <a:srgbClr val="FFFFFF"/>
      </a:lt1>
      <a:dk2>
        <a:srgbClr val="374151"/>
      </a:dk2>
      <a:lt2>
        <a:srgbClr val="F9FAFB"/>
      </a:lt2>
      <a:accent1>
        <a:srgbClr val="C2410C"/>
      </a:accent1>
      <a:accent2>
        <a:srgbClr val="2563EB"/>
      </a:accent2>
      <a:accent3>
        <a:srgbClr val="D97706"/>
      </a:accent3>
      <a:accent4>
        <a:srgbClr val="7C3AED"/>
      </a:accent4>
      <a:accent5>
        <a:srgbClr val="9CA3AF"/>
      </a:accent5>
      <a:accent6>
        <a:srgbClr val="166534"/>
      </a:accent6>
      <a:hlink>
        <a:srgbClr val="2563EB"/>
      </a:hlink>
      <a:folHlink>
        <a:srgbClr val="7C3AED"/>
      </a:folHlink>
    </a:clrScheme>
    <a:fontScheme name="Retrain or tea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Retrain or teach? How AI learns after it's built. Does the language matter?</dc:title>
  <dc:subject>PptxGenJS Presentation</dc:subject>
  <dc:creator>Nitin Sharma</dc:creator>
  <cp:lastModifiedBy>Nitin Sharma</cp:lastModifiedBy>
  <cp:revision>1</cp:revision>
  <dcterms:created xsi:type="dcterms:W3CDTF">2026-10-19T15:29:40Z</dcterms:created>
  <dcterms:modified xsi:type="dcterms:W3CDTF">2026-10-19T15:29:40Z</dcterms:modified>
</cp:coreProperties>
</file>