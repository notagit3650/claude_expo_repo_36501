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1: It already knows more than it says" id="{01591cce-541e-db62-015b-61ff818a6a41}">
          <p14:sldIdLst>
            <p14:sldId id="256"/>
            <p14:sldId id="257"/>
            <p14:sldId id="258"/>
            <p14:sldId id="259"/>
            <p14:sldId id="260"/>
            <p14:sldId id="261"/>
            <p14:sldId id="262"/>
          </p14:sldIdLst>
        </p14:section>
        <p14:section name="Part 2: It needs knowledge it never had" id="{1a2261ae-e48b-b80e-6378-dece46723cdf}">
          <p14:sldIdLst>
            <p14:sldId id="263"/>
            <p14:sldId id="264"/>
            <p14:sldId id="265"/>
            <p14:sldId id="266"/>
          </p14:sldIdLst>
        </p14:section>
        <p14:section name="Train separately, average, and why it works" id="{851df018-6490-944e-93ce-ce212be6d272}">
          <p14:sldIdLst>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question for today: when an AI needs to know something new, do we retrain it, or can we teach it? And a second one I spent this year on: does it matter which language it learns in? Very high level, almost no numbers, and I'll leave you with a question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language model is trained once on a giant snapshot of text, then frozen. The models we use stopped reading around the end of 2023. Everything after that it never saw. Ask it and it guesses, confidently. So: how do we keep it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usual fix: train it some more. Two problems. Expensive: about 48 billion words, weeks on 8 GPUs. And it forgets: after medical training the model gets worse at simple things it could do before. Catastrophic forgetting. Can we teach instead of retrain?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Goal: keep an AI useful after it's built, without rebuilding it. Way one: the model already has the knowledge, it just doesn't come out, three questions. Way two: it never read it, yesterday's news, so it has to learn, six questions, and this is where language comes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well a model answers a fact depends on how often it has seen it. The curve rises steeply with repetition, but even a fact seen once leaves a small, real trace. For rare facts the information is in there, weakly, and it gets drowned out by higher-level computation on the way to the output. If the knowledge is already there, we don't need training. We need to help it out. (Bar heights sketch the log-linear trend; exact numbers in the papers.)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opened the black box. Inside one layer, each dot a sentence, medical sentences sit in their own corner, cleanly separated. Knowledge has an address. So we can point at it: one arrow, v, from everything-else to medical.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the model answers, add that arrow to its activity at one layer. One addition, no training, nothing forgotten. And where you add it matters: at the MLP layers, the memory blocks, factual recall improves by 45%, more than double the usual spot. Facts live in the MLPs. But steering can only surface what the model has already read. For yesterday's news: Way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Sometimes the knowledge genuinely isn't in there: everything after the cutoff. Retraining from scratch is trillions of tokens and millions of dollars. The alternative is continued pretraining on about six billion tokens of fresh news. In NewsCPT, news beat random web text by two to four times on every model and quiz. So it works. What happens inside when we do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model, no chain-of-thought. It reads the news in English only. I ask about the same event in German or French. Does it keep the answer? We updated models on English, German or French news, then asked the exact same facts, about fifteen thousand, translated, in all three languages. Who thinks it transfers?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mostly. About 70% of the accuracy gain survives when you ask in another language, between 57 and 88% depending on direction. French to English travels better than English to French.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Old facts from before 2023: kept, slightly up. General skills on twenty tests in three languages: they slip. French-only loses 1.2, German 1.3, English 0.5. Test the French model only in French and it looks fine. Catastrophic forgetting in a new disguise, and the multilingual lens makes it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the three single-language models and average their weights: add the numbers, divide by three. No training. Model soups, Wortsman et al. 2022. As many new facts as the mixture, plus 5.1, and zero skill loss. It beats every single-language model on both axes. Language-specific updates can be trained separately and merged.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Preliminary. Each language update moves the model in a different direction; similarity only about 0.15. Averaging cancels most of each language-specific part and keeps what all three share: about 65% as far from base as a single update. Keep only the MLP changes and 92 to 100% of the new facts survive, the same place steering found. Running now: is averaging a shorter, safer step or a better direction? And can we walk further along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in one picture. Right means more new facts learned; up means general skills kept. Each single-language update learns but forgets. The mixture learns the most and forgets less. The average of the three single-language models, no extra training, sits top right: as many facts as the mixture and nothing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answers. Retrain or teach? Teach. If it already knows it, steer it. If it never read it, let it read, then average. Does the language matter? Less than you'd think. And the question I'm chasing: if new knowledge is a direction we can add, average and steer, do we ever need to retrain from scratch?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rtlCol="0"/>
          <a:lstStyle>
            <a:lvl1pPr indent="0" marL="0">
              <a:buNone/>
              <a:defRPr lang="en-US" sz="1200" b="1" spc="3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ph idx="102" type="body" hasCustomPrompt="1"/>
          </p:nvPr>
        </p:nvSpPr>
        <p:spPr>
          <a:xfrm>
            <a:off x="640080" y="5989320"/>
            <a:ext cx="10908792" cy="548640"/>
          </a:xfrm>
          <a:prstGeom prst="rect">
            <a:avLst/>
          </a:prstGeom>
          <a:noFill/>
          <a:ln/>
        </p:spPr>
        <p:txBody>
          <a:bodyPr wrap="square" rtlCol="0"/>
          <a:lstStyle>
            <a:lvl1pPr indent="0" marL="0">
              <a:buNone/>
              <a:defRPr lang="en-US" sz="1800" b="1"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463040"/>
            <a:ext cx="10908792" cy="320040"/>
          </a:xfrm>
          <a:prstGeom prst="rect">
            <a:avLst/>
          </a:prstGeom>
          <a:noFill/>
          <a:ln/>
        </p:spPr>
        <p:txBody>
          <a:bodyPr wrap="square" rtlCol="0"/>
          <a:lstStyle>
            <a:lvl1pPr indent="0" marL="0">
              <a:buNone/>
              <a:defRPr lang="en-US" sz="1200" b="1" spc="3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640080" y="1828800"/>
            <a:ext cx="10908792" cy="1463040"/>
          </a:xfrm>
          <a:prstGeom prst="rect">
            <a:avLst/>
          </a:prstGeom>
          <a:noFill/>
          <a:ln/>
        </p:spPr>
        <p:txBody>
          <a:bodyPr wrap="square" rtlCol="0"/>
          <a:lstStyle>
            <a:lvl1pPr algn="l" indent="0" marL="0">
              <a:buNone/>
              <a:defRPr lang="en-US" sz="6600" b="1" dirty="0">
                <a:solidFill>
                  <a:schemeClr val="tx1"/>
                </a:solidFill>
              </a:defRPr>
            </a:lvl1pPr>
          </a:lstStyle>
          <a:p>
            <a:pPr algn="l" indent="0" marL="0">
              <a:buNone/>
            </a:pPr>
            <a:endParaRPr lang="en-US" sz="6600" dirty="0"/>
          </a:p>
        </p:txBody>
      </p:sp>
      <p:sp>
        <p:nvSpPr>
          <p:cNvPr id="4" name="Text 0"/>
          <p:cNvSpPr/>
          <p:nvPr>
            <p:ph idx="102" type="body" hasCustomPrompt="1"/>
          </p:nvPr>
        </p:nvSpPr>
        <p:spPr>
          <a:xfrm>
            <a:off x="640080" y="3383280"/>
            <a:ext cx="10908792" cy="914400"/>
          </a:xfrm>
          <a:prstGeom prst="rect">
            <a:avLst/>
          </a:prstGeom>
          <a:noFill/>
          <a:ln/>
        </p:spPr>
        <p:txBody>
          <a:bodyPr wrap="square" rtlCol="0"/>
          <a:lstStyle>
            <a:lvl1pPr indent="0" marL="0">
              <a:buNone/>
              <a:defRPr lang="en-US" sz="2800" dirty="0">
                <a:solidFill>
                  <a:schemeClr val="tx2"/>
                </a:solidFill>
              </a:defRPr>
            </a:lvl1pPr>
          </a:lstStyle>
          <a:p>
            <a:pPr indent="0" marL="0">
              <a:buNone/>
            </a:pPr>
            <a:endParaRPr lang="en-US" sz="2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46304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MHM LAB MEETING</a:t>
            </a:r>
            <a:endParaRPr lang="en-US" sz="1200" dirty="0"/>
          </a:p>
        </p:txBody>
      </p:sp>
      <p:sp>
        <p:nvSpPr>
          <p:cNvPr id="3" name="Text 0"/>
          <p:cNvSpPr/>
          <p:nvPr>
            <p:ph idx="101" type="title" hasCustomPrompt="1"/>
          </p:nvPr>
        </p:nvSpPr>
        <p:spPr>
          <a:xfrm>
            <a:off x="640080" y="1828800"/>
            <a:ext cx="10908792" cy="1463040"/>
          </a:xfrm>
          <a:prstGeom prst="rect">
            <a:avLst/>
          </a:prstGeom>
          <a:noFill/>
          <a:ln/>
        </p:spPr>
        <p:txBody>
          <a:bodyPr wrap="square" lIns="0" tIns="0" rIns="0" bIns="0" rtlCol="0" anchor="t"/>
          <a:lstStyle/>
          <a:p>
            <a:pPr algn="l" indent="0" marL="0">
              <a:buNone/>
            </a:pPr>
            <a:r>
              <a:rPr lang="en-US" sz="6600" b="1" dirty="0">
                <a:solidFill>
                  <a:schemeClr val="tx1"/>
                </a:solidFill>
              </a:rPr>
              <a:t>Retrain or teach?</a:t>
            </a:r>
            <a:endParaRPr lang="en-US" sz="6600" dirty="0"/>
          </a:p>
        </p:txBody>
      </p:sp>
      <p:sp>
        <p:nvSpPr>
          <p:cNvPr id="4" name="Text 0"/>
          <p:cNvSpPr/>
          <p:nvPr>
            <p:ph idx="102" type="body" hasCustomPrompt="1"/>
          </p:nvPr>
        </p:nvSpPr>
        <p:spPr>
          <a:xfrm>
            <a:off x="640080" y="3383280"/>
            <a:ext cx="10908792" cy="914400"/>
          </a:xfrm>
          <a:prstGeom prst="rect">
            <a:avLst/>
          </a:prstGeom>
          <a:noFill/>
          <a:ln/>
        </p:spPr>
        <p:txBody>
          <a:bodyPr wrap="square" lIns="0" tIns="0" rIns="0" bIns="0" rtlCol="0" anchor="t"/>
          <a:lstStyle/>
          <a:p>
            <a:pPr indent="0" marL="0">
              <a:buNone/>
            </a:pPr>
            <a:r>
              <a:rPr lang="en-US" sz="2800" dirty="0">
                <a:solidFill>
                  <a:schemeClr val="tx2"/>
                </a:solidFill>
              </a:rPr>
              <a:t>How AI learns after it's built. </a:t>
            </a:r>
            <a:pPr indent="0" marL="0">
              <a:buNone/>
            </a:pPr>
            <a:r>
              <a:rPr lang="en-US" sz="2800" i="1" dirty="0">
                <a:solidFill>
                  <a:srgbClr val="6B7280"/>
                </a:solidFill>
              </a:rPr>
              <a:t>Does the language matter?</a:t>
            </a:r>
            <a:endParaRPr lang="en-US" sz="2800" dirty="0"/>
          </a:p>
        </p:txBody>
      </p:sp>
      <p:sp>
        <p:nvSpPr>
          <p:cNvPr id="5" name="Shape 3"/>
          <p:cNvSpPr/>
          <p:nvPr/>
        </p:nvSpPr>
        <p:spPr>
          <a:xfrm>
            <a:off x="640080" y="4892040"/>
            <a:ext cx="10908792" cy="0"/>
          </a:xfrm>
          <a:prstGeom prst="line">
            <a:avLst/>
          </a:prstGeom>
          <a:noFill/>
          <a:ln w="12700">
            <a:solidFill>
              <a:srgbClr val="E5E7EB"/>
            </a:solidFill>
            <a:prstDash val="solid"/>
          </a:ln>
        </p:spPr>
      </p:sp>
      <p:sp>
        <p:nvSpPr>
          <p:cNvPr id="6" name="Text 4"/>
          <p:cNvSpPr txBox="1"/>
          <p:nvPr/>
        </p:nvSpPr>
        <p:spPr>
          <a:xfrm>
            <a:off x="640080" y="5074920"/>
            <a:ext cx="2377440" cy="365760"/>
          </a:xfrm>
          <a:prstGeom prst="rect">
            <a:avLst/>
          </a:prstGeom>
          <a:noFill/>
          <a:ln/>
        </p:spPr>
        <p:txBody>
          <a:bodyPr wrap="square" lIns="0" tIns="0" rIns="0" bIns="0" rtlCol="0" anchor="ctr"/>
          <a:lstStyle/>
          <a:p>
            <a:pPr indent="0" marL="0">
              <a:buNone/>
            </a:pPr>
            <a:r>
              <a:rPr lang="en-US" sz="1700" b="1" dirty="0">
                <a:solidFill>
                  <a:srgbClr val="111827"/>
                </a:solidFill>
              </a:rPr>
              <a:t>Nitin Sharma</a:t>
            </a:r>
            <a:endParaRPr lang="en-US" sz="1700" dirty="0"/>
          </a:p>
        </p:txBody>
      </p:sp>
      <p:sp>
        <p:nvSpPr>
          <p:cNvPr id="7" name="Text 5"/>
          <p:cNvSpPr txBox="1"/>
          <p:nvPr/>
        </p:nvSpPr>
        <p:spPr>
          <a:xfrm>
            <a:off x="640080" y="5440680"/>
            <a:ext cx="2377440" cy="731520"/>
          </a:xfrm>
          <a:prstGeom prst="rect">
            <a:avLst/>
          </a:prstGeom>
          <a:noFill/>
          <a:ln/>
        </p:spPr>
        <p:txBody>
          <a:bodyPr wrap="square" lIns="0" tIns="0" rIns="0" bIns="0" rtlCol="0" anchor="t"/>
          <a:lstStyle/>
          <a:p>
            <a:pPr indent="0" marL="0">
              <a:buNone/>
            </a:pPr>
            <a:r>
              <a:rPr lang="en-US" sz="1150" dirty="0">
                <a:solidFill>
                  <a:srgbClr val="6B7280"/>
                </a:solidFill>
              </a:rPr>
              <a:t>Research Assistant</a:t>
            </a:r>
            <a:endParaRPr lang="en-US" sz="1150" dirty="0"/>
          </a:p>
          <a:p>
            <a:pPr indent="0" marL="0">
              <a:buNone/>
            </a:pPr>
            <a:r>
              <a:rPr lang="en-US" sz="1150" dirty="0">
                <a:solidFill>
                  <a:srgbClr val="6B7280"/>
                </a:solidFill>
              </a:rPr>
              <a:t>UKT Tübingen</a:t>
            </a:r>
            <a:endParaRPr lang="en-US" sz="1150" dirty="0"/>
          </a:p>
        </p:txBody>
      </p:sp>
      <p:sp>
        <p:nvSpPr>
          <p:cNvPr id="8" name="Text 6"/>
          <p:cNvSpPr txBox="1"/>
          <p:nvPr/>
        </p:nvSpPr>
        <p:spPr>
          <a:xfrm>
            <a:off x="3291840" y="5074920"/>
            <a:ext cx="3108960" cy="365760"/>
          </a:xfrm>
          <a:prstGeom prst="rect">
            <a:avLst/>
          </a:prstGeom>
          <a:noFill/>
          <a:ln/>
        </p:spPr>
        <p:txBody>
          <a:bodyPr wrap="square" lIns="0" tIns="0" rIns="0" bIns="0" rtlCol="0" anchor="ctr"/>
          <a:lstStyle/>
          <a:p>
            <a:pPr indent="0" marL="0">
              <a:buNone/>
            </a:pPr>
            <a:r>
              <a:rPr lang="en-US" sz="1500" b="1" dirty="0">
                <a:solidFill>
                  <a:srgbClr val="111827"/>
                </a:solidFill>
              </a:rPr>
              <a:t>Prof. Dr. Thomas Wolfers</a:t>
            </a:r>
            <a:endParaRPr lang="en-US" sz="1500" dirty="0"/>
          </a:p>
        </p:txBody>
      </p:sp>
      <p:sp>
        <p:nvSpPr>
          <p:cNvPr id="9" name="Text 7"/>
          <p:cNvSpPr txBox="1"/>
          <p:nvPr/>
        </p:nvSpPr>
        <p:spPr>
          <a:xfrm>
            <a:off x="3291840" y="5440680"/>
            <a:ext cx="3108960" cy="731520"/>
          </a:xfrm>
          <a:prstGeom prst="rect">
            <a:avLst/>
          </a:prstGeom>
          <a:noFill/>
          <a:ln/>
        </p:spPr>
        <p:txBody>
          <a:bodyPr wrap="square" lIns="0" tIns="0" rIns="0" bIns="0" rtlCol="0" anchor="t"/>
          <a:lstStyle/>
          <a:p>
            <a:pPr indent="0" marL="0">
              <a:buNone/>
            </a:pPr>
            <a:r>
              <a:rPr lang="en-US" sz="1150" dirty="0">
                <a:solidFill>
                  <a:srgbClr val="6B7280"/>
                </a:solidFill>
              </a:rPr>
              <a:t>Carl Zeiss Professor for AI in Neural Systems Imaging, FSU Jena</a:t>
            </a:r>
            <a:endParaRPr lang="en-US" sz="1150" dirty="0"/>
          </a:p>
        </p:txBody>
      </p:sp>
      <p:sp>
        <p:nvSpPr>
          <p:cNvPr id="10" name="Text 8"/>
          <p:cNvSpPr txBox="1"/>
          <p:nvPr/>
        </p:nvSpPr>
        <p:spPr>
          <a:xfrm>
            <a:off x="6675120" y="5074920"/>
            <a:ext cx="3108960" cy="365760"/>
          </a:xfrm>
          <a:prstGeom prst="rect">
            <a:avLst/>
          </a:prstGeom>
          <a:noFill/>
          <a:ln/>
        </p:spPr>
        <p:txBody>
          <a:bodyPr wrap="square" lIns="0" tIns="0" rIns="0" bIns="0" rtlCol="0" anchor="ctr"/>
          <a:lstStyle/>
          <a:p>
            <a:pPr indent="0" marL="0">
              <a:buNone/>
            </a:pPr>
            <a:r>
              <a:rPr lang="en-US" sz="1500" b="1" dirty="0">
                <a:solidFill>
                  <a:srgbClr val="111827"/>
                </a:solidFill>
              </a:rPr>
              <a:t>Dr. Çağatay Yıldız</a:t>
            </a:r>
            <a:endParaRPr lang="en-US" sz="1500" dirty="0"/>
          </a:p>
        </p:txBody>
      </p:sp>
      <p:sp>
        <p:nvSpPr>
          <p:cNvPr id="11" name="Text 9"/>
          <p:cNvSpPr txBox="1"/>
          <p:nvPr/>
        </p:nvSpPr>
        <p:spPr>
          <a:xfrm>
            <a:off x="6675120" y="5440680"/>
            <a:ext cx="3108960" cy="731520"/>
          </a:xfrm>
          <a:prstGeom prst="rect">
            <a:avLst/>
          </a:prstGeom>
          <a:noFill/>
          <a:ln/>
        </p:spPr>
        <p:txBody>
          <a:bodyPr wrap="square" lIns="0" tIns="0" rIns="0" bIns="0" rtlCol="0" anchor="t"/>
          <a:lstStyle/>
          <a:p>
            <a:pPr indent="0" marL="0">
              <a:buNone/>
            </a:pPr>
            <a:r>
              <a:rPr lang="en-US" sz="1150" dirty="0">
                <a:solidFill>
                  <a:srgbClr val="6B7280"/>
                </a:solidFill>
              </a:rPr>
              <a:t>Cluster of Excellence ML for Science, University of Tübingen</a:t>
            </a:r>
            <a:endParaRPr lang="en-US" sz="1150" dirty="0"/>
          </a:p>
        </p:txBody>
      </p:sp>
      <p:sp>
        <p:nvSpPr>
          <p:cNvPr id="12" name="Text 10"/>
          <p:cNvSpPr txBox="1"/>
          <p:nvPr/>
        </p:nvSpPr>
        <p:spPr>
          <a:xfrm>
            <a:off x="9692640" y="5074920"/>
            <a:ext cx="1828800" cy="365760"/>
          </a:xfrm>
          <a:prstGeom prst="rect">
            <a:avLst/>
          </a:prstGeom>
          <a:noFill/>
          <a:ln/>
        </p:spPr>
        <p:txBody>
          <a:bodyPr wrap="square" lIns="0" tIns="0" rIns="0" bIns="0" rtlCol="0" anchor="ctr"/>
          <a:lstStyle/>
          <a:p>
            <a:pPr algn="r" indent="0" marL="0">
              <a:buNone/>
            </a:pPr>
            <a:r>
              <a:rPr lang="en-US" sz="1500" b="1" dirty="0">
                <a:solidFill>
                  <a:srgbClr val="111827"/>
                </a:solidFill>
              </a:rPr>
              <a:t>MHM Lab</a:t>
            </a:r>
            <a:endParaRPr lang="en-US" sz="1500" dirty="0"/>
          </a:p>
        </p:txBody>
      </p:sp>
      <p:sp>
        <p:nvSpPr>
          <p:cNvPr id="13" name="Text 11"/>
          <p:cNvSpPr txBox="1"/>
          <p:nvPr/>
        </p:nvSpPr>
        <p:spPr>
          <a:xfrm>
            <a:off x="9144000" y="5440680"/>
            <a:ext cx="2377440" cy="365760"/>
          </a:xfrm>
          <a:prstGeom prst="rect">
            <a:avLst/>
          </a:prstGeom>
          <a:noFill/>
          <a:ln/>
        </p:spPr>
        <p:txBody>
          <a:bodyPr wrap="square" lIns="0" tIns="0" rIns="0" bIns="0" rtlCol="0" anchor="ctr"/>
          <a:lstStyle/>
          <a:p>
            <a:pPr algn="r" indent="0" marL="0">
              <a:buNone/>
            </a:pPr>
            <a:r>
              <a:rPr lang="en-US" sz="1150" dirty="0">
                <a:solidFill>
                  <a:srgbClr val="6B7280"/>
                </a:solidFill>
              </a:rPr>
              <a:t>Mental Health Mapping</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THE HOOK</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Your AI finished school in 2023. </a:t>
            </a:r>
            <a:pPr algn="l" indent="0" marL="0">
              <a:buNone/>
            </a:pPr>
            <a:r>
              <a:rPr lang="en-US" sz="3200" b="1" i="1" dirty="0">
                <a:solidFill>
                  <a:srgbClr val="6B7280"/>
                </a:solidFill>
              </a:rPr>
              <a:t>It hasn't read anything since.</a:t>
            </a:r>
            <a:endParaRPr lang="en-US" sz="3200" dirty="0"/>
          </a:p>
        </p:txBody>
      </p:sp>
      <p:pic>
        <p:nvPicPr>
          <p:cNvPr id="4" name="Image 0" descr="preencoded.png">    </p:cNvPr>
          <p:cNvPicPr>
            <a:picLocks noChangeAspect="1"/>
          </p:cNvPicPr>
          <p:nvPr/>
        </p:nvPicPr>
        <p:blipFill>
          <a:blip r:embed="rId1"/>
          <a:stretch>
            <a:fillRect/>
          </a:stretch>
        </p:blipFill>
        <p:spPr>
          <a:xfrm>
            <a:off x="5577840" y="2148840"/>
            <a:ext cx="1005840" cy="1005840"/>
          </a:xfrm>
          <a:prstGeom prst="rect">
            <a:avLst/>
          </a:prstGeom>
        </p:spPr>
      </p:pic>
      <p:sp>
        <p:nvSpPr>
          <p:cNvPr id="5" name="Text 2"/>
          <p:cNvSpPr txBox="1"/>
          <p:nvPr/>
        </p:nvSpPr>
        <p:spPr>
          <a:xfrm>
            <a:off x="4754880" y="3200400"/>
            <a:ext cx="2651760" cy="411480"/>
          </a:xfrm>
          <a:prstGeom prst="rect">
            <a:avLst/>
          </a:prstGeom>
          <a:noFill/>
          <a:ln/>
        </p:spPr>
        <p:txBody>
          <a:bodyPr wrap="square" lIns="0" tIns="0" rIns="0" bIns="0" rtlCol="0" anchor="ctr"/>
          <a:lstStyle/>
          <a:p>
            <a:pPr algn="ctr" indent="0" marL="0">
              <a:buNone/>
            </a:pPr>
            <a:r>
              <a:rPr lang="en-US" sz="2400" b="1" dirty="0">
                <a:solidFill>
                  <a:srgbClr val="111827"/>
                </a:solidFill>
              </a:rPr>
              <a:t>Dec 2023</a:t>
            </a:r>
            <a:endParaRPr lang="en-US" sz="2400" dirty="0"/>
          </a:p>
        </p:txBody>
      </p:sp>
      <p:sp>
        <p:nvSpPr>
          <p:cNvPr id="6" name="Shape 3"/>
          <p:cNvSpPr/>
          <p:nvPr/>
        </p:nvSpPr>
        <p:spPr>
          <a:xfrm>
            <a:off x="640080" y="3749040"/>
            <a:ext cx="5303520" cy="292608"/>
          </a:xfrm>
          <a:prstGeom prst="roundRect">
            <a:avLst>
              <a:gd name="adj" fmla="val 50000"/>
            </a:avLst>
          </a:prstGeom>
          <a:solidFill>
            <a:srgbClr val="111827"/>
          </a:solidFill>
          <a:ln w="12700">
            <a:solidFill>
              <a:srgbClr val="111827"/>
            </a:solidFill>
            <a:prstDash val="solid"/>
          </a:ln>
        </p:spPr>
      </p:sp>
      <p:sp>
        <p:nvSpPr>
          <p:cNvPr id="7" name="Shape 4"/>
          <p:cNvSpPr/>
          <p:nvPr/>
        </p:nvSpPr>
        <p:spPr>
          <a:xfrm>
            <a:off x="6172200" y="3749040"/>
            <a:ext cx="384048" cy="292608"/>
          </a:xfrm>
          <a:prstGeom prst="rect">
            <a:avLst/>
          </a:prstGeom>
          <a:solidFill>
            <a:srgbClr val="C2410C"/>
          </a:solidFill>
          <a:ln w="12700">
            <a:solidFill>
              <a:srgbClr val="C2410C"/>
            </a:solidFill>
            <a:prstDash val="solid"/>
          </a:ln>
        </p:spPr>
      </p:sp>
      <p:sp>
        <p:nvSpPr>
          <p:cNvPr id="8" name="Shape 5"/>
          <p:cNvSpPr/>
          <p:nvPr/>
        </p:nvSpPr>
        <p:spPr>
          <a:xfrm>
            <a:off x="6775704" y="3749040"/>
            <a:ext cx="384048" cy="292608"/>
          </a:xfrm>
          <a:prstGeom prst="rect">
            <a:avLst/>
          </a:prstGeom>
          <a:solidFill>
            <a:srgbClr val="C2410C"/>
          </a:solidFill>
          <a:ln w="12700">
            <a:solidFill>
              <a:srgbClr val="C2410C"/>
            </a:solidFill>
            <a:prstDash val="solid"/>
          </a:ln>
        </p:spPr>
      </p:sp>
      <p:sp>
        <p:nvSpPr>
          <p:cNvPr id="9" name="Shape 6"/>
          <p:cNvSpPr/>
          <p:nvPr/>
        </p:nvSpPr>
        <p:spPr>
          <a:xfrm>
            <a:off x="7379208" y="3749040"/>
            <a:ext cx="384048" cy="292608"/>
          </a:xfrm>
          <a:prstGeom prst="rect">
            <a:avLst/>
          </a:prstGeom>
          <a:solidFill>
            <a:srgbClr val="C2410C"/>
          </a:solidFill>
          <a:ln w="12700">
            <a:solidFill>
              <a:srgbClr val="C2410C"/>
            </a:solidFill>
            <a:prstDash val="solid"/>
          </a:ln>
        </p:spPr>
      </p:sp>
      <p:sp>
        <p:nvSpPr>
          <p:cNvPr id="10" name="Shape 7"/>
          <p:cNvSpPr/>
          <p:nvPr/>
        </p:nvSpPr>
        <p:spPr>
          <a:xfrm>
            <a:off x="7982712" y="3749040"/>
            <a:ext cx="384048" cy="292608"/>
          </a:xfrm>
          <a:prstGeom prst="rect">
            <a:avLst/>
          </a:prstGeom>
          <a:solidFill>
            <a:srgbClr val="C2410C"/>
          </a:solidFill>
          <a:ln w="12700">
            <a:solidFill>
              <a:srgbClr val="C2410C"/>
            </a:solidFill>
            <a:prstDash val="solid"/>
          </a:ln>
        </p:spPr>
      </p:sp>
      <p:sp>
        <p:nvSpPr>
          <p:cNvPr id="11" name="Shape 8"/>
          <p:cNvSpPr/>
          <p:nvPr/>
        </p:nvSpPr>
        <p:spPr>
          <a:xfrm>
            <a:off x="8586216" y="3749040"/>
            <a:ext cx="384048" cy="292608"/>
          </a:xfrm>
          <a:prstGeom prst="rect">
            <a:avLst/>
          </a:prstGeom>
          <a:solidFill>
            <a:srgbClr val="C2410C"/>
          </a:solidFill>
          <a:ln w="12700">
            <a:solidFill>
              <a:srgbClr val="C2410C"/>
            </a:solidFill>
            <a:prstDash val="solid"/>
          </a:ln>
        </p:spPr>
      </p:sp>
      <p:sp>
        <p:nvSpPr>
          <p:cNvPr id="12" name="Shape 9"/>
          <p:cNvSpPr/>
          <p:nvPr/>
        </p:nvSpPr>
        <p:spPr>
          <a:xfrm>
            <a:off x="9189720" y="3749040"/>
            <a:ext cx="384048" cy="292608"/>
          </a:xfrm>
          <a:prstGeom prst="rect">
            <a:avLst/>
          </a:prstGeom>
          <a:solidFill>
            <a:srgbClr val="C2410C"/>
          </a:solidFill>
          <a:ln w="12700">
            <a:solidFill>
              <a:srgbClr val="C2410C"/>
            </a:solidFill>
            <a:prstDash val="solid"/>
          </a:ln>
        </p:spPr>
      </p:sp>
      <p:sp>
        <p:nvSpPr>
          <p:cNvPr id="13" name="Shape 10"/>
          <p:cNvSpPr/>
          <p:nvPr/>
        </p:nvSpPr>
        <p:spPr>
          <a:xfrm>
            <a:off x="9793224" y="3749040"/>
            <a:ext cx="384048" cy="292608"/>
          </a:xfrm>
          <a:prstGeom prst="rect">
            <a:avLst/>
          </a:prstGeom>
          <a:solidFill>
            <a:srgbClr val="C2410C"/>
          </a:solidFill>
          <a:ln w="12700">
            <a:solidFill>
              <a:srgbClr val="C2410C"/>
            </a:solidFill>
            <a:prstDash val="solid"/>
          </a:ln>
        </p:spPr>
      </p:sp>
      <p:sp>
        <p:nvSpPr>
          <p:cNvPr id="14" name="Shape 11"/>
          <p:cNvSpPr/>
          <p:nvPr/>
        </p:nvSpPr>
        <p:spPr>
          <a:xfrm>
            <a:off x="10396728" y="3749040"/>
            <a:ext cx="384048" cy="292608"/>
          </a:xfrm>
          <a:prstGeom prst="rect">
            <a:avLst/>
          </a:prstGeom>
          <a:solidFill>
            <a:srgbClr val="C2410C"/>
          </a:solidFill>
          <a:ln w="12700">
            <a:solidFill>
              <a:srgbClr val="C2410C"/>
            </a:solidFill>
            <a:prstDash val="solid"/>
          </a:ln>
        </p:spPr>
      </p:sp>
      <p:sp>
        <p:nvSpPr>
          <p:cNvPr id="15" name="Shape 12"/>
          <p:cNvSpPr/>
          <p:nvPr/>
        </p:nvSpPr>
        <p:spPr>
          <a:xfrm>
            <a:off x="11000232" y="3749040"/>
            <a:ext cx="384048" cy="292608"/>
          </a:xfrm>
          <a:prstGeom prst="rect">
            <a:avLst/>
          </a:prstGeom>
          <a:solidFill>
            <a:srgbClr val="C2410C"/>
          </a:solidFill>
          <a:ln w="12700">
            <a:solidFill>
              <a:srgbClr val="C2410C"/>
            </a:solidFill>
            <a:prstDash val="solid"/>
          </a:ln>
        </p:spPr>
      </p:sp>
      <p:sp>
        <p:nvSpPr>
          <p:cNvPr id="16" name="Text 13"/>
          <p:cNvSpPr txBox="1"/>
          <p:nvPr/>
        </p:nvSpPr>
        <p:spPr>
          <a:xfrm>
            <a:off x="640080" y="4206240"/>
            <a:ext cx="5303520" cy="457200"/>
          </a:xfrm>
          <a:prstGeom prst="rect">
            <a:avLst/>
          </a:prstGeom>
          <a:noFill/>
          <a:ln/>
        </p:spPr>
        <p:txBody>
          <a:bodyPr wrap="square" lIns="0" tIns="0" rIns="0" bIns="0" rtlCol="0" anchor="ctr"/>
          <a:lstStyle/>
          <a:p>
            <a:pPr indent="0" marL="0">
              <a:buNone/>
            </a:pPr>
            <a:r>
              <a:rPr lang="en-US" sz="2400" b="1" dirty="0">
                <a:solidFill>
                  <a:srgbClr val="111827"/>
                </a:solidFill>
              </a:rPr>
              <a:t>Read everything up to here</a:t>
            </a:r>
            <a:endParaRPr lang="en-US" sz="2400" dirty="0"/>
          </a:p>
        </p:txBody>
      </p:sp>
      <p:sp>
        <p:nvSpPr>
          <p:cNvPr id="17" name="Text 14"/>
          <p:cNvSpPr txBox="1"/>
          <p:nvPr/>
        </p:nvSpPr>
        <p:spPr>
          <a:xfrm>
            <a:off x="6172200" y="4206240"/>
            <a:ext cx="5394960" cy="457200"/>
          </a:xfrm>
          <a:prstGeom prst="rect">
            <a:avLst/>
          </a:prstGeom>
          <a:noFill/>
          <a:ln/>
        </p:spPr>
        <p:txBody>
          <a:bodyPr wrap="square" lIns="0" tIns="0" rIns="0" bIns="0" rtlCol="0" anchor="ctr"/>
          <a:lstStyle/>
          <a:p>
            <a:pPr indent="0" marL="0">
              <a:buNone/>
            </a:pPr>
            <a:r>
              <a:rPr lang="en-US" sz="2400" b="1" dirty="0">
                <a:solidFill>
                  <a:srgbClr val="C2410C"/>
                </a:solidFill>
              </a:rPr>
              <a:t>Never saw this</a:t>
            </a:r>
            <a:endParaRPr lang="en-US" sz="2400" dirty="0"/>
          </a:p>
        </p:txBody>
      </p:sp>
      <p:sp>
        <p:nvSpPr>
          <p:cNvPr id="18" name="Text 15"/>
          <p:cNvSpPr txBox="1"/>
          <p:nvPr/>
        </p:nvSpPr>
        <p:spPr>
          <a:xfrm>
            <a:off x="6172200" y="4663440"/>
            <a:ext cx="5394960" cy="365760"/>
          </a:xfrm>
          <a:prstGeom prst="rect">
            <a:avLst/>
          </a:prstGeom>
          <a:noFill/>
          <a:ln/>
        </p:spPr>
        <p:txBody>
          <a:bodyPr wrap="square" lIns="0" tIns="0" rIns="0" bIns="0" rtlCol="0" anchor="ctr"/>
          <a:lstStyle/>
          <a:p>
            <a:pPr indent="0" marL="0">
              <a:buNone/>
            </a:pPr>
            <a:r>
              <a:rPr lang="en-US" sz="1800" dirty="0">
                <a:solidFill>
                  <a:srgbClr val="6B7280"/>
                </a:solidFill>
              </a:rPr>
              <a:t>elections · new drugs · yesterday's news</a:t>
            </a:r>
            <a:endParaRPr lang="en-US" sz="1800" dirty="0"/>
          </a:p>
        </p:txBody>
      </p:sp>
      <p:sp>
        <p:nvSpPr>
          <p:cNvPr id="19"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Ask it about anything after that and it guesses. </a:t>
            </a:r>
            <a:pPr indent="0" marL="0">
              <a:buNone/>
            </a:pPr>
            <a:r>
              <a:rPr lang="en-US" sz="1800" b="1" i="1" dirty="0">
                <a:solidFill>
                  <a:srgbClr val="6B7280"/>
                </a:solidFill>
              </a:rPr>
              <a:t>So how do we keep it useful?</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THE USUAL FIX</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Send it back to school. </a:t>
            </a:r>
            <a:pPr algn="l" indent="0" marL="0">
              <a:buNone/>
            </a:pPr>
            <a:r>
              <a:rPr lang="en-US" sz="3200" b="1" i="1" dirty="0">
                <a:solidFill>
                  <a:srgbClr val="6B7280"/>
                </a:solidFill>
              </a:rPr>
              <a:t>Expensive, and it forgets.</a:t>
            </a:r>
            <a:endParaRPr lang="en-US" sz="3200" dirty="0"/>
          </a:p>
        </p:txBody>
      </p:sp>
      <p:sp>
        <p:nvSpPr>
          <p:cNvPr id="4" name="Shape 2"/>
          <p:cNvSpPr/>
          <p:nvPr/>
        </p:nvSpPr>
        <p:spPr>
          <a:xfrm>
            <a:off x="640080" y="2194560"/>
            <a:ext cx="5257800" cy="3291840"/>
          </a:xfrm>
          <a:prstGeom prst="roundRect">
            <a:avLst>
              <a:gd name="adj" fmla="val 3333"/>
            </a:avLst>
          </a:prstGeom>
          <a:solidFill>
            <a:srgbClr val="F9FAFB"/>
          </a:solidFill>
          <a:ln w="12700">
            <a:solidFill>
              <a:srgbClr val="E5E7EB"/>
            </a:solidFill>
            <a:prstDash val="solid"/>
          </a:ln>
        </p:spPr>
      </p:sp>
      <p:sp>
        <p:nvSpPr>
          <p:cNvPr id="5" name="Text 3"/>
          <p:cNvSpPr txBox="1"/>
          <p:nvPr/>
        </p:nvSpPr>
        <p:spPr>
          <a:xfrm>
            <a:off x="640080" y="2423160"/>
            <a:ext cx="5257800" cy="274320"/>
          </a:xfrm>
          <a:prstGeom prst="rect">
            <a:avLst/>
          </a:prstGeom>
          <a:noFill/>
          <a:ln/>
        </p:spPr>
        <p:txBody>
          <a:bodyPr wrap="square" lIns="0" tIns="0" rIns="0" bIns="0" rtlCol="0" anchor="ctr"/>
          <a:lstStyle/>
          <a:p>
            <a:pPr algn="ctr" indent="0" marL="0">
              <a:buNone/>
            </a:pPr>
            <a:r>
              <a:rPr lang="en-US" sz="1100" b="1" spc="200" kern="0" dirty="0">
                <a:solidFill>
                  <a:srgbClr val="6B7280"/>
                </a:solidFill>
              </a:rPr>
              <a:t>TO TEACH IT MEDICINE</a:t>
            </a:r>
            <a:endParaRPr lang="en-US" sz="1100" dirty="0"/>
          </a:p>
        </p:txBody>
      </p:sp>
      <p:sp>
        <p:nvSpPr>
          <p:cNvPr id="6" name="Text 4"/>
          <p:cNvSpPr txBox="1"/>
          <p:nvPr/>
        </p:nvSpPr>
        <p:spPr>
          <a:xfrm>
            <a:off x="640080" y="2788920"/>
            <a:ext cx="5257800" cy="1280160"/>
          </a:xfrm>
          <a:prstGeom prst="rect">
            <a:avLst/>
          </a:prstGeom>
          <a:noFill/>
          <a:ln/>
        </p:spPr>
        <p:txBody>
          <a:bodyPr wrap="square" lIns="0" tIns="0" rIns="0" bIns="0" rtlCol="0" anchor="ctr"/>
          <a:lstStyle/>
          <a:p>
            <a:pPr algn="ctr" indent="0" marL="0">
              <a:buNone/>
            </a:pPr>
            <a:r>
              <a:rPr lang="en-US" sz="7200" b="1" dirty="0">
                <a:solidFill>
                  <a:srgbClr val="111827"/>
                </a:solidFill>
                <a:latin typeface="Cambria" pitchFamily="34" charset="0"/>
                <a:ea typeface="Cambria" pitchFamily="34" charset="-122"/>
                <a:cs typeface="Cambria" pitchFamily="34" charset="-120"/>
              </a:rPr>
              <a:t>~48B</a:t>
            </a:r>
            <a:endParaRPr lang="en-US" sz="7200" dirty="0"/>
          </a:p>
        </p:txBody>
      </p:sp>
      <p:sp>
        <p:nvSpPr>
          <p:cNvPr id="7" name="Text 5"/>
          <p:cNvSpPr txBox="1"/>
          <p:nvPr/>
        </p:nvSpPr>
        <p:spPr>
          <a:xfrm>
            <a:off x="1005840" y="4206240"/>
            <a:ext cx="4526280" cy="731520"/>
          </a:xfrm>
          <a:prstGeom prst="rect">
            <a:avLst/>
          </a:prstGeom>
          <a:noFill/>
          <a:ln/>
        </p:spPr>
        <p:txBody>
          <a:bodyPr wrap="square" lIns="0" tIns="0" rIns="0" bIns="0" rtlCol="0" anchor="ctr"/>
          <a:lstStyle/>
          <a:p>
            <a:pPr algn="ctr" indent="0" marL="0">
              <a:buNone/>
            </a:pPr>
            <a:r>
              <a:rPr lang="en-US" sz="1500" dirty="0">
                <a:solidFill>
                  <a:srgbClr val="374151"/>
                </a:solidFill>
              </a:rPr>
              <a:t>words of training, weeks on 8 GPUs, thousands of dollars per run</a:t>
            </a:r>
            <a:endParaRPr lang="en-US" sz="1500" dirty="0"/>
          </a:p>
        </p:txBody>
      </p:sp>
      <p:sp>
        <p:nvSpPr>
          <p:cNvPr id="8" name="Shape 6"/>
          <p:cNvSpPr/>
          <p:nvPr/>
        </p:nvSpPr>
        <p:spPr>
          <a:xfrm>
            <a:off x="6263640" y="2194560"/>
            <a:ext cx="5257800" cy="3291840"/>
          </a:xfrm>
          <a:prstGeom prst="roundRect">
            <a:avLst>
              <a:gd name="adj" fmla="val 3333"/>
            </a:avLst>
          </a:prstGeom>
          <a:solidFill>
            <a:srgbClr val="FFF7ED"/>
          </a:solidFill>
          <a:ln w="12700">
            <a:solidFill>
              <a:srgbClr val="FDBA74"/>
            </a:solidFill>
            <a:prstDash val="solid"/>
          </a:ln>
        </p:spPr>
      </p:sp>
      <p:sp>
        <p:nvSpPr>
          <p:cNvPr id="9" name="Text 7"/>
          <p:cNvSpPr txBox="1"/>
          <p:nvPr/>
        </p:nvSpPr>
        <p:spPr>
          <a:xfrm>
            <a:off x="6263640" y="2423160"/>
            <a:ext cx="5257800" cy="274320"/>
          </a:xfrm>
          <a:prstGeom prst="rect">
            <a:avLst/>
          </a:prstGeom>
          <a:noFill/>
          <a:ln/>
        </p:spPr>
        <p:txBody>
          <a:bodyPr wrap="square" lIns="0" tIns="0" rIns="0" bIns="0" rtlCol="0" anchor="ctr"/>
          <a:lstStyle/>
          <a:p>
            <a:pPr algn="ctr" indent="0" marL="0">
              <a:buNone/>
            </a:pPr>
            <a:r>
              <a:rPr lang="en-US" sz="1100" b="1" spc="200" kern="0" dirty="0">
                <a:solidFill>
                  <a:srgbClr val="C2410C"/>
                </a:solidFill>
              </a:rPr>
              <a:t>AND AFTERWARDS</a:t>
            </a:r>
            <a:endParaRPr lang="en-US" sz="1100" dirty="0"/>
          </a:p>
        </p:txBody>
      </p:sp>
      <p:sp>
        <p:nvSpPr>
          <p:cNvPr id="10" name="Text 8"/>
          <p:cNvSpPr txBox="1"/>
          <p:nvPr/>
        </p:nvSpPr>
        <p:spPr>
          <a:xfrm>
            <a:off x="6583680" y="2788920"/>
            <a:ext cx="4617720" cy="822960"/>
          </a:xfrm>
          <a:prstGeom prst="rect">
            <a:avLst/>
          </a:prstGeom>
          <a:noFill/>
          <a:ln/>
        </p:spPr>
        <p:txBody>
          <a:bodyPr wrap="square" lIns="0" tIns="0" rIns="0" bIns="0" rtlCol="0" anchor="ctr"/>
          <a:lstStyle/>
          <a:p>
            <a:pPr algn="ctr" indent="0" marL="0">
              <a:buNone/>
            </a:pPr>
            <a:r>
              <a:rPr lang="en-US" sz="1600" i="1" dirty="0">
                <a:solidFill>
                  <a:srgbClr val="374151"/>
                </a:solidFill>
              </a:rPr>
              <a:t>“Anna passed the file to Ben. Ben passed it to Clara. Who has it?”</a:t>
            </a:r>
            <a:endParaRPr lang="en-US" sz="1600" dirty="0"/>
          </a:p>
        </p:txBody>
      </p:sp>
      <p:sp>
        <p:nvSpPr>
          <p:cNvPr id="11" name="Shape 9"/>
          <p:cNvSpPr/>
          <p:nvPr/>
        </p:nvSpPr>
        <p:spPr>
          <a:xfrm>
            <a:off x="6858000" y="3794760"/>
            <a:ext cx="2011680" cy="1188720"/>
          </a:xfrm>
          <a:prstGeom prst="roundRect">
            <a:avLst>
              <a:gd name="adj" fmla="val 9231"/>
            </a:avLst>
          </a:prstGeom>
          <a:solidFill>
            <a:srgbClr val="FFFFFF"/>
          </a:solidFill>
          <a:ln w="19050">
            <a:solidFill>
              <a:srgbClr val="E5E7EB"/>
            </a:solidFill>
            <a:prstDash val="solid"/>
          </a:ln>
        </p:spPr>
      </p:sp>
      <p:sp>
        <p:nvSpPr>
          <p:cNvPr id="12" name="Text 10"/>
          <p:cNvSpPr txBox="1"/>
          <p:nvPr/>
        </p:nvSpPr>
        <p:spPr>
          <a:xfrm>
            <a:off x="6858000" y="3886200"/>
            <a:ext cx="2011680" cy="320040"/>
          </a:xfrm>
          <a:prstGeom prst="rect">
            <a:avLst/>
          </a:prstGeom>
          <a:noFill/>
          <a:ln/>
        </p:spPr>
        <p:txBody>
          <a:bodyPr wrap="square" lIns="0" tIns="0" rIns="0" bIns="0" rtlCol="0" anchor="ctr"/>
          <a:lstStyle/>
          <a:p>
            <a:pPr algn="ctr" indent="0" marL="0">
              <a:buNone/>
            </a:pPr>
            <a:r>
              <a:rPr lang="en-US" sz="1200" dirty="0">
                <a:solidFill>
                  <a:srgbClr val="6B7280"/>
                </a:solidFill>
              </a:rPr>
              <a:t>before</a:t>
            </a:r>
            <a:endParaRPr lang="en-US" sz="1200" dirty="0"/>
          </a:p>
        </p:txBody>
      </p:sp>
      <p:sp>
        <p:nvSpPr>
          <p:cNvPr id="13" name="Text 11"/>
          <p:cNvSpPr txBox="1"/>
          <p:nvPr/>
        </p:nvSpPr>
        <p:spPr>
          <a:xfrm>
            <a:off x="6858000" y="4206240"/>
            <a:ext cx="2011680" cy="640080"/>
          </a:xfrm>
          <a:prstGeom prst="rect">
            <a:avLst/>
          </a:prstGeom>
          <a:noFill/>
          <a:ln/>
        </p:spPr>
        <p:txBody>
          <a:bodyPr wrap="square" lIns="0" tIns="0" rIns="0" bIns="0" rtlCol="0" anchor="ctr"/>
          <a:lstStyle/>
          <a:p>
            <a:pPr algn="ctr" indent="0" marL="0">
              <a:buNone/>
            </a:pPr>
            <a:r>
              <a:rPr lang="en-US" sz="2400" b="1" dirty="0">
                <a:solidFill>
                  <a:srgbClr val="111827"/>
                </a:solidFill>
              </a:rPr>
              <a:t>Clara ✓</a:t>
            </a:r>
            <a:endParaRPr lang="en-US" sz="2400" dirty="0"/>
          </a:p>
        </p:txBody>
      </p:sp>
      <p:sp>
        <p:nvSpPr>
          <p:cNvPr id="14" name="Shape 12"/>
          <p:cNvSpPr/>
          <p:nvPr/>
        </p:nvSpPr>
        <p:spPr>
          <a:xfrm>
            <a:off x="9144000" y="3794760"/>
            <a:ext cx="2011680" cy="1188720"/>
          </a:xfrm>
          <a:prstGeom prst="roundRect">
            <a:avLst>
              <a:gd name="adj" fmla="val 9231"/>
            </a:avLst>
          </a:prstGeom>
          <a:solidFill>
            <a:srgbClr val="FFFFFF"/>
          </a:solidFill>
          <a:ln w="19050">
            <a:solidFill>
              <a:srgbClr val="FDBA74"/>
            </a:solidFill>
            <a:prstDash val="solid"/>
          </a:ln>
        </p:spPr>
      </p:sp>
      <p:sp>
        <p:nvSpPr>
          <p:cNvPr id="15" name="Text 13"/>
          <p:cNvSpPr txBox="1"/>
          <p:nvPr/>
        </p:nvSpPr>
        <p:spPr>
          <a:xfrm>
            <a:off x="9144000" y="3886200"/>
            <a:ext cx="2011680" cy="320040"/>
          </a:xfrm>
          <a:prstGeom prst="rect">
            <a:avLst/>
          </a:prstGeom>
          <a:noFill/>
          <a:ln/>
        </p:spPr>
        <p:txBody>
          <a:bodyPr wrap="square" lIns="0" tIns="0" rIns="0" bIns="0" rtlCol="0" anchor="ctr"/>
          <a:lstStyle/>
          <a:p>
            <a:pPr algn="ctr" indent="0" marL="0">
              <a:buNone/>
            </a:pPr>
            <a:r>
              <a:rPr lang="en-US" sz="1200" dirty="0">
                <a:solidFill>
                  <a:srgbClr val="C2410C"/>
                </a:solidFill>
              </a:rPr>
              <a:t>after</a:t>
            </a:r>
            <a:endParaRPr lang="en-US" sz="1200" dirty="0"/>
          </a:p>
        </p:txBody>
      </p:sp>
      <p:sp>
        <p:nvSpPr>
          <p:cNvPr id="16" name="Text 14"/>
          <p:cNvSpPr txBox="1"/>
          <p:nvPr/>
        </p:nvSpPr>
        <p:spPr>
          <a:xfrm>
            <a:off x="9144000" y="4206240"/>
            <a:ext cx="2011680" cy="640080"/>
          </a:xfrm>
          <a:prstGeom prst="rect">
            <a:avLst/>
          </a:prstGeom>
          <a:noFill/>
          <a:ln/>
        </p:spPr>
        <p:txBody>
          <a:bodyPr wrap="square" lIns="0" tIns="0" rIns="0" bIns="0" rtlCol="0" anchor="ctr"/>
          <a:lstStyle/>
          <a:p>
            <a:pPr algn="ctr" indent="0" marL="0">
              <a:buNone/>
            </a:pPr>
            <a:r>
              <a:rPr lang="en-US" sz="2400" b="1" dirty="0">
                <a:solidFill>
                  <a:srgbClr val="C2410C"/>
                </a:solidFill>
              </a:rPr>
              <a:t>Anna ✗</a:t>
            </a:r>
            <a:endParaRPr lang="en-US" sz="2400" dirty="0"/>
          </a:p>
        </p:txBody>
      </p:sp>
      <p:sp>
        <p:nvSpPr>
          <p:cNvPr id="17"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Two costs every time: money, and what it used to know. </a:t>
            </a:r>
            <a:pPr indent="0" marL="0">
              <a:buNone/>
            </a:pPr>
            <a:r>
              <a:rPr lang="en-US" sz="1800" b="1" i="1" dirty="0">
                <a:solidFill>
                  <a:srgbClr val="6B7280"/>
                </a:solidFill>
              </a:rPr>
              <a:t>Can we teach instead?</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THE PLAN</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Two ways to teach </a:t>
            </a:r>
            <a:pPr algn="l" indent="0" marL="0">
              <a:buNone/>
            </a:pPr>
            <a:r>
              <a:rPr lang="en-US" sz="3200" b="1" i="1" dirty="0">
                <a:solidFill>
                  <a:srgbClr val="6B7280"/>
                </a:solidFill>
              </a:rPr>
              <a:t>instead of retrain.</a:t>
            </a:r>
            <a:endParaRPr lang="en-US" sz="3200" dirty="0"/>
          </a:p>
        </p:txBody>
      </p:sp>
      <p:sp>
        <p:nvSpPr>
          <p:cNvPr id="4" name="Shape 2"/>
          <p:cNvSpPr/>
          <p:nvPr/>
        </p:nvSpPr>
        <p:spPr>
          <a:xfrm>
            <a:off x="640080" y="2194560"/>
            <a:ext cx="5257800" cy="3611880"/>
          </a:xfrm>
          <a:prstGeom prst="roundRect">
            <a:avLst>
              <a:gd name="adj" fmla="val 3038"/>
            </a:avLst>
          </a:prstGeom>
          <a:solidFill>
            <a:srgbClr val="F9FAFB"/>
          </a:solidFill>
          <a:ln w="12700">
            <a:solidFill>
              <a:srgbClr val="E5E7EB"/>
            </a:solidFill>
            <a:prstDash val="solid"/>
          </a:ln>
        </p:spPr>
      </p:sp>
      <p:sp>
        <p:nvSpPr>
          <p:cNvPr id="5" name="Text 3"/>
          <p:cNvSpPr txBox="1"/>
          <p:nvPr/>
        </p:nvSpPr>
        <p:spPr>
          <a:xfrm>
            <a:off x="640080" y="2514600"/>
            <a:ext cx="5257800" cy="274320"/>
          </a:xfrm>
          <a:prstGeom prst="rect">
            <a:avLst/>
          </a:prstGeom>
          <a:noFill/>
          <a:ln/>
        </p:spPr>
        <p:txBody>
          <a:bodyPr wrap="square" lIns="0" tIns="0" rIns="0" bIns="0" rtlCol="0" anchor="ctr"/>
          <a:lstStyle/>
          <a:p>
            <a:pPr algn="ctr" indent="0" marL="0">
              <a:buNone/>
            </a:pPr>
            <a:r>
              <a:rPr lang="en-US" sz="1200" b="1" spc="300" kern="0" dirty="0">
                <a:solidFill>
                  <a:srgbClr val="C2410C"/>
                </a:solidFill>
              </a:rPr>
              <a:t>WAY 1</a:t>
            </a:r>
            <a:endParaRPr lang="en-US" sz="1200" dirty="0"/>
          </a:p>
        </p:txBody>
      </p:sp>
      <p:pic>
        <p:nvPicPr>
          <p:cNvPr id="6" name="Image 0" descr="preencoded.png">    </p:cNvPr>
          <p:cNvPicPr>
            <a:picLocks noChangeAspect="1"/>
          </p:cNvPicPr>
          <p:nvPr/>
        </p:nvPicPr>
        <p:blipFill>
          <a:blip r:embed="rId1"/>
          <a:stretch>
            <a:fillRect/>
          </a:stretch>
        </p:blipFill>
        <p:spPr>
          <a:xfrm>
            <a:off x="2720340" y="2926080"/>
            <a:ext cx="1097280" cy="1097280"/>
          </a:xfrm>
          <a:prstGeom prst="rect">
            <a:avLst/>
          </a:prstGeom>
        </p:spPr>
      </p:pic>
      <p:sp>
        <p:nvSpPr>
          <p:cNvPr id="7" name="Text 4"/>
          <p:cNvSpPr txBox="1"/>
          <p:nvPr/>
        </p:nvSpPr>
        <p:spPr>
          <a:xfrm>
            <a:off x="640080" y="4206240"/>
            <a:ext cx="5257800" cy="548640"/>
          </a:xfrm>
          <a:prstGeom prst="rect">
            <a:avLst/>
          </a:prstGeom>
          <a:noFill/>
          <a:ln/>
        </p:spPr>
        <p:txBody>
          <a:bodyPr wrap="square" lIns="0" tIns="0" rIns="0" bIns="0" rtlCol="0" anchor="ctr"/>
          <a:lstStyle/>
          <a:p>
            <a:pPr algn="ctr" indent="0" marL="0">
              <a:buNone/>
            </a:pPr>
            <a:r>
              <a:rPr lang="en-US" sz="2600" b="1" dirty="0">
                <a:solidFill>
                  <a:srgbClr val="111827"/>
                </a:solidFill>
              </a:rPr>
              <a:t>It already knows it</a:t>
            </a:r>
            <a:endParaRPr lang="en-US" sz="2600" dirty="0"/>
          </a:p>
        </p:txBody>
      </p:sp>
      <p:sp>
        <p:nvSpPr>
          <p:cNvPr id="8" name="Text 5"/>
          <p:cNvSpPr txBox="1"/>
          <p:nvPr/>
        </p:nvSpPr>
        <p:spPr>
          <a:xfrm>
            <a:off x="640080" y="4800600"/>
            <a:ext cx="5257800" cy="365760"/>
          </a:xfrm>
          <a:prstGeom prst="rect">
            <a:avLst/>
          </a:prstGeom>
          <a:noFill/>
          <a:ln/>
        </p:spPr>
        <p:txBody>
          <a:bodyPr wrap="square" lIns="0" tIns="0" rIns="0" bIns="0" rtlCol="0" anchor="ctr"/>
          <a:lstStyle/>
          <a:p>
            <a:pPr algn="ctr" indent="0" marL="0">
              <a:buNone/>
            </a:pPr>
            <a:r>
              <a:rPr lang="en-US" sz="1600" dirty="0">
                <a:solidFill>
                  <a:srgbClr val="6B7280"/>
                </a:solidFill>
              </a:rPr>
              <a:t>it just doesn't say it</a:t>
            </a:r>
            <a:endParaRPr lang="en-US" sz="1600" dirty="0"/>
          </a:p>
        </p:txBody>
      </p:sp>
      <p:sp>
        <p:nvSpPr>
          <p:cNvPr id="9" name="Shape 6"/>
          <p:cNvSpPr/>
          <p:nvPr/>
        </p:nvSpPr>
        <p:spPr>
          <a:xfrm>
            <a:off x="6263640" y="2194560"/>
            <a:ext cx="5257800" cy="3611880"/>
          </a:xfrm>
          <a:prstGeom prst="roundRect">
            <a:avLst>
              <a:gd name="adj" fmla="val 3038"/>
            </a:avLst>
          </a:prstGeom>
          <a:solidFill>
            <a:srgbClr val="FFF7ED"/>
          </a:solidFill>
          <a:ln w="12700">
            <a:solidFill>
              <a:srgbClr val="FDBA74"/>
            </a:solidFill>
            <a:prstDash val="solid"/>
          </a:ln>
        </p:spPr>
      </p:sp>
      <p:sp>
        <p:nvSpPr>
          <p:cNvPr id="10" name="Text 7"/>
          <p:cNvSpPr txBox="1"/>
          <p:nvPr/>
        </p:nvSpPr>
        <p:spPr>
          <a:xfrm>
            <a:off x="6263640" y="2514600"/>
            <a:ext cx="5257800" cy="274320"/>
          </a:xfrm>
          <a:prstGeom prst="rect">
            <a:avLst/>
          </a:prstGeom>
          <a:noFill/>
          <a:ln/>
        </p:spPr>
        <p:txBody>
          <a:bodyPr wrap="square" lIns="0" tIns="0" rIns="0" bIns="0" rtlCol="0" anchor="ctr"/>
          <a:lstStyle/>
          <a:p>
            <a:pPr algn="ctr" indent="0" marL="0">
              <a:buNone/>
            </a:pPr>
            <a:r>
              <a:rPr lang="en-US" sz="1200" b="1" spc="300" kern="0" dirty="0">
                <a:solidFill>
                  <a:srgbClr val="C2410C"/>
                </a:solidFill>
              </a:rPr>
              <a:t>WAY 2</a:t>
            </a:r>
            <a:endParaRPr lang="en-US" sz="1200" dirty="0"/>
          </a:p>
        </p:txBody>
      </p:sp>
      <p:pic>
        <p:nvPicPr>
          <p:cNvPr id="11" name="Image 1" descr="preencoded.png">    </p:cNvPr>
          <p:cNvPicPr>
            <a:picLocks noChangeAspect="1"/>
          </p:cNvPicPr>
          <p:nvPr/>
        </p:nvPicPr>
        <p:blipFill>
          <a:blip r:embed="rId2"/>
          <a:stretch>
            <a:fillRect/>
          </a:stretch>
        </p:blipFill>
        <p:spPr>
          <a:xfrm>
            <a:off x="8343900" y="2926080"/>
            <a:ext cx="1097280" cy="1097280"/>
          </a:xfrm>
          <a:prstGeom prst="rect">
            <a:avLst/>
          </a:prstGeom>
        </p:spPr>
      </p:pic>
      <p:sp>
        <p:nvSpPr>
          <p:cNvPr id="12" name="Text 8"/>
          <p:cNvSpPr txBox="1"/>
          <p:nvPr/>
        </p:nvSpPr>
        <p:spPr>
          <a:xfrm>
            <a:off x="6263640" y="4206240"/>
            <a:ext cx="5257800" cy="548640"/>
          </a:xfrm>
          <a:prstGeom prst="rect">
            <a:avLst/>
          </a:prstGeom>
          <a:noFill/>
          <a:ln/>
        </p:spPr>
        <p:txBody>
          <a:bodyPr wrap="square" lIns="0" tIns="0" rIns="0" bIns="0" rtlCol="0" anchor="ctr"/>
          <a:lstStyle/>
          <a:p>
            <a:pPr algn="ctr" indent="0" marL="0">
              <a:buNone/>
            </a:pPr>
            <a:r>
              <a:rPr lang="en-US" sz="2600" b="1" dirty="0">
                <a:solidFill>
                  <a:srgbClr val="111827"/>
                </a:solidFill>
              </a:rPr>
              <a:t>It never read it</a:t>
            </a:r>
            <a:endParaRPr lang="en-US" sz="2600" dirty="0"/>
          </a:p>
        </p:txBody>
      </p:sp>
      <p:sp>
        <p:nvSpPr>
          <p:cNvPr id="13" name="Text 9"/>
          <p:cNvSpPr txBox="1"/>
          <p:nvPr/>
        </p:nvSpPr>
        <p:spPr>
          <a:xfrm>
            <a:off x="6263640" y="4800600"/>
            <a:ext cx="5257800" cy="365760"/>
          </a:xfrm>
          <a:prstGeom prst="rect">
            <a:avLst/>
          </a:prstGeom>
          <a:noFill/>
          <a:ln/>
        </p:spPr>
        <p:txBody>
          <a:bodyPr wrap="square" lIns="0" tIns="0" rIns="0" bIns="0" rtlCol="0" anchor="ctr"/>
          <a:lstStyle/>
          <a:p>
            <a:pPr algn="ctr" indent="0" marL="0">
              <a:buNone/>
            </a:pPr>
            <a:r>
              <a:rPr lang="en-US" sz="1600" dirty="0">
                <a:solidFill>
                  <a:srgbClr val="6B7280"/>
                </a:solidFill>
              </a:rPr>
              <a:t>and has to learn, in some language</a:t>
            </a:r>
            <a:endParaRPr lang="en-US" sz="1600" dirty="0"/>
          </a:p>
        </p:txBody>
      </p:sp>
      <p:sp>
        <p:nvSpPr>
          <p:cNvPr id="14"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Way 1 needs no training at all. </a:t>
            </a:r>
            <a:pPr indent="0" marL="0">
              <a:buNone/>
            </a:pPr>
            <a:r>
              <a:rPr lang="en-US" sz="1800" b="1" i="1" dirty="0">
                <a:solidFill>
                  <a:srgbClr val="6B7280"/>
                </a:solidFill>
              </a:rPr>
              <a:t>Way 2 is where the language question comes in.</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1 · THE HUNCH</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Ever had a word on the tip of your tongue? </a:t>
            </a:r>
            <a:pPr algn="l" indent="0" marL="0">
              <a:buNone/>
            </a:pPr>
            <a:r>
              <a:rPr lang="en-US" sz="3200" b="1" i="1" dirty="0">
                <a:solidFill>
                  <a:srgbClr val="6B7280"/>
                </a:solidFill>
              </a:rPr>
              <a:t>So does the model.</a:t>
            </a:r>
            <a:endParaRPr lang="en-US" sz="3200" dirty="0"/>
          </a:p>
        </p:txBody>
      </p:sp>
      <p:sp>
        <p:nvSpPr>
          <p:cNvPr id="4" name="Shape 2"/>
          <p:cNvSpPr/>
          <p:nvPr/>
        </p:nvSpPr>
        <p:spPr>
          <a:xfrm>
            <a:off x="822960" y="4937760"/>
            <a:ext cx="822960" cy="182880"/>
          </a:xfrm>
          <a:prstGeom prst="rect">
            <a:avLst/>
          </a:prstGeom>
          <a:solidFill>
            <a:srgbClr val="FDBA74"/>
          </a:solidFill>
          <a:ln w="12700">
            <a:solidFill>
              <a:srgbClr val="FDBA74"/>
            </a:solidFill>
            <a:prstDash val="solid"/>
          </a:ln>
        </p:spPr>
      </p:sp>
      <p:sp>
        <p:nvSpPr>
          <p:cNvPr id="5" name="Text 3"/>
          <p:cNvSpPr txBox="1"/>
          <p:nvPr/>
        </p:nvSpPr>
        <p:spPr>
          <a:xfrm>
            <a:off x="640080" y="4553712"/>
            <a:ext cx="1188720" cy="365760"/>
          </a:xfrm>
          <a:prstGeom prst="rect">
            <a:avLst/>
          </a:prstGeom>
          <a:noFill/>
          <a:ln/>
        </p:spPr>
        <p:txBody>
          <a:bodyPr wrap="square" lIns="0" tIns="0" rIns="0" bIns="0" rtlCol="0" anchor="ctr"/>
          <a:lstStyle/>
          <a:p>
            <a:pPr algn="ctr" indent="0" marL="0">
              <a:buNone/>
            </a:pPr>
            <a:r>
              <a:rPr lang="en-US" sz="1600" b="1" dirty="0">
                <a:solidFill>
                  <a:srgbClr val="6B7280"/>
                </a:solidFill>
              </a:rPr>
              <a:t>+1</a:t>
            </a:r>
            <a:endParaRPr lang="en-US" sz="1600" dirty="0"/>
          </a:p>
        </p:txBody>
      </p:sp>
      <p:sp>
        <p:nvSpPr>
          <p:cNvPr id="6" name="Text 4"/>
          <p:cNvSpPr txBox="1"/>
          <p:nvPr/>
        </p:nvSpPr>
        <p:spPr>
          <a:xfrm>
            <a:off x="731520" y="5193792"/>
            <a:ext cx="1005840" cy="274320"/>
          </a:xfrm>
          <a:prstGeom prst="rect">
            <a:avLst/>
          </a:prstGeom>
          <a:noFill/>
          <a:ln/>
        </p:spPr>
        <p:txBody>
          <a:bodyPr wrap="square" lIns="0" tIns="0" rIns="0" bIns="0" rtlCol="0" anchor="ctr"/>
          <a:lstStyle/>
          <a:p>
            <a:pPr algn="ctr" indent="0" marL="0">
              <a:buNone/>
            </a:pPr>
            <a:r>
              <a:rPr lang="en-US" sz="1300" dirty="0">
                <a:solidFill>
                  <a:srgbClr val="6B7280"/>
                </a:solidFill>
              </a:rPr>
              <a:t>once</a:t>
            </a:r>
            <a:endParaRPr lang="en-US" sz="1300" dirty="0"/>
          </a:p>
        </p:txBody>
      </p:sp>
      <p:sp>
        <p:nvSpPr>
          <p:cNvPr id="7" name="Shape 5"/>
          <p:cNvSpPr/>
          <p:nvPr/>
        </p:nvSpPr>
        <p:spPr>
          <a:xfrm>
            <a:off x="1920240" y="4709160"/>
            <a:ext cx="822960" cy="411480"/>
          </a:xfrm>
          <a:prstGeom prst="rect">
            <a:avLst/>
          </a:prstGeom>
          <a:solidFill>
            <a:srgbClr val="FB923C"/>
          </a:solidFill>
          <a:ln w="12700">
            <a:solidFill>
              <a:srgbClr val="FB923C"/>
            </a:solidFill>
            <a:prstDash val="solid"/>
          </a:ln>
        </p:spPr>
      </p:sp>
      <p:sp>
        <p:nvSpPr>
          <p:cNvPr id="8" name="Text 6"/>
          <p:cNvSpPr txBox="1"/>
          <p:nvPr/>
        </p:nvSpPr>
        <p:spPr>
          <a:xfrm>
            <a:off x="1737360" y="4325112"/>
            <a:ext cx="1188720" cy="365760"/>
          </a:xfrm>
          <a:prstGeom prst="rect">
            <a:avLst/>
          </a:prstGeom>
          <a:noFill/>
          <a:ln/>
        </p:spPr>
        <p:txBody>
          <a:bodyPr wrap="square" lIns="0" tIns="0" rIns="0" bIns="0" rtlCol="0" anchor="ctr"/>
          <a:lstStyle/>
          <a:p>
            <a:pPr algn="ctr" indent="0" marL="0">
              <a:buNone/>
            </a:pPr>
            <a:r>
              <a:rPr lang="en-US" sz="1600" b="1" dirty="0">
                <a:solidFill>
                  <a:srgbClr val="6B7280"/>
                </a:solidFill>
              </a:rPr>
              <a:t>+2</a:t>
            </a:r>
            <a:endParaRPr lang="en-US" sz="1600" dirty="0"/>
          </a:p>
        </p:txBody>
      </p:sp>
      <p:sp>
        <p:nvSpPr>
          <p:cNvPr id="9" name="Text 7"/>
          <p:cNvSpPr txBox="1"/>
          <p:nvPr/>
        </p:nvSpPr>
        <p:spPr>
          <a:xfrm>
            <a:off x="1828800" y="5193792"/>
            <a:ext cx="1005840" cy="274320"/>
          </a:xfrm>
          <a:prstGeom prst="rect">
            <a:avLst/>
          </a:prstGeom>
          <a:noFill/>
          <a:ln/>
        </p:spPr>
        <p:txBody>
          <a:bodyPr wrap="square" lIns="0" tIns="0" rIns="0" bIns="0" rtlCol="0" anchor="ctr"/>
          <a:lstStyle/>
          <a:p>
            <a:pPr algn="ctr" indent="0" marL="0">
              <a:buNone/>
            </a:pPr>
            <a:r>
              <a:rPr lang="en-US" sz="1300" dirty="0">
                <a:solidFill>
                  <a:srgbClr val="6B7280"/>
                </a:solidFill>
              </a:rPr>
              <a:t>a few</a:t>
            </a:r>
            <a:endParaRPr lang="en-US" sz="1300" dirty="0"/>
          </a:p>
        </p:txBody>
      </p:sp>
      <p:sp>
        <p:nvSpPr>
          <p:cNvPr id="10" name="Shape 8"/>
          <p:cNvSpPr/>
          <p:nvPr/>
        </p:nvSpPr>
        <p:spPr>
          <a:xfrm>
            <a:off x="3017520" y="4114800"/>
            <a:ext cx="822960" cy="1005840"/>
          </a:xfrm>
          <a:prstGeom prst="rect">
            <a:avLst/>
          </a:prstGeom>
          <a:solidFill>
            <a:srgbClr val="F97316"/>
          </a:solidFill>
          <a:ln w="12700">
            <a:solidFill>
              <a:srgbClr val="F97316"/>
            </a:solidFill>
            <a:prstDash val="solid"/>
          </a:ln>
        </p:spPr>
      </p:sp>
      <p:sp>
        <p:nvSpPr>
          <p:cNvPr id="11" name="Text 9"/>
          <p:cNvSpPr txBox="1"/>
          <p:nvPr/>
        </p:nvSpPr>
        <p:spPr>
          <a:xfrm>
            <a:off x="2834640" y="3730752"/>
            <a:ext cx="1188720" cy="365760"/>
          </a:xfrm>
          <a:prstGeom prst="rect">
            <a:avLst/>
          </a:prstGeom>
          <a:noFill/>
          <a:ln/>
        </p:spPr>
        <p:txBody>
          <a:bodyPr wrap="square" lIns="0" tIns="0" rIns="0" bIns="0" rtlCol="0" anchor="ctr"/>
          <a:lstStyle/>
          <a:p>
            <a:pPr algn="ctr" indent="0" marL="0">
              <a:buNone/>
            </a:pPr>
            <a:r>
              <a:rPr lang="en-US" sz="1600" b="1" dirty="0">
                <a:solidFill>
                  <a:srgbClr val="C2410C"/>
                </a:solidFill>
              </a:rPr>
              <a:t>+5</a:t>
            </a:r>
            <a:endParaRPr lang="en-US" sz="1600" dirty="0"/>
          </a:p>
        </p:txBody>
      </p:sp>
      <p:sp>
        <p:nvSpPr>
          <p:cNvPr id="12" name="Text 10"/>
          <p:cNvSpPr txBox="1"/>
          <p:nvPr/>
        </p:nvSpPr>
        <p:spPr>
          <a:xfrm>
            <a:off x="2926080" y="5193792"/>
            <a:ext cx="1005840" cy="274320"/>
          </a:xfrm>
          <a:prstGeom prst="rect">
            <a:avLst/>
          </a:prstGeom>
          <a:noFill/>
          <a:ln/>
        </p:spPr>
        <p:txBody>
          <a:bodyPr wrap="square" lIns="0" tIns="0" rIns="0" bIns="0" rtlCol="0" anchor="ctr"/>
          <a:lstStyle/>
          <a:p>
            <a:pPr algn="ctr" indent="0" marL="0">
              <a:buNone/>
            </a:pPr>
            <a:r>
              <a:rPr lang="en-US" sz="1300" dirty="0">
                <a:solidFill>
                  <a:srgbClr val="6B7280"/>
                </a:solidFill>
              </a:rPr>
              <a:t>dozens</a:t>
            </a:r>
            <a:endParaRPr lang="en-US" sz="1300" dirty="0"/>
          </a:p>
        </p:txBody>
      </p:sp>
      <p:sp>
        <p:nvSpPr>
          <p:cNvPr id="13" name="Shape 11"/>
          <p:cNvSpPr/>
          <p:nvPr/>
        </p:nvSpPr>
        <p:spPr>
          <a:xfrm>
            <a:off x="4114800" y="3474720"/>
            <a:ext cx="822960" cy="1645920"/>
          </a:xfrm>
          <a:prstGeom prst="rect">
            <a:avLst/>
          </a:prstGeom>
          <a:solidFill>
            <a:srgbClr val="EA580C"/>
          </a:solidFill>
          <a:ln w="12700">
            <a:solidFill>
              <a:srgbClr val="EA580C"/>
            </a:solidFill>
            <a:prstDash val="solid"/>
          </a:ln>
        </p:spPr>
      </p:sp>
      <p:sp>
        <p:nvSpPr>
          <p:cNvPr id="14" name="Text 12"/>
          <p:cNvSpPr txBox="1"/>
          <p:nvPr/>
        </p:nvSpPr>
        <p:spPr>
          <a:xfrm>
            <a:off x="3931920" y="3090672"/>
            <a:ext cx="1188720" cy="365760"/>
          </a:xfrm>
          <a:prstGeom prst="rect">
            <a:avLst/>
          </a:prstGeom>
          <a:noFill/>
          <a:ln/>
        </p:spPr>
        <p:txBody>
          <a:bodyPr wrap="square" lIns="0" tIns="0" rIns="0" bIns="0" rtlCol="0" anchor="ctr"/>
          <a:lstStyle/>
          <a:p>
            <a:pPr algn="ctr" indent="0" marL="0">
              <a:buNone/>
            </a:pPr>
            <a:r>
              <a:rPr lang="en-US" sz="1600" b="1" dirty="0">
                <a:solidFill>
                  <a:srgbClr val="C2410C"/>
                </a:solidFill>
              </a:rPr>
              <a:t>+8</a:t>
            </a:r>
            <a:endParaRPr lang="en-US" sz="1600" dirty="0"/>
          </a:p>
        </p:txBody>
      </p:sp>
      <p:sp>
        <p:nvSpPr>
          <p:cNvPr id="15" name="Text 13"/>
          <p:cNvSpPr txBox="1"/>
          <p:nvPr/>
        </p:nvSpPr>
        <p:spPr>
          <a:xfrm>
            <a:off x="4023360" y="5193792"/>
            <a:ext cx="1005840" cy="274320"/>
          </a:xfrm>
          <a:prstGeom prst="rect">
            <a:avLst/>
          </a:prstGeom>
          <a:noFill/>
          <a:ln/>
        </p:spPr>
        <p:txBody>
          <a:bodyPr wrap="square" lIns="0" tIns="0" rIns="0" bIns="0" rtlCol="0" anchor="ctr"/>
          <a:lstStyle/>
          <a:p>
            <a:pPr algn="ctr" indent="0" marL="0">
              <a:buNone/>
            </a:pPr>
            <a:r>
              <a:rPr lang="en-US" sz="1300" dirty="0">
                <a:solidFill>
                  <a:srgbClr val="6B7280"/>
                </a:solidFill>
              </a:rPr>
              <a:t>~100</a:t>
            </a:r>
            <a:endParaRPr lang="en-US" sz="1300" dirty="0"/>
          </a:p>
        </p:txBody>
      </p:sp>
      <p:sp>
        <p:nvSpPr>
          <p:cNvPr id="16" name="Shape 14"/>
          <p:cNvSpPr/>
          <p:nvPr/>
        </p:nvSpPr>
        <p:spPr>
          <a:xfrm>
            <a:off x="5212080" y="2651760"/>
            <a:ext cx="822960" cy="2468880"/>
          </a:xfrm>
          <a:prstGeom prst="rect">
            <a:avLst/>
          </a:prstGeom>
          <a:solidFill>
            <a:srgbClr val="C2410C"/>
          </a:solidFill>
          <a:ln w="12700">
            <a:solidFill>
              <a:srgbClr val="C2410C"/>
            </a:solidFill>
            <a:prstDash val="solid"/>
          </a:ln>
        </p:spPr>
      </p:sp>
      <p:sp>
        <p:nvSpPr>
          <p:cNvPr id="17" name="Text 15"/>
          <p:cNvSpPr txBox="1"/>
          <p:nvPr/>
        </p:nvSpPr>
        <p:spPr>
          <a:xfrm>
            <a:off x="5029200" y="2267712"/>
            <a:ext cx="1188720" cy="365760"/>
          </a:xfrm>
          <a:prstGeom prst="rect">
            <a:avLst/>
          </a:prstGeom>
          <a:noFill/>
          <a:ln/>
        </p:spPr>
        <p:txBody>
          <a:bodyPr wrap="square" lIns="0" tIns="0" rIns="0" bIns="0" rtlCol="0" anchor="ctr"/>
          <a:lstStyle/>
          <a:p>
            <a:pPr algn="ctr" indent="0" marL="0">
              <a:buNone/>
            </a:pPr>
            <a:r>
              <a:rPr lang="en-US" sz="1600" b="1" dirty="0">
                <a:solidFill>
                  <a:srgbClr val="C2410C"/>
                </a:solidFill>
              </a:rPr>
              <a:t>+12</a:t>
            </a:r>
            <a:endParaRPr lang="en-US" sz="1600" dirty="0"/>
          </a:p>
        </p:txBody>
      </p:sp>
      <p:sp>
        <p:nvSpPr>
          <p:cNvPr id="18" name="Text 16"/>
          <p:cNvSpPr txBox="1"/>
          <p:nvPr/>
        </p:nvSpPr>
        <p:spPr>
          <a:xfrm>
            <a:off x="5120640" y="5193792"/>
            <a:ext cx="1005840" cy="274320"/>
          </a:xfrm>
          <a:prstGeom prst="rect">
            <a:avLst/>
          </a:prstGeom>
          <a:noFill/>
          <a:ln/>
        </p:spPr>
        <p:txBody>
          <a:bodyPr wrap="square" lIns="0" tIns="0" rIns="0" bIns="0" rtlCol="0" anchor="ctr"/>
          <a:lstStyle/>
          <a:p>
            <a:pPr algn="ctr" indent="0" marL="0">
              <a:buNone/>
            </a:pPr>
            <a:r>
              <a:rPr lang="en-US" sz="1300" dirty="0">
                <a:solidFill>
                  <a:srgbClr val="6B7280"/>
                </a:solidFill>
              </a:rPr>
              <a:t>200+</a:t>
            </a:r>
            <a:endParaRPr lang="en-US" sz="1300" dirty="0"/>
          </a:p>
        </p:txBody>
      </p:sp>
      <p:sp>
        <p:nvSpPr>
          <p:cNvPr id="19" name="Shape 17"/>
          <p:cNvSpPr/>
          <p:nvPr/>
        </p:nvSpPr>
        <p:spPr>
          <a:xfrm>
            <a:off x="731520" y="5120640"/>
            <a:ext cx="5486400" cy="0"/>
          </a:xfrm>
          <a:prstGeom prst="line">
            <a:avLst/>
          </a:prstGeom>
          <a:noFill/>
          <a:ln w="25400">
            <a:solidFill>
              <a:srgbClr val="111827"/>
            </a:solidFill>
            <a:prstDash val="solid"/>
          </a:ln>
        </p:spPr>
      </p:sp>
      <p:sp>
        <p:nvSpPr>
          <p:cNvPr id="20" name="Text 18"/>
          <p:cNvSpPr txBox="1"/>
          <p:nvPr/>
        </p:nvSpPr>
        <p:spPr>
          <a:xfrm>
            <a:off x="731520" y="5504688"/>
            <a:ext cx="5486400" cy="274320"/>
          </a:xfrm>
          <a:prstGeom prst="rect">
            <a:avLst/>
          </a:prstGeom>
          <a:noFill/>
          <a:ln/>
        </p:spPr>
        <p:txBody>
          <a:bodyPr wrap="square" lIns="0" tIns="0" rIns="0" bIns="0" rtlCol="0" anchor="ctr"/>
          <a:lstStyle/>
          <a:p>
            <a:pPr indent="0" marL="0">
              <a:buNone/>
            </a:pPr>
            <a:r>
              <a:rPr lang="en-US" sz="1200" dirty="0">
                <a:solidFill>
                  <a:srgbClr val="6B7280"/>
                </a:solidFill>
              </a:rPr>
              <a:t>how often the model has seen a fact → how well it answers</a:t>
            </a:r>
            <a:endParaRPr lang="en-US" sz="1200" dirty="0"/>
          </a:p>
        </p:txBody>
      </p:sp>
      <p:sp>
        <p:nvSpPr>
          <p:cNvPr id="21"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Even a fact read once leaves a trace. </a:t>
            </a:r>
            <a:pPr indent="0" marL="0">
              <a:buNone/>
            </a:pPr>
            <a:r>
              <a:rPr lang="en-US" sz="1800" b="1" i="1" dirty="0">
                <a:solidFill>
                  <a:srgbClr val="6B7280"/>
                </a:solidFill>
              </a:rPr>
              <a:t>It just gets drowned out on the way to the answer.</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1 · OPEN THE BOX</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So we looked inside. </a:t>
            </a:r>
            <a:pPr algn="l" indent="0" marL="0">
              <a:buNone/>
            </a:pPr>
            <a:r>
              <a:rPr lang="en-US" sz="3200" b="1" i="1" dirty="0">
                <a:solidFill>
                  <a:srgbClr val="6B7280"/>
                </a:solidFill>
              </a:rPr>
              <a:t>Knowledge has an address.</a:t>
            </a:r>
            <a:endParaRPr lang="en-US" sz="3200" dirty="0"/>
          </a:p>
        </p:txBody>
      </p:sp>
      <p:sp>
        <p:nvSpPr>
          <p:cNvPr id="4" name="Shape 2"/>
          <p:cNvSpPr/>
          <p:nvPr/>
        </p:nvSpPr>
        <p:spPr>
          <a:xfrm>
            <a:off x="640080" y="2286000"/>
            <a:ext cx="3291840" cy="2834640"/>
          </a:xfrm>
          <a:prstGeom prst="roundRect">
            <a:avLst>
              <a:gd name="adj" fmla="val 6452"/>
            </a:avLst>
          </a:prstGeom>
          <a:solidFill>
            <a:srgbClr val="111827"/>
          </a:solidFill>
          <a:ln w="12700">
            <a:solidFill>
              <a:srgbClr val="111827"/>
            </a:solidFill>
            <a:prstDash val="solid"/>
          </a:ln>
        </p:spPr>
      </p:sp>
      <p:sp>
        <p:nvSpPr>
          <p:cNvPr id="5" name="Text 3"/>
          <p:cNvSpPr txBox="1"/>
          <p:nvPr/>
        </p:nvSpPr>
        <p:spPr>
          <a:xfrm>
            <a:off x="640080" y="2286000"/>
            <a:ext cx="3291840" cy="2834640"/>
          </a:xfrm>
          <a:prstGeom prst="rect">
            <a:avLst/>
          </a:prstGeom>
          <a:noFill/>
          <a:ln/>
        </p:spPr>
        <p:txBody>
          <a:bodyPr wrap="square" lIns="0" tIns="0" rIns="0" bIns="0" rtlCol="0" anchor="ctr"/>
          <a:lstStyle/>
          <a:p>
            <a:pPr algn="ctr" indent="0" marL="0">
              <a:buNone/>
            </a:pPr>
            <a:r>
              <a:rPr lang="en-US" sz="8000" b="1" dirty="0">
                <a:solidFill>
                  <a:srgbClr val="4B5563"/>
                </a:solidFill>
              </a:rPr>
              <a:t>?</a:t>
            </a:r>
            <a:endParaRPr lang="en-US" sz="8000" dirty="0"/>
          </a:p>
        </p:txBody>
      </p:sp>
      <p:sp>
        <p:nvSpPr>
          <p:cNvPr id="6" name="Text 4"/>
          <p:cNvSpPr txBox="1"/>
          <p:nvPr/>
        </p:nvSpPr>
        <p:spPr>
          <a:xfrm>
            <a:off x="640080" y="5212080"/>
            <a:ext cx="3291840" cy="365760"/>
          </a:xfrm>
          <a:prstGeom prst="rect">
            <a:avLst/>
          </a:prstGeom>
          <a:noFill/>
          <a:ln/>
        </p:spPr>
        <p:txBody>
          <a:bodyPr wrap="square" lIns="0" tIns="0" rIns="0" bIns="0" rtlCol="0" anchor="ctr"/>
          <a:lstStyle/>
          <a:p>
            <a:pPr algn="ctr" indent="0" marL="0">
              <a:buNone/>
            </a:pPr>
            <a:r>
              <a:rPr lang="en-US" sz="1500" b="1" dirty="0">
                <a:solidFill>
                  <a:srgbClr val="6B7280"/>
                </a:solidFill>
              </a:rPr>
              <a:t>the black box</a:t>
            </a:r>
            <a:endParaRPr lang="en-US" sz="1500" dirty="0"/>
          </a:p>
        </p:txBody>
      </p:sp>
      <p:sp>
        <p:nvSpPr>
          <p:cNvPr id="7" name="Shape 5"/>
          <p:cNvSpPr/>
          <p:nvPr/>
        </p:nvSpPr>
        <p:spPr>
          <a:xfrm>
            <a:off x="4206240" y="3474720"/>
            <a:ext cx="914400" cy="457200"/>
          </a:xfrm>
          <a:prstGeom prst="rightArrow">
            <a:avLst/>
          </a:prstGeom>
          <a:solidFill>
            <a:srgbClr val="C2410C"/>
          </a:solidFill>
          <a:ln w="12700">
            <a:solidFill>
              <a:srgbClr val="C2410C"/>
            </a:solidFill>
            <a:prstDash val="solid"/>
          </a:ln>
        </p:spPr>
      </p:sp>
      <p:sp>
        <p:nvSpPr>
          <p:cNvPr id="8" name="Shape 6"/>
          <p:cNvSpPr/>
          <p:nvPr/>
        </p:nvSpPr>
        <p:spPr>
          <a:xfrm>
            <a:off x="5486400" y="2286000"/>
            <a:ext cx="6035040" cy="2834640"/>
          </a:xfrm>
          <a:prstGeom prst="roundRect">
            <a:avLst>
              <a:gd name="adj" fmla="val 3871"/>
            </a:avLst>
          </a:prstGeom>
          <a:solidFill>
            <a:srgbClr val="F9FAFB"/>
          </a:solidFill>
          <a:ln w="12700">
            <a:solidFill>
              <a:srgbClr val="E5E7EB"/>
            </a:solidFill>
            <a:prstDash val="solid"/>
          </a:ln>
        </p:spPr>
      </p:sp>
      <p:sp>
        <p:nvSpPr>
          <p:cNvPr id="9" name="Shape 7"/>
          <p:cNvSpPr/>
          <p:nvPr/>
        </p:nvSpPr>
        <p:spPr>
          <a:xfrm>
            <a:off x="6126480" y="3017520"/>
            <a:ext cx="219456" cy="219456"/>
          </a:xfrm>
          <a:prstGeom prst="ellipse">
            <a:avLst/>
          </a:prstGeom>
          <a:solidFill>
            <a:srgbClr val="C2410C"/>
          </a:solidFill>
          <a:ln w="12700">
            <a:solidFill>
              <a:srgbClr val="C2410C"/>
            </a:solidFill>
            <a:prstDash val="solid"/>
          </a:ln>
        </p:spPr>
      </p:sp>
      <p:sp>
        <p:nvSpPr>
          <p:cNvPr id="10" name="Shape 8"/>
          <p:cNvSpPr/>
          <p:nvPr/>
        </p:nvSpPr>
        <p:spPr>
          <a:xfrm>
            <a:off x="6583680" y="2743200"/>
            <a:ext cx="219456" cy="219456"/>
          </a:xfrm>
          <a:prstGeom prst="ellipse">
            <a:avLst/>
          </a:prstGeom>
          <a:solidFill>
            <a:srgbClr val="C2410C"/>
          </a:solidFill>
          <a:ln w="12700">
            <a:solidFill>
              <a:srgbClr val="C2410C"/>
            </a:solidFill>
            <a:prstDash val="solid"/>
          </a:ln>
        </p:spPr>
      </p:sp>
      <p:sp>
        <p:nvSpPr>
          <p:cNvPr id="11" name="Shape 9"/>
          <p:cNvSpPr/>
          <p:nvPr/>
        </p:nvSpPr>
        <p:spPr>
          <a:xfrm>
            <a:off x="6355080" y="3474720"/>
            <a:ext cx="219456" cy="219456"/>
          </a:xfrm>
          <a:prstGeom prst="ellipse">
            <a:avLst/>
          </a:prstGeom>
          <a:solidFill>
            <a:srgbClr val="C2410C"/>
          </a:solidFill>
          <a:ln w="12700">
            <a:solidFill>
              <a:srgbClr val="C2410C"/>
            </a:solidFill>
            <a:prstDash val="solid"/>
          </a:ln>
        </p:spPr>
      </p:sp>
      <p:sp>
        <p:nvSpPr>
          <p:cNvPr id="12" name="Shape 10"/>
          <p:cNvSpPr/>
          <p:nvPr/>
        </p:nvSpPr>
        <p:spPr>
          <a:xfrm>
            <a:off x="6949440" y="3246120"/>
            <a:ext cx="219456" cy="219456"/>
          </a:xfrm>
          <a:prstGeom prst="ellipse">
            <a:avLst/>
          </a:prstGeom>
          <a:solidFill>
            <a:srgbClr val="C2410C"/>
          </a:solidFill>
          <a:ln w="12700">
            <a:solidFill>
              <a:srgbClr val="C2410C"/>
            </a:solidFill>
            <a:prstDash val="solid"/>
          </a:ln>
        </p:spPr>
      </p:sp>
      <p:sp>
        <p:nvSpPr>
          <p:cNvPr id="13" name="Shape 11"/>
          <p:cNvSpPr/>
          <p:nvPr/>
        </p:nvSpPr>
        <p:spPr>
          <a:xfrm>
            <a:off x="6035040" y="3977640"/>
            <a:ext cx="219456" cy="219456"/>
          </a:xfrm>
          <a:prstGeom prst="ellipse">
            <a:avLst/>
          </a:prstGeom>
          <a:solidFill>
            <a:srgbClr val="C2410C"/>
          </a:solidFill>
          <a:ln w="12700">
            <a:solidFill>
              <a:srgbClr val="C2410C"/>
            </a:solidFill>
            <a:prstDash val="solid"/>
          </a:ln>
        </p:spPr>
      </p:sp>
      <p:sp>
        <p:nvSpPr>
          <p:cNvPr id="14" name="Shape 12"/>
          <p:cNvSpPr/>
          <p:nvPr/>
        </p:nvSpPr>
        <p:spPr>
          <a:xfrm>
            <a:off x="6675120" y="3886200"/>
            <a:ext cx="219456" cy="219456"/>
          </a:xfrm>
          <a:prstGeom prst="ellipse">
            <a:avLst/>
          </a:prstGeom>
          <a:solidFill>
            <a:srgbClr val="C2410C"/>
          </a:solidFill>
          <a:ln w="12700">
            <a:solidFill>
              <a:srgbClr val="C2410C"/>
            </a:solidFill>
            <a:prstDash val="solid"/>
          </a:ln>
        </p:spPr>
      </p:sp>
      <p:sp>
        <p:nvSpPr>
          <p:cNvPr id="15" name="Shape 13"/>
          <p:cNvSpPr/>
          <p:nvPr/>
        </p:nvSpPr>
        <p:spPr>
          <a:xfrm>
            <a:off x="7132320" y="3657600"/>
            <a:ext cx="219456" cy="219456"/>
          </a:xfrm>
          <a:prstGeom prst="ellipse">
            <a:avLst/>
          </a:prstGeom>
          <a:solidFill>
            <a:srgbClr val="C2410C"/>
          </a:solidFill>
          <a:ln w="12700">
            <a:solidFill>
              <a:srgbClr val="C2410C"/>
            </a:solidFill>
            <a:prstDash val="solid"/>
          </a:ln>
        </p:spPr>
      </p:sp>
      <p:sp>
        <p:nvSpPr>
          <p:cNvPr id="16" name="Shape 14"/>
          <p:cNvSpPr/>
          <p:nvPr/>
        </p:nvSpPr>
        <p:spPr>
          <a:xfrm>
            <a:off x="6400800" y="4389120"/>
            <a:ext cx="219456" cy="219456"/>
          </a:xfrm>
          <a:prstGeom prst="ellipse">
            <a:avLst/>
          </a:prstGeom>
          <a:solidFill>
            <a:srgbClr val="C2410C"/>
          </a:solidFill>
          <a:ln w="12700">
            <a:solidFill>
              <a:srgbClr val="C2410C"/>
            </a:solidFill>
            <a:prstDash val="solid"/>
          </a:ln>
        </p:spPr>
      </p:sp>
      <p:sp>
        <p:nvSpPr>
          <p:cNvPr id="17" name="Shape 15"/>
          <p:cNvSpPr/>
          <p:nvPr/>
        </p:nvSpPr>
        <p:spPr>
          <a:xfrm>
            <a:off x="6858000" y="4297680"/>
            <a:ext cx="219456" cy="219456"/>
          </a:xfrm>
          <a:prstGeom prst="ellipse">
            <a:avLst/>
          </a:prstGeom>
          <a:solidFill>
            <a:srgbClr val="C2410C"/>
          </a:solidFill>
          <a:ln w="12700">
            <a:solidFill>
              <a:srgbClr val="C2410C"/>
            </a:solidFill>
            <a:prstDash val="solid"/>
          </a:ln>
        </p:spPr>
      </p:sp>
      <p:sp>
        <p:nvSpPr>
          <p:cNvPr id="18" name="Shape 16"/>
          <p:cNvSpPr/>
          <p:nvPr/>
        </p:nvSpPr>
        <p:spPr>
          <a:xfrm>
            <a:off x="9601200" y="3246120"/>
            <a:ext cx="219456" cy="219456"/>
          </a:xfrm>
          <a:prstGeom prst="ellipse">
            <a:avLst/>
          </a:prstGeom>
          <a:solidFill>
            <a:srgbClr val="2563EB"/>
          </a:solidFill>
          <a:ln w="12700">
            <a:solidFill>
              <a:srgbClr val="2563EB"/>
            </a:solidFill>
            <a:prstDash val="solid"/>
          </a:ln>
        </p:spPr>
      </p:sp>
      <p:sp>
        <p:nvSpPr>
          <p:cNvPr id="19" name="Shape 17"/>
          <p:cNvSpPr/>
          <p:nvPr/>
        </p:nvSpPr>
        <p:spPr>
          <a:xfrm>
            <a:off x="10058400" y="2926080"/>
            <a:ext cx="219456" cy="219456"/>
          </a:xfrm>
          <a:prstGeom prst="ellipse">
            <a:avLst/>
          </a:prstGeom>
          <a:solidFill>
            <a:srgbClr val="2563EB"/>
          </a:solidFill>
          <a:ln w="12700">
            <a:solidFill>
              <a:srgbClr val="2563EB"/>
            </a:solidFill>
            <a:prstDash val="solid"/>
          </a:ln>
        </p:spPr>
      </p:sp>
      <p:sp>
        <p:nvSpPr>
          <p:cNvPr id="20" name="Shape 18"/>
          <p:cNvSpPr/>
          <p:nvPr/>
        </p:nvSpPr>
        <p:spPr>
          <a:xfrm>
            <a:off x="10424160" y="3474720"/>
            <a:ext cx="219456" cy="219456"/>
          </a:xfrm>
          <a:prstGeom prst="ellipse">
            <a:avLst/>
          </a:prstGeom>
          <a:solidFill>
            <a:srgbClr val="2563EB"/>
          </a:solidFill>
          <a:ln w="12700">
            <a:solidFill>
              <a:srgbClr val="2563EB"/>
            </a:solidFill>
            <a:prstDash val="solid"/>
          </a:ln>
        </p:spPr>
      </p:sp>
      <p:sp>
        <p:nvSpPr>
          <p:cNvPr id="21" name="Shape 19"/>
          <p:cNvSpPr/>
          <p:nvPr/>
        </p:nvSpPr>
        <p:spPr>
          <a:xfrm>
            <a:off x="9784080" y="3794760"/>
            <a:ext cx="219456" cy="219456"/>
          </a:xfrm>
          <a:prstGeom prst="ellipse">
            <a:avLst/>
          </a:prstGeom>
          <a:solidFill>
            <a:srgbClr val="2563EB"/>
          </a:solidFill>
          <a:ln w="12700">
            <a:solidFill>
              <a:srgbClr val="2563EB"/>
            </a:solidFill>
            <a:prstDash val="solid"/>
          </a:ln>
        </p:spPr>
      </p:sp>
      <p:sp>
        <p:nvSpPr>
          <p:cNvPr id="22" name="Shape 20"/>
          <p:cNvSpPr/>
          <p:nvPr/>
        </p:nvSpPr>
        <p:spPr>
          <a:xfrm>
            <a:off x="10241280" y="4114800"/>
            <a:ext cx="219456" cy="219456"/>
          </a:xfrm>
          <a:prstGeom prst="ellipse">
            <a:avLst/>
          </a:prstGeom>
          <a:solidFill>
            <a:srgbClr val="2563EB"/>
          </a:solidFill>
          <a:ln w="12700">
            <a:solidFill>
              <a:srgbClr val="2563EB"/>
            </a:solidFill>
            <a:prstDash val="solid"/>
          </a:ln>
        </p:spPr>
      </p:sp>
      <p:sp>
        <p:nvSpPr>
          <p:cNvPr id="23" name="Shape 21"/>
          <p:cNvSpPr/>
          <p:nvPr/>
        </p:nvSpPr>
        <p:spPr>
          <a:xfrm>
            <a:off x="10607040" y="4526280"/>
            <a:ext cx="219456" cy="219456"/>
          </a:xfrm>
          <a:prstGeom prst="ellipse">
            <a:avLst/>
          </a:prstGeom>
          <a:solidFill>
            <a:srgbClr val="2563EB"/>
          </a:solidFill>
          <a:ln w="12700">
            <a:solidFill>
              <a:srgbClr val="2563EB"/>
            </a:solidFill>
            <a:prstDash val="solid"/>
          </a:ln>
        </p:spPr>
      </p:sp>
      <p:sp>
        <p:nvSpPr>
          <p:cNvPr id="24" name="Shape 22"/>
          <p:cNvSpPr/>
          <p:nvPr/>
        </p:nvSpPr>
        <p:spPr>
          <a:xfrm>
            <a:off x="9418320" y="4434840"/>
            <a:ext cx="219456" cy="219456"/>
          </a:xfrm>
          <a:prstGeom prst="ellipse">
            <a:avLst/>
          </a:prstGeom>
          <a:solidFill>
            <a:srgbClr val="2563EB"/>
          </a:solidFill>
          <a:ln w="12700">
            <a:solidFill>
              <a:srgbClr val="2563EB"/>
            </a:solidFill>
            <a:prstDash val="solid"/>
          </a:ln>
        </p:spPr>
      </p:sp>
      <p:sp>
        <p:nvSpPr>
          <p:cNvPr id="25" name="Shape 23"/>
          <p:cNvSpPr/>
          <p:nvPr/>
        </p:nvSpPr>
        <p:spPr>
          <a:xfrm>
            <a:off x="9966960" y="4846320"/>
            <a:ext cx="219456" cy="219456"/>
          </a:xfrm>
          <a:prstGeom prst="ellipse">
            <a:avLst/>
          </a:prstGeom>
          <a:solidFill>
            <a:srgbClr val="2563EB"/>
          </a:solidFill>
          <a:ln w="12700">
            <a:solidFill>
              <a:srgbClr val="2563EB"/>
            </a:solidFill>
            <a:prstDash val="solid"/>
          </a:ln>
        </p:spPr>
      </p:sp>
      <p:sp>
        <p:nvSpPr>
          <p:cNvPr id="26" name="Shape 24"/>
          <p:cNvSpPr/>
          <p:nvPr/>
        </p:nvSpPr>
        <p:spPr>
          <a:xfrm>
            <a:off x="10515600" y="3886200"/>
            <a:ext cx="219456" cy="219456"/>
          </a:xfrm>
          <a:prstGeom prst="ellipse">
            <a:avLst/>
          </a:prstGeom>
          <a:solidFill>
            <a:srgbClr val="2563EB"/>
          </a:solidFill>
          <a:ln w="12700">
            <a:solidFill>
              <a:srgbClr val="2563EB"/>
            </a:solidFill>
            <a:prstDash val="solid"/>
          </a:ln>
        </p:spPr>
      </p:sp>
      <p:sp>
        <p:nvSpPr>
          <p:cNvPr id="27" name="Shape 25"/>
          <p:cNvSpPr/>
          <p:nvPr/>
        </p:nvSpPr>
        <p:spPr>
          <a:xfrm flipH="1">
            <a:off x="7132320" y="3657600"/>
            <a:ext cx="2926080" cy="182880"/>
          </a:xfrm>
          <a:prstGeom prst="line">
            <a:avLst/>
          </a:prstGeom>
          <a:noFill/>
          <a:ln w="38100">
            <a:solidFill>
              <a:srgbClr val="111827"/>
            </a:solidFill>
            <a:prstDash val="solid"/>
            <a:tailEnd type="triangle"/>
          </a:ln>
        </p:spPr>
      </p:sp>
      <p:sp>
        <p:nvSpPr>
          <p:cNvPr id="28" name="Text 26"/>
          <p:cNvSpPr txBox="1"/>
          <p:nvPr/>
        </p:nvSpPr>
        <p:spPr>
          <a:xfrm>
            <a:off x="8321040" y="3154680"/>
            <a:ext cx="457200" cy="457200"/>
          </a:xfrm>
          <a:prstGeom prst="rect">
            <a:avLst/>
          </a:prstGeom>
          <a:noFill/>
          <a:ln/>
        </p:spPr>
        <p:txBody>
          <a:bodyPr wrap="square" lIns="0" tIns="0" rIns="0" bIns="0" rtlCol="0" anchor="ctr"/>
          <a:lstStyle/>
          <a:p>
            <a:pPr indent="0" marL="0">
              <a:buNone/>
            </a:pPr>
            <a:r>
              <a:rPr lang="en-US" sz="2400" b="1" dirty="0">
                <a:solidFill>
                  <a:srgbClr val="111827"/>
                </a:solidFill>
              </a:rPr>
              <a:t>v</a:t>
            </a:r>
            <a:endParaRPr lang="en-US" sz="2400" dirty="0"/>
          </a:p>
        </p:txBody>
      </p:sp>
      <p:sp>
        <p:nvSpPr>
          <p:cNvPr id="29" name="Text 27"/>
          <p:cNvSpPr txBox="1"/>
          <p:nvPr/>
        </p:nvSpPr>
        <p:spPr>
          <a:xfrm>
            <a:off x="5760720" y="4709160"/>
            <a:ext cx="1828800" cy="320040"/>
          </a:xfrm>
          <a:prstGeom prst="rect">
            <a:avLst/>
          </a:prstGeom>
          <a:noFill/>
          <a:ln/>
        </p:spPr>
        <p:txBody>
          <a:bodyPr wrap="square" lIns="0" tIns="0" rIns="0" bIns="0" rtlCol="0" anchor="ctr"/>
          <a:lstStyle/>
          <a:p>
            <a:pPr indent="0" marL="0">
              <a:buNone/>
            </a:pPr>
            <a:r>
              <a:rPr lang="en-US" sz="1500" b="1" dirty="0">
                <a:solidFill>
                  <a:srgbClr val="C2410C"/>
                </a:solidFill>
              </a:rPr>
              <a:t>medical</a:t>
            </a:r>
            <a:endParaRPr lang="en-US" sz="1500" dirty="0"/>
          </a:p>
        </p:txBody>
      </p:sp>
      <p:sp>
        <p:nvSpPr>
          <p:cNvPr id="30" name="Text 28"/>
          <p:cNvSpPr txBox="1"/>
          <p:nvPr/>
        </p:nvSpPr>
        <p:spPr>
          <a:xfrm>
            <a:off x="9144000" y="2468880"/>
            <a:ext cx="2194560" cy="320040"/>
          </a:xfrm>
          <a:prstGeom prst="rect">
            <a:avLst/>
          </a:prstGeom>
          <a:noFill/>
          <a:ln/>
        </p:spPr>
        <p:txBody>
          <a:bodyPr wrap="square" lIns="0" tIns="0" rIns="0" bIns="0" rtlCol="0" anchor="ctr"/>
          <a:lstStyle/>
          <a:p>
            <a:pPr algn="r" indent="0" marL="0">
              <a:buNone/>
            </a:pPr>
            <a:r>
              <a:rPr lang="en-US" sz="1500" b="1" dirty="0">
                <a:solidFill>
                  <a:srgbClr val="2563EB"/>
                </a:solidFill>
              </a:rPr>
              <a:t>everything else</a:t>
            </a:r>
            <a:endParaRPr lang="en-US" sz="1500" dirty="0"/>
          </a:p>
        </p:txBody>
      </p:sp>
      <p:sp>
        <p:nvSpPr>
          <p:cNvPr id="31" name="Text 29"/>
          <p:cNvSpPr txBox="1"/>
          <p:nvPr/>
        </p:nvSpPr>
        <p:spPr>
          <a:xfrm>
            <a:off x="5486400" y="5212080"/>
            <a:ext cx="6035040" cy="365760"/>
          </a:xfrm>
          <a:prstGeom prst="rect">
            <a:avLst/>
          </a:prstGeom>
          <a:noFill/>
          <a:ln/>
        </p:spPr>
        <p:txBody>
          <a:bodyPr wrap="square" lIns="0" tIns="0" rIns="0" bIns="0" rtlCol="0" anchor="ctr"/>
          <a:lstStyle/>
          <a:p>
            <a:pPr algn="ctr" indent="0" marL="0">
              <a:buNone/>
            </a:pPr>
            <a:r>
              <a:rPr lang="en-US" sz="1500" b="1" dirty="0">
                <a:solidFill>
                  <a:srgbClr val="6B7280"/>
                </a:solidFill>
              </a:rPr>
              <a:t>one layer, each dot a sentence</a:t>
            </a:r>
            <a:endParaRPr lang="en-US" sz="1500" dirty="0"/>
          </a:p>
        </p:txBody>
      </p:sp>
      <p:sp>
        <p:nvSpPr>
          <p:cNvPr id="32"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Medical sits in its own corner. </a:t>
            </a:r>
            <a:pPr indent="0" marL="0">
              <a:buNone/>
            </a:pPr>
            <a:r>
              <a:rPr lang="en-US" sz="1800" b="1" i="1" dirty="0">
                <a:solidFill>
                  <a:srgbClr val="6B7280"/>
                </a:solidFill>
              </a:rPr>
              <a:t>So we can point at it: one arrow, v.</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1 · THE NUDGE</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Add the arrow while it thinks. </a:t>
            </a:r>
            <a:pPr algn="l" indent="0" marL="0">
              <a:buNone/>
            </a:pPr>
            <a:r>
              <a:rPr lang="en-US" sz="3200" b="1" i="1" dirty="0">
                <a:solidFill>
                  <a:srgbClr val="6B7280"/>
                </a:solidFill>
              </a:rPr>
              <a:t>Where you add it matters.</a:t>
            </a:r>
            <a:endParaRPr lang="en-US" sz="3200" dirty="0"/>
          </a:p>
        </p:txBody>
      </p:sp>
      <p:sp>
        <p:nvSpPr>
          <p:cNvPr id="4" name="Shape 2"/>
          <p:cNvSpPr/>
          <p:nvPr/>
        </p:nvSpPr>
        <p:spPr>
          <a:xfrm>
            <a:off x="914400" y="2468880"/>
            <a:ext cx="2926080" cy="438912"/>
          </a:xfrm>
          <a:prstGeom prst="roundRect">
            <a:avLst>
              <a:gd name="adj" fmla="val 12500"/>
            </a:avLst>
          </a:prstGeom>
          <a:solidFill>
            <a:srgbClr val="E5E7EB"/>
          </a:solidFill>
          <a:ln w="12700">
            <a:solidFill>
              <a:srgbClr val="E5E7EB"/>
            </a:solidFill>
            <a:prstDash val="solid"/>
          </a:ln>
        </p:spPr>
      </p:sp>
      <p:sp>
        <p:nvSpPr>
          <p:cNvPr id="5" name="Shape 3"/>
          <p:cNvSpPr/>
          <p:nvPr/>
        </p:nvSpPr>
        <p:spPr>
          <a:xfrm>
            <a:off x="914400" y="3017520"/>
            <a:ext cx="2926080" cy="438912"/>
          </a:xfrm>
          <a:prstGeom prst="roundRect">
            <a:avLst>
              <a:gd name="adj" fmla="val 12500"/>
            </a:avLst>
          </a:prstGeom>
          <a:solidFill>
            <a:srgbClr val="E5E7EB"/>
          </a:solidFill>
          <a:ln w="12700">
            <a:solidFill>
              <a:srgbClr val="E5E7EB"/>
            </a:solidFill>
            <a:prstDash val="solid"/>
          </a:ln>
        </p:spPr>
      </p:sp>
      <p:sp>
        <p:nvSpPr>
          <p:cNvPr id="6" name="Shape 4"/>
          <p:cNvSpPr/>
          <p:nvPr/>
        </p:nvSpPr>
        <p:spPr>
          <a:xfrm>
            <a:off x="914400" y="3566160"/>
            <a:ext cx="2926080" cy="438912"/>
          </a:xfrm>
          <a:prstGeom prst="roundRect">
            <a:avLst>
              <a:gd name="adj" fmla="val 12500"/>
            </a:avLst>
          </a:prstGeom>
          <a:solidFill>
            <a:srgbClr val="C2410C"/>
          </a:solidFill>
          <a:ln w="12700">
            <a:solidFill>
              <a:srgbClr val="C2410C"/>
            </a:solidFill>
            <a:prstDash val="solid"/>
          </a:ln>
        </p:spPr>
      </p:sp>
      <p:sp>
        <p:nvSpPr>
          <p:cNvPr id="7" name="Text 5"/>
          <p:cNvSpPr txBox="1"/>
          <p:nvPr/>
        </p:nvSpPr>
        <p:spPr>
          <a:xfrm>
            <a:off x="914400" y="3566160"/>
            <a:ext cx="2926080" cy="438912"/>
          </a:xfrm>
          <a:prstGeom prst="rect">
            <a:avLst/>
          </a:prstGeom>
          <a:noFill/>
          <a:ln/>
        </p:spPr>
        <p:txBody>
          <a:bodyPr wrap="square" lIns="0" tIns="0" rIns="0" bIns="0" rtlCol="0" anchor="ctr"/>
          <a:lstStyle/>
          <a:p>
            <a:pPr algn="ctr" indent="0" marL="0">
              <a:buNone/>
            </a:pPr>
            <a:r>
              <a:rPr lang="en-US" sz="1600" b="1" dirty="0">
                <a:solidFill>
                  <a:srgbClr val="FFFFFF"/>
                </a:solidFill>
              </a:rPr>
              <a:t>MLP layer</a:t>
            </a:r>
            <a:endParaRPr lang="en-US" sz="1600" dirty="0"/>
          </a:p>
        </p:txBody>
      </p:sp>
      <p:sp>
        <p:nvSpPr>
          <p:cNvPr id="8" name="Text 6"/>
          <p:cNvSpPr txBox="1"/>
          <p:nvPr/>
        </p:nvSpPr>
        <p:spPr>
          <a:xfrm>
            <a:off x="4023360" y="3493008"/>
            <a:ext cx="1097280" cy="548640"/>
          </a:xfrm>
          <a:prstGeom prst="rect">
            <a:avLst/>
          </a:prstGeom>
          <a:noFill/>
          <a:ln/>
        </p:spPr>
        <p:txBody>
          <a:bodyPr wrap="square" lIns="0" tIns="0" rIns="0" bIns="0" rtlCol="0" anchor="ctr"/>
          <a:lstStyle/>
          <a:p>
            <a:pPr indent="0" marL="0">
              <a:buNone/>
            </a:pPr>
            <a:r>
              <a:rPr lang="en-US" sz="2800" b="1" dirty="0">
                <a:solidFill>
                  <a:srgbClr val="C2410C"/>
                </a:solidFill>
              </a:rPr>
              <a:t>+ v</a:t>
            </a:r>
            <a:endParaRPr lang="en-US" sz="2800" dirty="0"/>
          </a:p>
        </p:txBody>
      </p:sp>
      <p:sp>
        <p:nvSpPr>
          <p:cNvPr id="9" name="Shape 7"/>
          <p:cNvSpPr/>
          <p:nvPr/>
        </p:nvSpPr>
        <p:spPr>
          <a:xfrm>
            <a:off x="914400" y="4114800"/>
            <a:ext cx="2926080" cy="438912"/>
          </a:xfrm>
          <a:prstGeom prst="roundRect">
            <a:avLst>
              <a:gd name="adj" fmla="val 12500"/>
            </a:avLst>
          </a:prstGeom>
          <a:solidFill>
            <a:srgbClr val="E5E7EB"/>
          </a:solidFill>
          <a:ln w="12700">
            <a:solidFill>
              <a:srgbClr val="E5E7EB"/>
            </a:solidFill>
            <a:prstDash val="solid"/>
          </a:ln>
        </p:spPr>
      </p:sp>
      <p:sp>
        <p:nvSpPr>
          <p:cNvPr id="10" name="Shape 8"/>
          <p:cNvSpPr/>
          <p:nvPr/>
        </p:nvSpPr>
        <p:spPr>
          <a:xfrm>
            <a:off x="914400" y="4663440"/>
            <a:ext cx="2926080" cy="438912"/>
          </a:xfrm>
          <a:prstGeom prst="roundRect">
            <a:avLst>
              <a:gd name="adj" fmla="val 12500"/>
            </a:avLst>
          </a:prstGeom>
          <a:solidFill>
            <a:srgbClr val="E5E7EB"/>
          </a:solidFill>
          <a:ln w="12700">
            <a:solidFill>
              <a:srgbClr val="E5E7EB"/>
            </a:solidFill>
            <a:prstDash val="solid"/>
          </a:ln>
        </p:spPr>
      </p:sp>
      <p:sp>
        <p:nvSpPr>
          <p:cNvPr id="11" name="Text 9"/>
          <p:cNvSpPr txBox="1"/>
          <p:nvPr/>
        </p:nvSpPr>
        <p:spPr>
          <a:xfrm>
            <a:off x="914400" y="5257800"/>
            <a:ext cx="2926080" cy="365760"/>
          </a:xfrm>
          <a:prstGeom prst="rect">
            <a:avLst/>
          </a:prstGeom>
          <a:noFill/>
          <a:ln/>
        </p:spPr>
        <p:txBody>
          <a:bodyPr wrap="square" lIns="0" tIns="0" rIns="0" bIns="0" rtlCol="0" anchor="ctr"/>
          <a:lstStyle/>
          <a:p>
            <a:pPr algn="ctr" indent="0" marL="0">
              <a:buNone/>
            </a:pPr>
            <a:r>
              <a:rPr lang="en-US" sz="1400" dirty="0">
                <a:solidFill>
                  <a:srgbClr val="6B7280"/>
                </a:solidFill>
              </a:rPr>
              <a:t>the model, layer by layer</a:t>
            </a:r>
            <a:endParaRPr lang="en-US" sz="1400" dirty="0"/>
          </a:p>
        </p:txBody>
      </p:sp>
      <p:sp>
        <p:nvSpPr>
          <p:cNvPr id="12" name="Shape 10"/>
          <p:cNvSpPr/>
          <p:nvPr/>
        </p:nvSpPr>
        <p:spPr>
          <a:xfrm>
            <a:off x="6583680" y="3840480"/>
            <a:ext cx="1188720" cy="1143000"/>
          </a:xfrm>
          <a:prstGeom prst="rect">
            <a:avLst/>
          </a:prstGeom>
          <a:solidFill>
            <a:srgbClr val="9CA3AF"/>
          </a:solidFill>
          <a:ln w="12700">
            <a:solidFill>
              <a:srgbClr val="9CA3AF"/>
            </a:solidFill>
            <a:prstDash val="solid"/>
          </a:ln>
        </p:spPr>
      </p:sp>
      <p:sp>
        <p:nvSpPr>
          <p:cNvPr id="13" name="Text 11"/>
          <p:cNvSpPr txBox="1"/>
          <p:nvPr/>
        </p:nvSpPr>
        <p:spPr>
          <a:xfrm>
            <a:off x="6400800" y="3456432"/>
            <a:ext cx="1554480" cy="365760"/>
          </a:xfrm>
          <a:prstGeom prst="rect">
            <a:avLst/>
          </a:prstGeom>
          <a:noFill/>
          <a:ln/>
        </p:spPr>
        <p:txBody>
          <a:bodyPr wrap="square" lIns="0" tIns="0" rIns="0" bIns="0" rtlCol="0" anchor="ctr"/>
          <a:lstStyle/>
          <a:p>
            <a:pPr algn="ctr" indent="0" marL="0">
              <a:buNone/>
            </a:pPr>
            <a:r>
              <a:rPr lang="en-US" sz="1600" b="1" dirty="0">
                <a:solidFill>
                  <a:srgbClr val="6B7280"/>
                </a:solidFill>
              </a:rPr>
              <a:t>+21%</a:t>
            </a:r>
            <a:endParaRPr lang="en-US" sz="1600" dirty="0"/>
          </a:p>
        </p:txBody>
      </p:sp>
      <p:sp>
        <p:nvSpPr>
          <p:cNvPr id="14" name="Shape 12"/>
          <p:cNvSpPr/>
          <p:nvPr/>
        </p:nvSpPr>
        <p:spPr>
          <a:xfrm>
            <a:off x="8138160" y="3429000"/>
            <a:ext cx="1188720" cy="1554480"/>
          </a:xfrm>
          <a:prstGeom prst="rect">
            <a:avLst/>
          </a:prstGeom>
          <a:solidFill>
            <a:srgbClr val="9CA3AF"/>
          </a:solidFill>
          <a:ln w="12700">
            <a:solidFill>
              <a:srgbClr val="9CA3AF"/>
            </a:solidFill>
            <a:prstDash val="solid"/>
          </a:ln>
        </p:spPr>
      </p:sp>
      <p:sp>
        <p:nvSpPr>
          <p:cNvPr id="15" name="Text 13"/>
          <p:cNvSpPr txBox="1"/>
          <p:nvPr/>
        </p:nvSpPr>
        <p:spPr>
          <a:xfrm>
            <a:off x="7955280" y="3044952"/>
            <a:ext cx="1554480" cy="365760"/>
          </a:xfrm>
          <a:prstGeom prst="rect">
            <a:avLst/>
          </a:prstGeom>
          <a:noFill/>
          <a:ln/>
        </p:spPr>
        <p:txBody>
          <a:bodyPr wrap="square" lIns="0" tIns="0" rIns="0" bIns="0" rtlCol="0" anchor="ctr"/>
          <a:lstStyle/>
          <a:p>
            <a:pPr algn="ctr" indent="0" marL="0">
              <a:buNone/>
            </a:pPr>
            <a:r>
              <a:rPr lang="en-US" sz="1600" b="1" dirty="0">
                <a:solidFill>
                  <a:srgbClr val="6B7280"/>
                </a:solidFill>
              </a:rPr>
              <a:t>+29%</a:t>
            </a:r>
            <a:endParaRPr lang="en-US" sz="1600" dirty="0"/>
          </a:p>
        </p:txBody>
      </p:sp>
      <p:sp>
        <p:nvSpPr>
          <p:cNvPr id="16" name="Shape 14"/>
          <p:cNvSpPr/>
          <p:nvPr/>
        </p:nvSpPr>
        <p:spPr>
          <a:xfrm>
            <a:off x="9692640" y="2560320"/>
            <a:ext cx="1188720" cy="2423160"/>
          </a:xfrm>
          <a:prstGeom prst="rect">
            <a:avLst/>
          </a:prstGeom>
          <a:solidFill>
            <a:srgbClr val="C2410C"/>
          </a:solidFill>
          <a:ln w="12700">
            <a:solidFill>
              <a:srgbClr val="C2410C"/>
            </a:solidFill>
            <a:prstDash val="solid"/>
          </a:ln>
        </p:spPr>
      </p:sp>
      <p:sp>
        <p:nvSpPr>
          <p:cNvPr id="17" name="Text 15"/>
          <p:cNvSpPr txBox="1"/>
          <p:nvPr/>
        </p:nvSpPr>
        <p:spPr>
          <a:xfrm>
            <a:off x="9509760" y="2176272"/>
            <a:ext cx="1554480" cy="365760"/>
          </a:xfrm>
          <a:prstGeom prst="rect">
            <a:avLst/>
          </a:prstGeom>
          <a:noFill/>
          <a:ln/>
        </p:spPr>
        <p:txBody>
          <a:bodyPr wrap="square" lIns="0" tIns="0" rIns="0" bIns="0" rtlCol="0" anchor="ctr"/>
          <a:lstStyle/>
          <a:p>
            <a:pPr algn="ctr" indent="0" marL="0">
              <a:buNone/>
            </a:pPr>
            <a:r>
              <a:rPr lang="en-US" sz="1600" b="1" dirty="0">
                <a:solidFill>
                  <a:srgbClr val="C2410C"/>
                </a:solidFill>
              </a:rPr>
              <a:t>+45%</a:t>
            </a:r>
            <a:endParaRPr lang="en-US" sz="1600" dirty="0"/>
          </a:p>
        </p:txBody>
      </p:sp>
      <p:sp>
        <p:nvSpPr>
          <p:cNvPr id="18" name="Shape 16"/>
          <p:cNvSpPr/>
          <p:nvPr/>
        </p:nvSpPr>
        <p:spPr>
          <a:xfrm>
            <a:off x="6446520" y="4983480"/>
            <a:ext cx="4663440" cy="0"/>
          </a:xfrm>
          <a:prstGeom prst="line">
            <a:avLst/>
          </a:prstGeom>
          <a:noFill/>
          <a:ln w="25400">
            <a:solidFill>
              <a:srgbClr val="111827"/>
            </a:solidFill>
            <a:prstDash val="solid"/>
          </a:ln>
        </p:spPr>
      </p:sp>
      <p:sp>
        <p:nvSpPr>
          <p:cNvPr id="19" name="Text 17"/>
          <p:cNvSpPr txBox="1"/>
          <p:nvPr/>
        </p:nvSpPr>
        <p:spPr>
          <a:xfrm>
            <a:off x="6400800" y="5056632"/>
            <a:ext cx="1554480" cy="320040"/>
          </a:xfrm>
          <a:prstGeom prst="rect">
            <a:avLst/>
          </a:prstGeom>
          <a:noFill/>
          <a:ln/>
        </p:spPr>
        <p:txBody>
          <a:bodyPr wrap="square" lIns="0" tIns="0" rIns="0" bIns="0" rtlCol="0" anchor="ctr"/>
          <a:lstStyle/>
          <a:p>
            <a:pPr algn="ctr" indent="0" marL="0">
              <a:buNone/>
            </a:pPr>
            <a:r>
              <a:rPr lang="en-US" sz="1400" b="1" dirty="0">
                <a:solidFill>
                  <a:srgbClr val="374151"/>
                </a:solidFill>
              </a:rPr>
              <a:t>the usual spot</a:t>
            </a:r>
            <a:endParaRPr lang="en-US" sz="1400" dirty="0"/>
          </a:p>
        </p:txBody>
      </p:sp>
      <p:sp>
        <p:nvSpPr>
          <p:cNvPr id="20" name="Text 18"/>
          <p:cNvSpPr txBox="1"/>
          <p:nvPr/>
        </p:nvSpPr>
        <p:spPr>
          <a:xfrm>
            <a:off x="7955280" y="5056632"/>
            <a:ext cx="1554480" cy="320040"/>
          </a:xfrm>
          <a:prstGeom prst="rect">
            <a:avLst/>
          </a:prstGeom>
          <a:noFill/>
          <a:ln/>
        </p:spPr>
        <p:txBody>
          <a:bodyPr wrap="square" lIns="0" tIns="0" rIns="0" bIns="0" rtlCol="0" anchor="ctr"/>
          <a:lstStyle/>
          <a:p>
            <a:pPr algn="ctr" indent="0" marL="0">
              <a:buNone/>
            </a:pPr>
            <a:r>
              <a:rPr lang="en-US" sz="1400" b="1" dirty="0">
                <a:solidFill>
                  <a:srgbClr val="374151"/>
                </a:solidFill>
              </a:rPr>
              <a:t>attention</a:t>
            </a:r>
            <a:endParaRPr lang="en-US" sz="1400" dirty="0"/>
          </a:p>
        </p:txBody>
      </p:sp>
      <p:sp>
        <p:nvSpPr>
          <p:cNvPr id="21" name="Text 19"/>
          <p:cNvSpPr txBox="1"/>
          <p:nvPr/>
        </p:nvSpPr>
        <p:spPr>
          <a:xfrm>
            <a:off x="9509760" y="5056632"/>
            <a:ext cx="1554480" cy="320040"/>
          </a:xfrm>
          <a:prstGeom prst="rect">
            <a:avLst/>
          </a:prstGeom>
          <a:noFill/>
          <a:ln/>
        </p:spPr>
        <p:txBody>
          <a:bodyPr wrap="square" lIns="0" tIns="0" rIns="0" bIns="0" rtlCol="0" anchor="ctr"/>
          <a:lstStyle/>
          <a:p>
            <a:pPr algn="ctr" indent="0" marL="0">
              <a:buNone/>
            </a:pPr>
            <a:r>
              <a:rPr lang="en-US" sz="1400" b="1" dirty="0">
                <a:solidFill>
                  <a:srgbClr val="C2410C"/>
                </a:solidFill>
              </a:rPr>
              <a:t>MLP</a:t>
            </a:r>
            <a:endParaRPr lang="en-US" sz="1400" dirty="0"/>
          </a:p>
        </p:txBody>
      </p:sp>
      <p:sp>
        <p:nvSpPr>
          <p:cNvPr id="22" name="Text 20"/>
          <p:cNvSpPr txBox="1"/>
          <p:nvPr/>
        </p:nvSpPr>
        <p:spPr>
          <a:xfrm>
            <a:off x="6446520" y="5394960"/>
            <a:ext cx="4663440" cy="320040"/>
          </a:xfrm>
          <a:prstGeom prst="rect">
            <a:avLst/>
          </a:prstGeom>
          <a:noFill/>
          <a:ln/>
        </p:spPr>
        <p:txBody>
          <a:bodyPr wrap="square" lIns="0" tIns="0" rIns="0" bIns="0" rtlCol="0" anchor="ctr"/>
          <a:lstStyle/>
          <a:p>
            <a:pPr algn="ctr" indent="0" marL="0">
              <a:buNone/>
            </a:pPr>
            <a:r>
              <a:rPr lang="en-US" sz="1300" dirty="0">
                <a:solidFill>
                  <a:srgbClr val="6B7280"/>
                </a:solidFill>
              </a:rPr>
              <a:t>better at medical and law facts</a:t>
            </a:r>
            <a:endParaRPr lang="en-US" sz="1300" dirty="0"/>
          </a:p>
        </p:txBody>
      </p:sp>
      <p:sp>
        <p:nvSpPr>
          <p:cNvPr id="23"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No training, nothing forgotten. </a:t>
            </a:r>
            <a:pPr indent="0" marL="0">
              <a:buNone/>
            </a:pPr>
            <a:r>
              <a:rPr lang="en-US" sz="1800" b="1" i="1" dirty="0">
                <a:solidFill>
                  <a:srgbClr val="6B7280"/>
                </a:solidFill>
              </a:rPr>
              <a:t>But it can only surface what the model has already read.</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2 · IT NEVER READ IT</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Yesterday's news isn't in there. </a:t>
            </a:r>
            <a:pPr algn="l" indent="0" marL="0">
              <a:buNone/>
            </a:pPr>
            <a:r>
              <a:rPr lang="en-US" sz="3200" b="1" i="1" dirty="0">
                <a:solidFill>
                  <a:srgbClr val="6B7280"/>
                </a:solidFill>
              </a:rPr>
              <a:t>So hand it the newspaper.</a:t>
            </a:r>
            <a:endParaRPr lang="en-US" sz="3200" dirty="0"/>
          </a:p>
        </p:txBody>
      </p:sp>
      <p:sp>
        <p:nvSpPr>
          <p:cNvPr id="4" name="Shape 2"/>
          <p:cNvSpPr/>
          <p:nvPr/>
        </p:nvSpPr>
        <p:spPr>
          <a:xfrm>
            <a:off x="640080" y="2286000"/>
            <a:ext cx="4206240" cy="1417320"/>
          </a:xfrm>
          <a:prstGeom prst="roundRect">
            <a:avLst>
              <a:gd name="adj" fmla="val 7742"/>
            </a:avLst>
          </a:prstGeom>
          <a:solidFill>
            <a:srgbClr val="F9FAFB"/>
          </a:solidFill>
          <a:ln w="12700">
            <a:solidFill>
              <a:srgbClr val="E5E7EB"/>
            </a:solidFill>
            <a:prstDash val="solid"/>
          </a:ln>
        </p:spPr>
      </p:sp>
      <p:sp>
        <p:nvSpPr>
          <p:cNvPr id="5" name="Text 3"/>
          <p:cNvSpPr txBox="1"/>
          <p:nvPr/>
        </p:nvSpPr>
        <p:spPr>
          <a:xfrm>
            <a:off x="868680" y="2377440"/>
            <a:ext cx="3840480" cy="274320"/>
          </a:xfrm>
          <a:prstGeom prst="rect">
            <a:avLst/>
          </a:prstGeom>
          <a:noFill/>
          <a:ln/>
        </p:spPr>
        <p:txBody>
          <a:bodyPr wrap="square" lIns="0" tIns="0" rIns="0" bIns="0" rtlCol="0" anchor="ctr"/>
          <a:lstStyle/>
          <a:p>
            <a:pPr indent="0" marL="0">
              <a:buNone/>
            </a:pPr>
            <a:r>
              <a:rPr lang="en-US" sz="1100" b="1" spc="200" kern="0" dirty="0">
                <a:solidFill>
                  <a:srgbClr val="6B7280"/>
                </a:solidFill>
              </a:rPr>
              <a:t>BACK TO SCHOOL</a:t>
            </a:r>
            <a:endParaRPr lang="en-US" sz="1100" dirty="0"/>
          </a:p>
        </p:txBody>
      </p:sp>
      <p:sp>
        <p:nvSpPr>
          <p:cNvPr id="6" name="Text 4"/>
          <p:cNvSpPr txBox="1"/>
          <p:nvPr/>
        </p:nvSpPr>
        <p:spPr>
          <a:xfrm>
            <a:off x="868680" y="2651760"/>
            <a:ext cx="3840480" cy="609600"/>
          </a:xfrm>
          <a:prstGeom prst="rect">
            <a:avLst/>
          </a:prstGeom>
          <a:noFill/>
          <a:ln/>
        </p:spPr>
        <p:txBody>
          <a:bodyPr wrap="square" lIns="0" tIns="0" rIns="0" bIns="0" rtlCol="0" anchor="ctr"/>
          <a:lstStyle/>
          <a:p>
            <a:pPr indent="0" marL="0">
              <a:buNone/>
            </a:pPr>
            <a:r>
              <a:rPr lang="en-US" sz="4000" b="1" dirty="0">
                <a:solidFill>
                  <a:srgbClr val="111827"/>
                </a:solidFill>
                <a:latin typeface="Cambria" pitchFamily="34" charset="0"/>
                <a:ea typeface="Cambria" pitchFamily="34" charset="-122"/>
                <a:cs typeface="Cambria" pitchFamily="34" charset="-120"/>
              </a:rPr>
              <a:t>trillions</a:t>
            </a:r>
            <a:endParaRPr lang="en-US" sz="4000" dirty="0"/>
          </a:p>
        </p:txBody>
      </p:sp>
      <p:sp>
        <p:nvSpPr>
          <p:cNvPr id="7" name="Text 5"/>
          <p:cNvSpPr txBox="1"/>
          <p:nvPr/>
        </p:nvSpPr>
        <p:spPr>
          <a:xfrm>
            <a:off x="868680" y="3291840"/>
            <a:ext cx="3840480" cy="365760"/>
          </a:xfrm>
          <a:prstGeom prst="rect">
            <a:avLst/>
          </a:prstGeom>
          <a:noFill/>
          <a:ln/>
        </p:spPr>
        <p:txBody>
          <a:bodyPr wrap="square" lIns="0" tIns="0" rIns="0" bIns="0" rtlCol="0" anchor="ctr"/>
          <a:lstStyle/>
          <a:p>
            <a:pPr indent="0" marL="0">
              <a:buNone/>
            </a:pPr>
            <a:r>
              <a:rPr lang="en-US" sz="1300" dirty="0">
                <a:solidFill>
                  <a:srgbClr val="374151"/>
                </a:solidFill>
              </a:rPr>
              <a:t>of words, from scratch</a:t>
            </a:r>
            <a:endParaRPr lang="en-US" sz="1300" dirty="0"/>
          </a:p>
        </p:txBody>
      </p:sp>
      <p:sp>
        <p:nvSpPr>
          <p:cNvPr id="8" name="Shape 6"/>
          <p:cNvSpPr/>
          <p:nvPr/>
        </p:nvSpPr>
        <p:spPr>
          <a:xfrm>
            <a:off x="640080" y="3931920"/>
            <a:ext cx="4206240" cy="1417320"/>
          </a:xfrm>
          <a:prstGeom prst="roundRect">
            <a:avLst>
              <a:gd name="adj" fmla="val 7742"/>
            </a:avLst>
          </a:prstGeom>
          <a:solidFill>
            <a:srgbClr val="FFF7ED"/>
          </a:solidFill>
          <a:ln w="12700">
            <a:solidFill>
              <a:srgbClr val="FDBA74"/>
            </a:solidFill>
            <a:prstDash val="solid"/>
          </a:ln>
        </p:spPr>
      </p:sp>
      <p:sp>
        <p:nvSpPr>
          <p:cNvPr id="9" name="Text 7"/>
          <p:cNvSpPr txBox="1"/>
          <p:nvPr/>
        </p:nvSpPr>
        <p:spPr>
          <a:xfrm>
            <a:off x="868680" y="4023360"/>
            <a:ext cx="3840480" cy="274320"/>
          </a:xfrm>
          <a:prstGeom prst="rect">
            <a:avLst/>
          </a:prstGeom>
          <a:noFill/>
          <a:ln/>
        </p:spPr>
        <p:txBody>
          <a:bodyPr wrap="square" lIns="0" tIns="0" rIns="0" bIns="0" rtlCol="0" anchor="ctr"/>
          <a:lstStyle/>
          <a:p>
            <a:pPr indent="0" marL="0">
              <a:buNone/>
            </a:pPr>
            <a:r>
              <a:rPr lang="en-US" sz="1100" b="1" spc="200" kern="0" dirty="0">
                <a:solidFill>
                  <a:srgbClr val="C2410C"/>
                </a:solidFill>
              </a:rPr>
              <a:t>THE NEWSPAPER</a:t>
            </a:r>
            <a:endParaRPr lang="en-US" sz="1100" dirty="0"/>
          </a:p>
        </p:txBody>
      </p:sp>
      <p:sp>
        <p:nvSpPr>
          <p:cNvPr id="10" name="Text 8"/>
          <p:cNvSpPr txBox="1"/>
          <p:nvPr/>
        </p:nvSpPr>
        <p:spPr>
          <a:xfrm>
            <a:off x="868680" y="4297680"/>
            <a:ext cx="3840480" cy="609600"/>
          </a:xfrm>
          <a:prstGeom prst="rect">
            <a:avLst/>
          </a:prstGeom>
          <a:noFill/>
          <a:ln/>
        </p:spPr>
        <p:txBody>
          <a:bodyPr wrap="square" lIns="0" tIns="0" rIns="0" bIns="0" rtlCol="0" anchor="ctr"/>
          <a:lstStyle/>
          <a:p>
            <a:pPr indent="0" marL="0">
              <a:buNone/>
            </a:pPr>
            <a:r>
              <a:rPr lang="en-US" sz="4000" b="1" dirty="0">
                <a:solidFill>
                  <a:srgbClr val="C2410C"/>
                </a:solidFill>
                <a:latin typeface="Cambria" pitchFamily="34" charset="0"/>
                <a:ea typeface="Cambria" pitchFamily="34" charset="-122"/>
                <a:cs typeface="Cambria" pitchFamily="34" charset="-120"/>
              </a:rPr>
              <a:t>~6 billion</a:t>
            </a:r>
            <a:endParaRPr lang="en-US" sz="4000" dirty="0"/>
          </a:p>
        </p:txBody>
      </p:sp>
      <p:sp>
        <p:nvSpPr>
          <p:cNvPr id="11" name="Text 9"/>
          <p:cNvSpPr txBox="1"/>
          <p:nvPr/>
        </p:nvSpPr>
        <p:spPr>
          <a:xfrm>
            <a:off x="868680" y="4937760"/>
            <a:ext cx="3840480" cy="365760"/>
          </a:xfrm>
          <a:prstGeom prst="rect">
            <a:avLst/>
          </a:prstGeom>
          <a:noFill/>
          <a:ln/>
        </p:spPr>
        <p:txBody>
          <a:bodyPr wrap="square" lIns="0" tIns="0" rIns="0" bIns="0" rtlCol="0" anchor="ctr"/>
          <a:lstStyle/>
          <a:p>
            <a:pPr indent="0" marL="0">
              <a:buNone/>
            </a:pPr>
            <a:r>
              <a:rPr lang="en-US" sz="1300" dirty="0">
                <a:solidFill>
                  <a:srgbClr val="374151"/>
                </a:solidFill>
              </a:rPr>
              <a:t>words of fresh news, a few days</a:t>
            </a:r>
            <a:endParaRPr lang="en-US" sz="1300" dirty="0"/>
          </a:p>
        </p:txBody>
      </p:sp>
      <p:sp>
        <p:nvSpPr>
          <p:cNvPr id="12"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Same model, same learning recipe, just new text. </a:t>
            </a:r>
            <a:pPr indent="0" marL="0">
              <a:buNone/>
            </a:pPr>
            <a:r>
              <a:rPr lang="en-US" sz="1800" b="1" i="1" dirty="0">
                <a:solidFill>
                  <a:srgbClr val="6B7280"/>
                </a:solidFill>
              </a:rPr>
              <a:t>And it works: it learns the news.</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2 · THE QUESTION</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It read the news in English. Ask it in German. </a:t>
            </a:r>
            <a:pPr algn="l" indent="0" marL="0">
              <a:buNone/>
            </a:pPr>
            <a:r>
              <a:rPr lang="en-US" sz="3200" b="1" i="1" dirty="0">
                <a:solidFill>
                  <a:srgbClr val="6B7280"/>
                </a:solidFill>
              </a:rPr>
              <a:t>Does it know?</a:t>
            </a:r>
            <a:endParaRPr lang="en-US" sz="3200" dirty="0"/>
          </a:p>
        </p:txBody>
      </p:sp>
      <p:sp>
        <p:nvSpPr>
          <p:cNvPr id="4" name="Text 2"/>
          <p:cNvSpPr txBox="1"/>
          <p:nvPr/>
        </p:nvSpPr>
        <p:spPr>
          <a:xfrm>
            <a:off x="914400" y="2240280"/>
            <a:ext cx="2011680" cy="320040"/>
          </a:xfrm>
          <a:prstGeom prst="rect">
            <a:avLst/>
          </a:prstGeom>
          <a:noFill/>
          <a:ln/>
        </p:spPr>
        <p:txBody>
          <a:bodyPr wrap="square" lIns="0" tIns="0" rIns="0" bIns="0" rtlCol="0" anchor="ctr"/>
          <a:lstStyle/>
          <a:p>
            <a:pPr algn="ctr" indent="0" marL="0">
              <a:buNone/>
            </a:pPr>
            <a:r>
              <a:rPr lang="en-US" sz="1400" b="1" dirty="0">
                <a:solidFill>
                  <a:srgbClr val="6B7280"/>
                </a:solidFill>
              </a:rPr>
              <a:t>reads news in</a:t>
            </a:r>
            <a:endParaRPr lang="en-US" sz="1400" dirty="0"/>
          </a:p>
        </p:txBody>
      </p:sp>
      <p:sp>
        <p:nvSpPr>
          <p:cNvPr id="5" name="Shape 3"/>
          <p:cNvSpPr/>
          <p:nvPr/>
        </p:nvSpPr>
        <p:spPr>
          <a:xfrm>
            <a:off x="914400" y="2651760"/>
            <a:ext cx="2011680" cy="548640"/>
          </a:xfrm>
          <a:prstGeom prst="roundRect">
            <a:avLst>
              <a:gd name="adj" fmla="val 16667"/>
            </a:avLst>
          </a:prstGeom>
          <a:solidFill>
            <a:srgbClr val="2563EB"/>
          </a:solidFill>
          <a:ln w="12700">
            <a:solidFill>
              <a:srgbClr val="2563EB"/>
            </a:solidFill>
            <a:prstDash val="solid"/>
          </a:ln>
        </p:spPr>
      </p:sp>
      <p:sp>
        <p:nvSpPr>
          <p:cNvPr id="6" name="Text 4"/>
          <p:cNvSpPr txBox="1"/>
          <p:nvPr/>
        </p:nvSpPr>
        <p:spPr>
          <a:xfrm>
            <a:off x="914400" y="2651760"/>
            <a:ext cx="2011680" cy="548640"/>
          </a:xfrm>
          <a:prstGeom prst="rect">
            <a:avLst/>
          </a:prstGeom>
          <a:noFill/>
          <a:ln/>
        </p:spPr>
        <p:txBody>
          <a:bodyPr wrap="square" lIns="0" tIns="0" rIns="0" bIns="0" rtlCol="0" anchor="ctr"/>
          <a:lstStyle/>
          <a:p>
            <a:pPr algn="ctr" indent="0" marL="0">
              <a:buNone/>
            </a:pPr>
            <a:r>
              <a:rPr lang="en-US" sz="2000" b="1" dirty="0">
                <a:solidFill>
                  <a:srgbClr val="FFFFFF"/>
                </a:solidFill>
              </a:rPr>
              <a:t>EN</a:t>
            </a:r>
            <a:endParaRPr lang="en-US" sz="2000" dirty="0"/>
          </a:p>
        </p:txBody>
      </p:sp>
      <p:sp>
        <p:nvSpPr>
          <p:cNvPr id="7" name="Shape 5"/>
          <p:cNvSpPr/>
          <p:nvPr/>
        </p:nvSpPr>
        <p:spPr>
          <a:xfrm>
            <a:off x="914400" y="3383280"/>
            <a:ext cx="2011680" cy="548640"/>
          </a:xfrm>
          <a:prstGeom prst="roundRect">
            <a:avLst>
              <a:gd name="adj" fmla="val 16667"/>
            </a:avLst>
          </a:prstGeom>
          <a:solidFill>
            <a:srgbClr val="D97706"/>
          </a:solidFill>
          <a:ln w="12700">
            <a:solidFill>
              <a:srgbClr val="D97706"/>
            </a:solidFill>
            <a:prstDash val="solid"/>
          </a:ln>
        </p:spPr>
      </p:sp>
      <p:sp>
        <p:nvSpPr>
          <p:cNvPr id="8" name="Text 6"/>
          <p:cNvSpPr txBox="1"/>
          <p:nvPr/>
        </p:nvSpPr>
        <p:spPr>
          <a:xfrm>
            <a:off x="914400" y="3383280"/>
            <a:ext cx="2011680" cy="548640"/>
          </a:xfrm>
          <a:prstGeom prst="rect">
            <a:avLst/>
          </a:prstGeom>
          <a:noFill/>
          <a:ln/>
        </p:spPr>
        <p:txBody>
          <a:bodyPr wrap="square" lIns="0" tIns="0" rIns="0" bIns="0" rtlCol="0" anchor="ctr"/>
          <a:lstStyle/>
          <a:p>
            <a:pPr algn="ctr" indent="0" marL="0">
              <a:buNone/>
            </a:pPr>
            <a:r>
              <a:rPr lang="en-US" sz="2000" b="1" dirty="0">
                <a:solidFill>
                  <a:srgbClr val="FFFFFF"/>
                </a:solidFill>
              </a:rPr>
              <a:t>DE</a:t>
            </a:r>
            <a:endParaRPr lang="en-US" sz="2000" dirty="0"/>
          </a:p>
        </p:txBody>
      </p:sp>
      <p:sp>
        <p:nvSpPr>
          <p:cNvPr id="9" name="Shape 7"/>
          <p:cNvSpPr/>
          <p:nvPr/>
        </p:nvSpPr>
        <p:spPr>
          <a:xfrm>
            <a:off x="914400" y="4114800"/>
            <a:ext cx="2011680" cy="548640"/>
          </a:xfrm>
          <a:prstGeom prst="roundRect">
            <a:avLst>
              <a:gd name="adj" fmla="val 16667"/>
            </a:avLst>
          </a:prstGeom>
          <a:solidFill>
            <a:srgbClr val="7C3AED"/>
          </a:solidFill>
          <a:ln w="12700">
            <a:solidFill>
              <a:srgbClr val="7C3AED"/>
            </a:solidFill>
            <a:prstDash val="solid"/>
          </a:ln>
        </p:spPr>
      </p:sp>
      <p:sp>
        <p:nvSpPr>
          <p:cNvPr id="10" name="Text 8"/>
          <p:cNvSpPr txBox="1"/>
          <p:nvPr/>
        </p:nvSpPr>
        <p:spPr>
          <a:xfrm>
            <a:off x="914400" y="4114800"/>
            <a:ext cx="2011680" cy="548640"/>
          </a:xfrm>
          <a:prstGeom prst="rect">
            <a:avLst/>
          </a:prstGeom>
          <a:noFill/>
          <a:ln/>
        </p:spPr>
        <p:txBody>
          <a:bodyPr wrap="square" lIns="0" tIns="0" rIns="0" bIns="0" rtlCol="0" anchor="ctr"/>
          <a:lstStyle/>
          <a:p>
            <a:pPr algn="ctr" indent="0" marL="0">
              <a:buNone/>
            </a:pPr>
            <a:r>
              <a:rPr lang="en-US" sz="2000" b="1" dirty="0">
                <a:solidFill>
                  <a:srgbClr val="FFFFFF"/>
                </a:solidFill>
              </a:rPr>
              <a:t>FR</a:t>
            </a:r>
            <a:endParaRPr lang="en-US" sz="2000" dirty="0"/>
          </a:p>
        </p:txBody>
      </p:sp>
      <p:sp>
        <p:nvSpPr>
          <p:cNvPr id="11" name="Shape 9"/>
          <p:cNvSpPr/>
          <p:nvPr/>
        </p:nvSpPr>
        <p:spPr>
          <a:xfrm>
            <a:off x="3291840" y="3429000"/>
            <a:ext cx="1188720" cy="502920"/>
          </a:xfrm>
          <a:prstGeom prst="rightArrow">
            <a:avLst/>
          </a:prstGeom>
          <a:solidFill>
            <a:srgbClr val="9CA3AF"/>
          </a:solidFill>
          <a:ln w="12700">
            <a:solidFill>
              <a:srgbClr val="9CA3AF"/>
            </a:solidFill>
            <a:prstDash val="solid"/>
          </a:ln>
        </p:spPr>
      </p:sp>
      <p:sp>
        <p:nvSpPr>
          <p:cNvPr id="12" name="Text 10"/>
          <p:cNvSpPr txBox="1"/>
          <p:nvPr/>
        </p:nvSpPr>
        <p:spPr>
          <a:xfrm>
            <a:off x="4754880" y="3154680"/>
            <a:ext cx="2651760" cy="457200"/>
          </a:xfrm>
          <a:prstGeom prst="rect">
            <a:avLst/>
          </a:prstGeom>
          <a:noFill/>
          <a:ln/>
        </p:spPr>
        <p:txBody>
          <a:bodyPr wrap="square" lIns="0" tIns="0" rIns="0" bIns="0" rtlCol="0" anchor="ctr"/>
          <a:lstStyle/>
          <a:p>
            <a:pPr algn="ctr" indent="0" marL="0">
              <a:buNone/>
            </a:pPr>
            <a:r>
              <a:rPr lang="en-US" sz="2400" b="1" dirty="0">
                <a:solidFill>
                  <a:srgbClr val="111827"/>
                </a:solidFill>
              </a:rPr>
              <a:t>plain LLM</a:t>
            </a:r>
            <a:endParaRPr lang="en-US" sz="2400" dirty="0"/>
          </a:p>
        </p:txBody>
      </p:sp>
      <p:sp>
        <p:nvSpPr>
          <p:cNvPr id="13" name="Text 11"/>
          <p:cNvSpPr txBox="1"/>
          <p:nvPr/>
        </p:nvSpPr>
        <p:spPr>
          <a:xfrm>
            <a:off x="4754880" y="3611880"/>
            <a:ext cx="2651760" cy="365760"/>
          </a:xfrm>
          <a:prstGeom prst="rect">
            <a:avLst/>
          </a:prstGeom>
          <a:noFill/>
          <a:ln/>
        </p:spPr>
        <p:txBody>
          <a:bodyPr wrap="square" lIns="0" tIns="0" rIns="0" bIns="0" rtlCol="0" anchor="ctr"/>
          <a:lstStyle/>
          <a:p>
            <a:pPr algn="ctr" indent="0" marL="0">
              <a:buNone/>
            </a:pPr>
            <a:r>
              <a:rPr lang="en-US" sz="1400" dirty="0">
                <a:solidFill>
                  <a:srgbClr val="6B7280"/>
                </a:solidFill>
              </a:rPr>
              <a:t>no reasoning</a:t>
            </a:r>
            <a:endParaRPr lang="en-US" sz="1400" dirty="0"/>
          </a:p>
        </p:txBody>
      </p:sp>
      <p:sp>
        <p:nvSpPr>
          <p:cNvPr id="14" name="Shape 12"/>
          <p:cNvSpPr/>
          <p:nvPr/>
        </p:nvSpPr>
        <p:spPr>
          <a:xfrm>
            <a:off x="7680960" y="3429000"/>
            <a:ext cx="1188720" cy="502920"/>
          </a:xfrm>
          <a:prstGeom prst="rightArrow">
            <a:avLst/>
          </a:prstGeom>
          <a:solidFill>
            <a:srgbClr val="9CA3AF"/>
          </a:solidFill>
          <a:ln w="12700">
            <a:solidFill>
              <a:srgbClr val="9CA3AF"/>
            </a:solidFill>
            <a:prstDash val="solid"/>
          </a:ln>
        </p:spPr>
      </p:sp>
      <p:sp>
        <p:nvSpPr>
          <p:cNvPr id="15" name="Text 13"/>
          <p:cNvSpPr txBox="1"/>
          <p:nvPr/>
        </p:nvSpPr>
        <p:spPr>
          <a:xfrm>
            <a:off x="9144000" y="2240280"/>
            <a:ext cx="2103120" cy="320040"/>
          </a:xfrm>
          <a:prstGeom prst="rect">
            <a:avLst/>
          </a:prstGeom>
          <a:noFill/>
          <a:ln/>
        </p:spPr>
        <p:txBody>
          <a:bodyPr wrap="square" lIns="0" tIns="0" rIns="0" bIns="0" rtlCol="0" anchor="ctr"/>
          <a:lstStyle/>
          <a:p>
            <a:pPr algn="ctr" indent="0" marL="0">
              <a:buNone/>
            </a:pPr>
            <a:r>
              <a:rPr lang="en-US" sz="1400" b="1" dirty="0">
                <a:solidFill>
                  <a:srgbClr val="6B7280"/>
                </a:solidFill>
              </a:rPr>
              <a:t>same fact asked in</a:t>
            </a:r>
            <a:endParaRPr lang="en-US" sz="1400" dirty="0"/>
          </a:p>
        </p:txBody>
      </p:sp>
      <p:sp>
        <p:nvSpPr>
          <p:cNvPr id="16" name="Shape 14"/>
          <p:cNvSpPr/>
          <p:nvPr/>
        </p:nvSpPr>
        <p:spPr>
          <a:xfrm>
            <a:off x="9144000" y="2651760"/>
            <a:ext cx="2103120" cy="548640"/>
          </a:xfrm>
          <a:prstGeom prst="roundRect">
            <a:avLst>
              <a:gd name="adj" fmla="val 16667"/>
            </a:avLst>
          </a:prstGeom>
          <a:solidFill>
            <a:srgbClr val="FFFFFF"/>
          </a:solidFill>
          <a:ln w="31750">
            <a:solidFill>
              <a:srgbClr val="2563EB"/>
            </a:solidFill>
            <a:prstDash val="solid"/>
          </a:ln>
        </p:spPr>
      </p:sp>
      <p:sp>
        <p:nvSpPr>
          <p:cNvPr id="17" name="Text 15"/>
          <p:cNvSpPr txBox="1"/>
          <p:nvPr/>
        </p:nvSpPr>
        <p:spPr>
          <a:xfrm>
            <a:off x="9144000" y="2651760"/>
            <a:ext cx="2103120" cy="548640"/>
          </a:xfrm>
          <a:prstGeom prst="rect">
            <a:avLst/>
          </a:prstGeom>
          <a:noFill/>
          <a:ln/>
        </p:spPr>
        <p:txBody>
          <a:bodyPr wrap="square" lIns="0" tIns="0" rIns="0" bIns="0" rtlCol="0" anchor="ctr"/>
          <a:lstStyle/>
          <a:p>
            <a:pPr algn="ctr" indent="0" marL="0">
              <a:buNone/>
            </a:pPr>
            <a:r>
              <a:rPr lang="en-US" sz="2000" b="1" dirty="0">
                <a:solidFill>
                  <a:srgbClr val="111827"/>
                </a:solidFill>
              </a:rPr>
              <a:t>EN</a:t>
            </a:r>
            <a:endParaRPr lang="en-US" sz="2000" dirty="0"/>
          </a:p>
        </p:txBody>
      </p:sp>
      <p:sp>
        <p:nvSpPr>
          <p:cNvPr id="18" name="Shape 16"/>
          <p:cNvSpPr/>
          <p:nvPr/>
        </p:nvSpPr>
        <p:spPr>
          <a:xfrm>
            <a:off x="9144000" y="3383280"/>
            <a:ext cx="2103120" cy="548640"/>
          </a:xfrm>
          <a:prstGeom prst="roundRect">
            <a:avLst>
              <a:gd name="adj" fmla="val 16667"/>
            </a:avLst>
          </a:prstGeom>
          <a:solidFill>
            <a:srgbClr val="FFFFFF"/>
          </a:solidFill>
          <a:ln w="31750">
            <a:solidFill>
              <a:srgbClr val="D97706"/>
            </a:solidFill>
            <a:prstDash val="solid"/>
          </a:ln>
        </p:spPr>
      </p:sp>
      <p:sp>
        <p:nvSpPr>
          <p:cNvPr id="19" name="Text 17"/>
          <p:cNvSpPr txBox="1"/>
          <p:nvPr/>
        </p:nvSpPr>
        <p:spPr>
          <a:xfrm>
            <a:off x="9144000" y="3383280"/>
            <a:ext cx="2103120" cy="548640"/>
          </a:xfrm>
          <a:prstGeom prst="rect">
            <a:avLst/>
          </a:prstGeom>
          <a:noFill/>
          <a:ln/>
        </p:spPr>
        <p:txBody>
          <a:bodyPr wrap="square" lIns="0" tIns="0" rIns="0" bIns="0" rtlCol="0" anchor="ctr"/>
          <a:lstStyle/>
          <a:p>
            <a:pPr algn="ctr" indent="0" marL="0">
              <a:buNone/>
            </a:pPr>
            <a:r>
              <a:rPr lang="en-US" sz="2000" b="1" dirty="0">
                <a:solidFill>
                  <a:srgbClr val="111827"/>
                </a:solidFill>
              </a:rPr>
              <a:t>DE</a:t>
            </a:r>
            <a:endParaRPr lang="en-US" sz="2000" dirty="0"/>
          </a:p>
        </p:txBody>
      </p:sp>
      <p:sp>
        <p:nvSpPr>
          <p:cNvPr id="20" name="Shape 18"/>
          <p:cNvSpPr/>
          <p:nvPr/>
        </p:nvSpPr>
        <p:spPr>
          <a:xfrm>
            <a:off x="9144000" y="4114800"/>
            <a:ext cx="2103120" cy="548640"/>
          </a:xfrm>
          <a:prstGeom prst="roundRect">
            <a:avLst>
              <a:gd name="adj" fmla="val 16667"/>
            </a:avLst>
          </a:prstGeom>
          <a:solidFill>
            <a:srgbClr val="FFFFFF"/>
          </a:solidFill>
          <a:ln w="31750">
            <a:solidFill>
              <a:srgbClr val="7C3AED"/>
            </a:solidFill>
            <a:prstDash val="solid"/>
          </a:ln>
        </p:spPr>
      </p:sp>
      <p:sp>
        <p:nvSpPr>
          <p:cNvPr id="21" name="Text 19"/>
          <p:cNvSpPr txBox="1"/>
          <p:nvPr/>
        </p:nvSpPr>
        <p:spPr>
          <a:xfrm>
            <a:off x="9144000" y="4114800"/>
            <a:ext cx="2103120" cy="548640"/>
          </a:xfrm>
          <a:prstGeom prst="rect">
            <a:avLst/>
          </a:prstGeom>
          <a:noFill/>
          <a:ln/>
        </p:spPr>
        <p:txBody>
          <a:bodyPr wrap="square" lIns="0" tIns="0" rIns="0" bIns="0" rtlCol="0" anchor="ctr"/>
          <a:lstStyle/>
          <a:p>
            <a:pPr algn="ctr" indent="0" marL="0">
              <a:buNone/>
            </a:pPr>
            <a:r>
              <a:rPr lang="en-US" sz="2000" b="1" dirty="0">
                <a:solidFill>
                  <a:srgbClr val="111827"/>
                </a:solidFill>
              </a:rPr>
              <a:t>FR</a:t>
            </a:r>
            <a:endParaRPr lang="en-US" sz="2000" dirty="0"/>
          </a:p>
        </p:txBody>
      </p:sp>
      <p:sp>
        <p:nvSpPr>
          <p:cNvPr id="22"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A plain model, no reasoning, same facts in three languages. </a:t>
            </a:r>
            <a:pPr indent="0" marL="0">
              <a:buNone/>
            </a:pPr>
            <a:r>
              <a:rPr lang="en-US" sz="1800" b="1" i="1" dirty="0">
                <a:solidFill>
                  <a:srgbClr val="6B7280"/>
                </a:solidFill>
              </a:rPr>
              <a:t>What's your guess?</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2 · THE ANSWER</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Mostly, yes. </a:t>
            </a:r>
            <a:pPr algn="l" indent="0" marL="0">
              <a:buNone/>
            </a:pPr>
            <a:r>
              <a:rPr lang="en-US" sz="3200" b="1" i="1" dirty="0">
                <a:solidFill>
                  <a:srgbClr val="6B7280"/>
                </a:solidFill>
              </a:rPr>
              <a:t>Knowledge doesn't really speak a language.</a:t>
            </a:r>
            <a:endParaRPr lang="en-US" sz="3200" dirty="0"/>
          </a:p>
        </p:txBody>
      </p:sp>
      <p:sp>
        <p:nvSpPr>
          <p:cNvPr id="4" name="Text 2"/>
          <p:cNvSpPr txBox="1"/>
          <p:nvPr/>
        </p:nvSpPr>
        <p:spPr>
          <a:xfrm>
            <a:off x="640080" y="2103120"/>
            <a:ext cx="10908792" cy="1828800"/>
          </a:xfrm>
          <a:prstGeom prst="rect">
            <a:avLst/>
          </a:prstGeom>
          <a:noFill/>
          <a:ln/>
        </p:spPr>
        <p:txBody>
          <a:bodyPr wrap="square" lIns="0" tIns="0" rIns="0" bIns="0" rtlCol="0" anchor="ctr"/>
          <a:lstStyle/>
          <a:p>
            <a:pPr algn="ctr" indent="0" marL="0">
              <a:buNone/>
            </a:pPr>
            <a:r>
              <a:rPr lang="en-US" sz="12000" b="1" dirty="0">
                <a:solidFill>
                  <a:srgbClr val="C2410C"/>
                </a:solidFill>
                <a:latin typeface="Cambria" pitchFamily="34" charset="0"/>
                <a:ea typeface="Cambria" pitchFamily="34" charset="-122"/>
                <a:cs typeface="Cambria" pitchFamily="34" charset="-120"/>
              </a:rPr>
              <a:t>~70%</a:t>
            </a:r>
            <a:endParaRPr lang="en-US" sz="12000" dirty="0"/>
          </a:p>
        </p:txBody>
      </p:sp>
      <p:sp>
        <p:nvSpPr>
          <p:cNvPr id="5" name="Shape 3"/>
          <p:cNvSpPr/>
          <p:nvPr/>
        </p:nvSpPr>
        <p:spPr>
          <a:xfrm>
            <a:off x="1554480" y="4206240"/>
            <a:ext cx="9052560" cy="502920"/>
          </a:xfrm>
          <a:prstGeom prst="roundRect">
            <a:avLst>
              <a:gd name="adj" fmla="val 18182"/>
            </a:avLst>
          </a:prstGeom>
          <a:solidFill>
            <a:srgbClr val="F3F4F6"/>
          </a:solidFill>
          <a:ln w="12700">
            <a:solidFill>
              <a:srgbClr val="E5E7EB"/>
            </a:solidFill>
            <a:prstDash val="solid"/>
          </a:ln>
        </p:spPr>
      </p:sp>
      <p:sp>
        <p:nvSpPr>
          <p:cNvPr id="6" name="Shape 4"/>
          <p:cNvSpPr/>
          <p:nvPr/>
        </p:nvSpPr>
        <p:spPr>
          <a:xfrm>
            <a:off x="1554480" y="4206240"/>
            <a:ext cx="6336792" cy="502920"/>
          </a:xfrm>
          <a:prstGeom prst="roundRect">
            <a:avLst>
              <a:gd name="adj" fmla="val 18182"/>
            </a:avLst>
          </a:prstGeom>
          <a:solidFill>
            <a:srgbClr val="C2410C"/>
          </a:solidFill>
          <a:ln w="12700">
            <a:solidFill>
              <a:srgbClr val="C2410C"/>
            </a:solidFill>
            <a:prstDash val="solid"/>
          </a:ln>
        </p:spPr>
      </p:sp>
      <p:sp>
        <p:nvSpPr>
          <p:cNvPr id="7" name="Text 5"/>
          <p:cNvSpPr txBox="1"/>
          <p:nvPr/>
        </p:nvSpPr>
        <p:spPr>
          <a:xfrm>
            <a:off x="1554480" y="4800600"/>
            <a:ext cx="3657600" cy="320040"/>
          </a:xfrm>
          <a:prstGeom prst="rect">
            <a:avLst/>
          </a:prstGeom>
          <a:noFill/>
          <a:ln/>
        </p:spPr>
        <p:txBody>
          <a:bodyPr wrap="square" lIns="0" tIns="0" rIns="0" bIns="0" rtlCol="0" anchor="ctr"/>
          <a:lstStyle/>
          <a:p>
            <a:pPr indent="0" marL="0">
              <a:buNone/>
            </a:pPr>
            <a:r>
              <a:rPr lang="en-US" sz="1400" b="1" dirty="0">
                <a:solidFill>
                  <a:srgbClr val="6B7280"/>
                </a:solidFill>
              </a:rPr>
              <a:t>what it learned in English</a:t>
            </a:r>
            <a:endParaRPr lang="en-US" sz="1400" dirty="0"/>
          </a:p>
        </p:txBody>
      </p:sp>
      <p:sp>
        <p:nvSpPr>
          <p:cNvPr id="8" name="Text 6"/>
          <p:cNvSpPr txBox="1"/>
          <p:nvPr/>
        </p:nvSpPr>
        <p:spPr>
          <a:xfrm>
            <a:off x="6949440" y="4800600"/>
            <a:ext cx="3657600" cy="320040"/>
          </a:xfrm>
          <a:prstGeom prst="rect">
            <a:avLst/>
          </a:prstGeom>
          <a:noFill/>
          <a:ln/>
        </p:spPr>
        <p:txBody>
          <a:bodyPr wrap="square" lIns="0" tIns="0" rIns="0" bIns="0" rtlCol="0" anchor="ctr"/>
          <a:lstStyle/>
          <a:p>
            <a:pPr algn="r" indent="0" marL="0">
              <a:buNone/>
            </a:pPr>
            <a:r>
              <a:rPr lang="en-US" sz="1400" b="1" dirty="0">
                <a:solidFill>
                  <a:srgbClr val="6B7280"/>
                </a:solidFill>
              </a:rPr>
              <a:t>100% = as good as asking in English</a:t>
            </a:r>
            <a:endParaRPr lang="en-US" sz="1400" dirty="0"/>
          </a:p>
        </p:txBody>
      </p:sp>
      <p:sp>
        <p:nvSpPr>
          <p:cNvPr id="9"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About 70% of what it learned in English, it can answer in German or French. </a:t>
            </a:r>
            <a:pPr indent="0" marL="0">
              <a:buNone/>
            </a:pPr>
            <a:r>
              <a:rPr lang="en-US" sz="1800" b="1" i="1" dirty="0">
                <a:solidFill>
                  <a:srgbClr val="6B7280"/>
                </a:solidFill>
              </a:rPr>
              <a:t>Asking in the language it read is still a bit better.</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2 · THE CATCH</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But it quietly gets worse at other things.</a:t>
            </a:r>
            <a:endParaRPr lang="en-US" sz="3200" dirty="0"/>
          </a:p>
        </p:txBody>
      </p:sp>
      <p:sp>
        <p:nvSpPr>
          <p:cNvPr id="4" name="Shape 2"/>
          <p:cNvSpPr/>
          <p:nvPr/>
        </p:nvSpPr>
        <p:spPr>
          <a:xfrm>
            <a:off x="640080" y="2286000"/>
            <a:ext cx="5212080" cy="3108960"/>
          </a:xfrm>
          <a:prstGeom prst="roundRect">
            <a:avLst>
              <a:gd name="adj" fmla="val 3529"/>
            </a:avLst>
          </a:prstGeom>
          <a:solidFill>
            <a:srgbClr val="F9FAFB"/>
          </a:solidFill>
          <a:ln w="12700">
            <a:solidFill>
              <a:srgbClr val="E5E7EB"/>
            </a:solidFill>
            <a:prstDash val="solid"/>
          </a:ln>
        </p:spPr>
      </p:sp>
      <p:sp>
        <p:nvSpPr>
          <p:cNvPr id="5" name="Text 3"/>
          <p:cNvSpPr txBox="1"/>
          <p:nvPr/>
        </p:nvSpPr>
        <p:spPr>
          <a:xfrm>
            <a:off x="640080" y="2514600"/>
            <a:ext cx="5212080" cy="320040"/>
          </a:xfrm>
          <a:prstGeom prst="rect">
            <a:avLst/>
          </a:prstGeom>
          <a:noFill/>
          <a:ln/>
        </p:spPr>
        <p:txBody>
          <a:bodyPr wrap="square" lIns="0" tIns="0" rIns="0" bIns="0" rtlCol="0" anchor="ctr"/>
          <a:lstStyle/>
          <a:p>
            <a:pPr algn="ctr" indent="0" marL="0">
              <a:buNone/>
            </a:pPr>
            <a:r>
              <a:rPr lang="en-US" sz="1200" b="1" spc="200" kern="0" dirty="0">
                <a:solidFill>
                  <a:srgbClr val="6B7280"/>
                </a:solidFill>
              </a:rPr>
              <a:t>FACTS FROM BEFORE 2023</a:t>
            </a:r>
            <a:endParaRPr lang="en-US" sz="1200" dirty="0"/>
          </a:p>
        </p:txBody>
      </p:sp>
      <p:sp>
        <p:nvSpPr>
          <p:cNvPr id="6" name="Text 4"/>
          <p:cNvSpPr txBox="1"/>
          <p:nvPr/>
        </p:nvSpPr>
        <p:spPr>
          <a:xfrm>
            <a:off x="640080" y="2926080"/>
            <a:ext cx="5212080" cy="1463040"/>
          </a:xfrm>
          <a:prstGeom prst="rect">
            <a:avLst/>
          </a:prstGeom>
          <a:noFill/>
          <a:ln/>
        </p:spPr>
        <p:txBody>
          <a:bodyPr wrap="square" lIns="0" tIns="0" rIns="0" bIns="0" rtlCol="0" anchor="ctr"/>
          <a:lstStyle/>
          <a:p>
            <a:pPr algn="ctr" indent="0" marL="0">
              <a:buNone/>
            </a:pPr>
            <a:r>
              <a:rPr lang="en-US" sz="8400" b="1" dirty="0">
                <a:solidFill>
                  <a:srgbClr val="111827"/>
                </a:solidFill>
                <a:latin typeface="Cambria" pitchFamily="34" charset="0"/>
                <a:ea typeface="Cambria" pitchFamily="34" charset="-122"/>
                <a:cs typeface="Cambria" pitchFamily="34" charset="-120"/>
              </a:rPr>
              <a:t>+0.3</a:t>
            </a:r>
            <a:endParaRPr lang="en-US" sz="8400" dirty="0"/>
          </a:p>
        </p:txBody>
      </p:sp>
      <p:sp>
        <p:nvSpPr>
          <p:cNvPr id="7" name="Text 5"/>
          <p:cNvSpPr txBox="1"/>
          <p:nvPr/>
        </p:nvSpPr>
        <p:spPr>
          <a:xfrm>
            <a:off x="640080" y="4572000"/>
            <a:ext cx="5212080" cy="365760"/>
          </a:xfrm>
          <a:prstGeom prst="rect">
            <a:avLst/>
          </a:prstGeom>
          <a:noFill/>
          <a:ln/>
        </p:spPr>
        <p:txBody>
          <a:bodyPr wrap="square" lIns="0" tIns="0" rIns="0" bIns="0" rtlCol="0" anchor="ctr"/>
          <a:lstStyle/>
          <a:p>
            <a:pPr algn="ctr" indent="0" marL="0">
              <a:buNone/>
            </a:pPr>
            <a:r>
              <a:rPr lang="en-US" sz="1600" dirty="0">
                <a:solidFill>
                  <a:srgbClr val="374151"/>
                </a:solidFill>
              </a:rPr>
              <a:t>nothing forgotten</a:t>
            </a:r>
            <a:endParaRPr lang="en-US" sz="1600" dirty="0"/>
          </a:p>
        </p:txBody>
      </p:sp>
      <p:sp>
        <p:nvSpPr>
          <p:cNvPr id="8" name="Shape 6"/>
          <p:cNvSpPr/>
          <p:nvPr/>
        </p:nvSpPr>
        <p:spPr>
          <a:xfrm>
            <a:off x="6355080" y="2286000"/>
            <a:ext cx="5212080" cy="3108960"/>
          </a:xfrm>
          <a:prstGeom prst="roundRect">
            <a:avLst>
              <a:gd name="adj" fmla="val 3529"/>
            </a:avLst>
          </a:prstGeom>
          <a:solidFill>
            <a:srgbClr val="FFF7ED"/>
          </a:solidFill>
          <a:ln w="12700">
            <a:solidFill>
              <a:srgbClr val="FDBA74"/>
            </a:solidFill>
            <a:prstDash val="solid"/>
          </a:ln>
        </p:spPr>
      </p:sp>
      <p:sp>
        <p:nvSpPr>
          <p:cNvPr id="9" name="Text 7"/>
          <p:cNvSpPr txBox="1"/>
          <p:nvPr/>
        </p:nvSpPr>
        <p:spPr>
          <a:xfrm>
            <a:off x="6355080" y="2514600"/>
            <a:ext cx="5212080" cy="320040"/>
          </a:xfrm>
          <a:prstGeom prst="rect">
            <a:avLst/>
          </a:prstGeom>
          <a:noFill/>
          <a:ln/>
        </p:spPr>
        <p:txBody>
          <a:bodyPr wrap="square" lIns="0" tIns="0" rIns="0" bIns="0" rtlCol="0" anchor="ctr"/>
          <a:lstStyle/>
          <a:p>
            <a:pPr algn="ctr" indent="0" marL="0">
              <a:buNone/>
            </a:pPr>
            <a:r>
              <a:rPr lang="en-US" sz="1200" b="1" spc="200" kern="0" dirty="0">
                <a:solidFill>
                  <a:srgbClr val="C2410C"/>
                </a:solidFill>
              </a:rPr>
              <a:t>GENERAL SKILLS · 20 TESTS</a:t>
            </a:r>
            <a:endParaRPr lang="en-US" sz="1200" dirty="0"/>
          </a:p>
        </p:txBody>
      </p:sp>
      <p:sp>
        <p:nvSpPr>
          <p:cNvPr id="10" name="Text 8"/>
          <p:cNvSpPr txBox="1"/>
          <p:nvPr/>
        </p:nvSpPr>
        <p:spPr>
          <a:xfrm>
            <a:off x="6355080" y="2926080"/>
            <a:ext cx="5212080" cy="1463040"/>
          </a:xfrm>
          <a:prstGeom prst="rect">
            <a:avLst/>
          </a:prstGeom>
          <a:noFill/>
          <a:ln/>
        </p:spPr>
        <p:txBody>
          <a:bodyPr wrap="square" lIns="0" tIns="0" rIns="0" bIns="0" rtlCol="0" anchor="ctr"/>
          <a:lstStyle/>
          <a:p>
            <a:pPr algn="ctr" indent="0" marL="0">
              <a:buNone/>
            </a:pPr>
            <a:r>
              <a:rPr lang="en-US" sz="8400" b="1" dirty="0">
                <a:solidFill>
                  <a:srgbClr val="C2410C"/>
                </a:solidFill>
                <a:latin typeface="Cambria" pitchFamily="34" charset="0"/>
                <a:ea typeface="Cambria" pitchFamily="34" charset="-122"/>
                <a:cs typeface="Cambria" pitchFamily="34" charset="-120"/>
              </a:rPr>
              <a:t>−1.2</a:t>
            </a:r>
            <a:endParaRPr lang="en-US" sz="8400" dirty="0"/>
          </a:p>
        </p:txBody>
      </p:sp>
      <p:sp>
        <p:nvSpPr>
          <p:cNvPr id="11" name="Text 9"/>
          <p:cNvSpPr txBox="1"/>
          <p:nvPr/>
        </p:nvSpPr>
        <p:spPr>
          <a:xfrm>
            <a:off x="6355080" y="4572000"/>
            <a:ext cx="5212080" cy="365760"/>
          </a:xfrm>
          <a:prstGeom prst="rect">
            <a:avLst/>
          </a:prstGeom>
          <a:noFill/>
          <a:ln/>
        </p:spPr>
        <p:txBody>
          <a:bodyPr wrap="square" lIns="0" tIns="0" rIns="0" bIns="0" rtlCol="0" anchor="ctr"/>
          <a:lstStyle/>
          <a:p>
            <a:pPr algn="ctr" indent="0" marL="0">
              <a:buNone/>
            </a:pPr>
            <a:r>
              <a:rPr lang="en-US" sz="1600" dirty="0">
                <a:solidFill>
                  <a:srgbClr val="374151"/>
                </a:solidFill>
              </a:rPr>
              <a:t>looks fine in the training language, drops in the others</a:t>
            </a:r>
            <a:endParaRPr lang="en-US" sz="1600" dirty="0"/>
          </a:p>
        </p:txBody>
      </p:sp>
      <p:sp>
        <p:nvSpPr>
          <p:cNvPr id="12"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Old facts stay. General skills slip. </a:t>
            </a:r>
            <a:pPr indent="0" marL="0">
              <a:buNone/>
            </a:pPr>
            <a:r>
              <a:rPr lang="en-US" sz="1800" b="1" i="1" dirty="0">
                <a:solidFill>
                  <a:srgbClr val="6B7280"/>
                </a:solidFill>
              </a:rPr>
              <a:t>And you only notice if you test in the other languages.</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2 · THE TRICK</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Teach three students, then average their brains.</a:t>
            </a:r>
            <a:endParaRPr lang="en-US" sz="3200" dirty="0"/>
          </a:p>
        </p:txBody>
      </p:sp>
      <p:sp>
        <p:nvSpPr>
          <p:cNvPr id="4" name="Shape 2"/>
          <p:cNvSpPr/>
          <p:nvPr/>
        </p:nvSpPr>
        <p:spPr>
          <a:xfrm>
            <a:off x="1280160" y="2743200"/>
            <a:ext cx="1005840" cy="1005840"/>
          </a:xfrm>
          <a:prstGeom prst="ellipse">
            <a:avLst/>
          </a:prstGeom>
          <a:solidFill>
            <a:srgbClr val="2563EB"/>
          </a:solidFill>
          <a:ln w="12700">
            <a:solidFill>
              <a:srgbClr val="2563EB"/>
            </a:solidFill>
            <a:prstDash val="solid"/>
          </a:ln>
        </p:spPr>
      </p:sp>
      <p:sp>
        <p:nvSpPr>
          <p:cNvPr id="5" name="Text 3"/>
          <p:cNvSpPr txBox="1"/>
          <p:nvPr/>
        </p:nvSpPr>
        <p:spPr>
          <a:xfrm>
            <a:off x="1280160" y="2743200"/>
            <a:ext cx="1005840" cy="1005840"/>
          </a:xfrm>
          <a:prstGeom prst="rect">
            <a:avLst/>
          </a:prstGeom>
          <a:noFill/>
          <a:ln/>
        </p:spPr>
        <p:txBody>
          <a:bodyPr wrap="square" lIns="0" tIns="0" rIns="0" bIns="0" rtlCol="0" anchor="ctr"/>
          <a:lstStyle/>
          <a:p>
            <a:pPr algn="ctr" indent="0" marL="0">
              <a:buNone/>
            </a:pPr>
            <a:r>
              <a:rPr lang="en-US" sz="2600" b="1" dirty="0">
                <a:solidFill>
                  <a:srgbClr val="FFFFFF"/>
                </a:solidFill>
              </a:rPr>
              <a:t>EN</a:t>
            </a:r>
            <a:endParaRPr lang="en-US" sz="2600" dirty="0"/>
          </a:p>
        </p:txBody>
      </p:sp>
      <p:sp>
        <p:nvSpPr>
          <p:cNvPr id="6" name="Text 4"/>
          <p:cNvSpPr txBox="1"/>
          <p:nvPr/>
        </p:nvSpPr>
        <p:spPr>
          <a:xfrm>
            <a:off x="2377440" y="2743200"/>
            <a:ext cx="457200" cy="1005840"/>
          </a:xfrm>
          <a:prstGeom prst="rect">
            <a:avLst/>
          </a:prstGeom>
          <a:noFill/>
          <a:ln/>
        </p:spPr>
        <p:txBody>
          <a:bodyPr wrap="square" lIns="0" tIns="0" rIns="0" bIns="0" rtlCol="0" anchor="ctr"/>
          <a:lstStyle/>
          <a:p>
            <a:pPr algn="ctr" indent="0" marL="0">
              <a:buNone/>
            </a:pPr>
            <a:r>
              <a:rPr lang="en-US" sz="3600" b="1" dirty="0">
                <a:solidFill>
                  <a:srgbClr val="9CA3AF"/>
                </a:solidFill>
              </a:rPr>
              <a:t>+</a:t>
            </a:r>
            <a:endParaRPr lang="en-US" sz="3600" dirty="0"/>
          </a:p>
        </p:txBody>
      </p:sp>
      <p:sp>
        <p:nvSpPr>
          <p:cNvPr id="7" name="Shape 5"/>
          <p:cNvSpPr/>
          <p:nvPr/>
        </p:nvSpPr>
        <p:spPr>
          <a:xfrm>
            <a:off x="2926080" y="2743200"/>
            <a:ext cx="1005840" cy="1005840"/>
          </a:xfrm>
          <a:prstGeom prst="ellipse">
            <a:avLst/>
          </a:prstGeom>
          <a:solidFill>
            <a:srgbClr val="D97706"/>
          </a:solidFill>
          <a:ln w="12700">
            <a:solidFill>
              <a:srgbClr val="D97706"/>
            </a:solidFill>
            <a:prstDash val="solid"/>
          </a:ln>
        </p:spPr>
      </p:sp>
      <p:sp>
        <p:nvSpPr>
          <p:cNvPr id="8" name="Text 6"/>
          <p:cNvSpPr txBox="1"/>
          <p:nvPr/>
        </p:nvSpPr>
        <p:spPr>
          <a:xfrm>
            <a:off x="2926080" y="2743200"/>
            <a:ext cx="1005840" cy="1005840"/>
          </a:xfrm>
          <a:prstGeom prst="rect">
            <a:avLst/>
          </a:prstGeom>
          <a:noFill/>
          <a:ln/>
        </p:spPr>
        <p:txBody>
          <a:bodyPr wrap="square" lIns="0" tIns="0" rIns="0" bIns="0" rtlCol="0" anchor="ctr"/>
          <a:lstStyle/>
          <a:p>
            <a:pPr algn="ctr" indent="0" marL="0">
              <a:buNone/>
            </a:pPr>
            <a:r>
              <a:rPr lang="en-US" sz="2600" b="1" dirty="0">
                <a:solidFill>
                  <a:srgbClr val="FFFFFF"/>
                </a:solidFill>
              </a:rPr>
              <a:t>DE</a:t>
            </a:r>
            <a:endParaRPr lang="en-US" sz="2600" dirty="0"/>
          </a:p>
        </p:txBody>
      </p:sp>
      <p:sp>
        <p:nvSpPr>
          <p:cNvPr id="9" name="Text 7"/>
          <p:cNvSpPr txBox="1"/>
          <p:nvPr/>
        </p:nvSpPr>
        <p:spPr>
          <a:xfrm>
            <a:off x="4023360" y="2743200"/>
            <a:ext cx="457200" cy="1005840"/>
          </a:xfrm>
          <a:prstGeom prst="rect">
            <a:avLst/>
          </a:prstGeom>
          <a:noFill/>
          <a:ln/>
        </p:spPr>
        <p:txBody>
          <a:bodyPr wrap="square" lIns="0" tIns="0" rIns="0" bIns="0" rtlCol="0" anchor="ctr"/>
          <a:lstStyle/>
          <a:p>
            <a:pPr algn="ctr" indent="0" marL="0">
              <a:buNone/>
            </a:pPr>
            <a:r>
              <a:rPr lang="en-US" sz="3600" b="1" dirty="0">
                <a:solidFill>
                  <a:srgbClr val="9CA3AF"/>
                </a:solidFill>
              </a:rPr>
              <a:t>+</a:t>
            </a:r>
            <a:endParaRPr lang="en-US" sz="3600" dirty="0"/>
          </a:p>
        </p:txBody>
      </p:sp>
      <p:sp>
        <p:nvSpPr>
          <p:cNvPr id="10" name="Shape 8"/>
          <p:cNvSpPr/>
          <p:nvPr/>
        </p:nvSpPr>
        <p:spPr>
          <a:xfrm>
            <a:off x="4572000" y="2743200"/>
            <a:ext cx="1005840" cy="1005840"/>
          </a:xfrm>
          <a:prstGeom prst="ellipse">
            <a:avLst/>
          </a:prstGeom>
          <a:solidFill>
            <a:srgbClr val="7C3AED"/>
          </a:solidFill>
          <a:ln w="12700">
            <a:solidFill>
              <a:srgbClr val="7C3AED"/>
            </a:solidFill>
            <a:prstDash val="solid"/>
          </a:ln>
        </p:spPr>
      </p:sp>
      <p:sp>
        <p:nvSpPr>
          <p:cNvPr id="11" name="Text 9"/>
          <p:cNvSpPr txBox="1"/>
          <p:nvPr/>
        </p:nvSpPr>
        <p:spPr>
          <a:xfrm>
            <a:off x="4572000" y="2743200"/>
            <a:ext cx="1005840" cy="1005840"/>
          </a:xfrm>
          <a:prstGeom prst="rect">
            <a:avLst/>
          </a:prstGeom>
          <a:noFill/>
          <a:ln/>
        </p:spPr>
        <p:txBody>
          <a:bodyPr wrap="square" lIns="0" tIns="0" rIns="0" bIns="0" rtlCol="0" anchor="ctr"/>
          <a:lstStyle/>
          <a:p>
            <a:pPr algn="ctr" indent="0" marL="0">
              <a:buNone/>
            </a:pPr>
            <a:r>
              <a:rPr lang="en-US" sz="2600" b="1" dirty="0">
                <a:solidFill>
                  <a:srgbClr val="FFFFFF"/>
                </a:solidFill>
              </a:rPr>
              <a:t>FR</a:t>
            </a:r>
            <a:endParaRPr lang="en-US" sz="2600" dirty="0"/>
          </a:p>
        </p:txBody>
      </p:sp>
      <p:sp>
        <p:nvSpPr>
          <p:cNvPr id="12" name="Text 10"/>
          <p:cNvSpPr txBox="1"/>
          <p:nvPr/>
        </p:nvSpPr>
        <p:spPr>
          <a:xfrm>
            <a:off x="5669280" y="2743200"/>
            <a:ext cx="1463040" cy="1005840"/>
          </a:xfrm>
          <a:prstGeom prst="rect">
            <a:avLst/>
          </a:prstGeom>
          <a:noFill/>
          <a:ln/>
        </p:spPr>
        <p:txBody>
          <a:bodyPr wrap="square" lIns="0" tIns="0" rIns="0" bIns="0" rtlCol="0" anchor="ctr"/>
          <a:lstStyle/>
          <a:p>
            <a:pPr algn="ctr" indent="0" marL="0">
              <a:buNone/>
            </a:pPr>
            <a:r>
              <a:rPr lang="en-US" sz="3600" b="1" dirty="0">
                <a:solidFill>
                  <a:srgbClr val="9CA3AF"/>
                </a:solidFill>
              </a:rPr>
              <a:t>÷ 3  =</a:t>
            </a:r>
            <a:endParaRPr lang="en-US" sz="3600" dirty="0"/>
          </a:p>
        </p:txBody>
      </p:sp>
      <p:sp>
        <p:nvSpPr>
          <p:cNvPr id="13" name="Shape 11"/>
          <p:cNvSpPr/>
          <p:nvPr/>
        </p:nvSpPr>
        <p:spPr>
          <a:xfrm>
            <a:off x="7315200" y="2560320"/>
            <a:ext cx="1371600" cy="1371600"/>
          </a:xfrm>
          <a:prstGeom prst="ellipse">
            <a:avLst/>
          </a:prstGeom>
          <a:solidFill>
            <a:srgbClr val="C2410C"/>
          </a:solidFill>
          <a:ln w="12700">
            <a:solidFill>
              <a:srgbClr val="C2410C"/>
            </a:solidFill>
            <a:prstDash val="solid"/>
          </a:ln>
        </p:spPr>
      </p:sp>
      <p:sp>
        <p:nvSpPr>
          <p:cNvPr id="14" name="Text 12"/>
          <p:cNvSpPr txBox="1"/>
          <p:nvPr/>
        </p:nvSpPr>
        <p:spPr>
          <a:xfrm>
            <a:off x="7315200" y="2560320"/>
            <a:ext cx="1371600" cy="1371600"/>
          </a:xfrm>
          <a:prstGeom prst="rect">
            <a:avLst/>
          </a:prstGeom>
          <a:noFill/>
          <a:ln/>
        </p:spPr>
        <p:txBody>
          <a:bodyPr wrap="square" lIns="0" tIns="0" rIns="0" bIns="0" rtlCol="0" anchor="ctr"/>
          <a:lstStyle/>
          <a:p>
            <a:pPr algn="ctr" indent="0" marL="0">
              <a:buNone/>
            </a:pPr>
            <a:r>
              <a:rPr lang="en-US" sz="4800" dirty="0">
                <a:solidFill>
                  <a:srgbClr val="FFFFFF"/>
                </a:solidFill>
              </a:rPr>
              <a:t>★</a:t>
            </a:r>
            <a:endParaRPr lang="en-US" sz="4800" dirty="0"/>
          </a:p>
        </p:txBody>
      </p:sp>
      <p:sp>
        <p:nvSpPr>
          <p:cNvPr id="15"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All the new facts, nothing lost, no extra training. </a:t>
            </a:r>
            <a:pPr indent="0" marL="0">
              <a:buNone/>
            </a:pPr>
            <a:r>
              <a:rPr lang="en-US" sz="1800" b="1" i="1" dirty="0">
                <a:solidFill>
                  <a:srgbClr val="6B7280"/>
                </a:solidFill>
              </a:rPr>
              <a:t>Train one model per language, then average the weights.</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2 · WHY IT WORKS · WORK IN PROGRESS</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Each language pulls in its own direction. </a:t>
            </a:r>
            <a:pPr algn="l" indent="0" marL="0">
              <a:buNone/>
            </a:pPr>
            <a:r>
              <a:rPr lang="en-US" sz="3200" b="1" i="1" dirty="0">
                <a:solidFill>
                  <a:srgbClr val="6B7280"/>
                </a:solidFill>
              </a:rPr>
              <a:t>Averaging keeps what they share.</a:t>
            </a:r>
            <a:endParaRPr lang="en-US" sz="3200" dirty="0"/>
          </a:p>
        </p:txBody>
      </p:sp>
      <p:sp>
        <p:nvSpPr>
          <p:cNvPr id="4" name="Shape 2"/>
          <p:cNvSpPr/>
          <p:nvPr/>
        </p:nvSpPr>
        <p:spPr>
          <a:xfrm flipV="1">
            <a:off x="1463040" y="4206240"/>
            <a:ext cx="3657600" cy="731520"/>
          </a:xfrm>
          <a:prstGeom prst="line">
            <a:avLst/>
          </a:prstGeom>
          <a:noFill/>
          <a:ln w="50800">
            <a:solidFill>
              <a:srgbClr val="2563EB"/>
            </a:solidFill>
            <a:prstDash val="solid"/>
            <a:tailEnd type="triangle"/>
          </a:ln>
        </p:spPr>
      </p:sp>
      <p:sp>
        <p:nvSpPr>
          <p:cNvPr id="5" name="Shape 3"/>
          <p:cNvSpPr/>
          <p:nvPr/>
        </p:nvSpPr>
        <p:spPr>
          <a:xfrm flipV="1">
            <a:off x="1463040" y="2194560"/>
            <a:ext cx="1188720" cy="2743200"/>
          </a:xfrm>
          <a:prstGeom prst="line">
            <a:avLst/>
          </a:prstGeom>
          <a:noFill/>
          <a:ln w="50800">
            <a:solidFill>
              <a:srgbClr val="D97706"/>
            </a:solidFill>
            <a:prstDash val="solid"/>
            <a:tailEnd type="triangle"/>
          </a:ln>
        </p:spPr>
      </p:sp>
      <p:sp>
        <p:nvSpPr>
          <p:cNvPr id="6" name="Shape 4"/>
          <p:cNvSpPr/>
          <p:nvPr/>
        </p:nvSpPr>
        <p:spPr>
          <a:xfrm flipV="1">
            <a:off x="1463040" y="2286000"/>
            <a:ext cx="3017520" cy="2651760"/>
          </a:xfrm>
          <a:prstGeom prst="line">
            <a:avLst/>
          </a:prstGeom>
          <a:noFill/>
          <a:ln w="50800">
            <a:solidFill>
              <a:srgbClr val="7C3AED"/>
            </a:solidFill>
            <a:prstDash val="solid"/>
            <a:tailEnd type="triangle"/>
          </a:ln>
        </p:spPr>
      </p:sp>
      <p:sp>
        <p:nvSpPr>
          <p:cNvPr id="7" name="Shape 5"/>
          <p:cNvSpPr/>
          <p:nvPr/>
        </p:nvSpPr>
        <p:spPr>
          <a:xfrm flipV="1">
            <a:off x="1463040" y="3657600"/>
            <a:ext cx="2194560" cy="1280160"/>
          </a:xfrm>
          <a:prstGeom prst="line">
            <a:avLst/>
          </a:prstGeom>
          <a:noFill/>
          <a:ln w="88900">
            <a:solidFill>
              <a:srgbClr val="C2410C"/>
            </a:solidFill>
            <a:prstDash val="solid"/>
            <a:tailEnd type="triangle"/>
          </a:ln>
        </p:spPr>
      </p:sp>
      <p:sp>
        <p:nvSpPr>
          <p:cNvPr id="8" name="Shape 6"/>
          <p:cNvSpPr/>
          <p:nvPr/>
        </p:nvSpPr>
        <p:spPr>
          <a:xfrm>
            <a:off x="1325880" y="4800600"/>
            <a:ext cx="274320" cy="274320"/>
          </a:xfrm>
          <a:prstGeom prst="ellipse">
            <a:avLst/>
          </a:prstGeom>
          <a:solidFill>
            <a:srgbClr val="FFFFFF"/>
          </a:solidFill>
          <a:ln w="38100">
            <a:solidFill>
              <a:srgbClr val="111827"/>
            </a:solidFill>
            <a:prstDash val="solid"/>
          </a:ln>
        </p:spPr>
      </p:sp>
      <p:sp>
        <p:nvSpPr>
          <p:cNvPr id="9" name="Text 7"/>
          <p:cNvSpPr txBox="1"/>
          <p:nvPr/>
        </p:nvSpPr>
        <p:spPr>
          <a:xfrm>
            <a:off x="640080" y="5120640"/>
            <a:ext cx="1645920" cy="320040"/>
          </a:xfrm>
          <a:prstGeom prst="rect">
            <a:avLst/>
          </a:prstGeom>
          <a:noFill/>
          <a:ln/>
        </p:spPr>
        <p:txBody>
          <a:bodyPr wrap="square" lIns="0" tIns="0" rIns="0" bIns="0" rtlCol="0" anchor="ctr"/>
          <a:lstStyle/>
          <a:p>
            <a:pPr algn="ctr" indent="0" marL="0">
              <a:buNone/>
            </a:pPr>
            <a:r>
              <a:rPr lang="en-US" sz="1400" b="1" dirty="0">
                <a:solidFill>
                  <a:srgbClr val="111827"/>
                </a:solidFill>
              </a:rPr>
              <a:t>base model</a:t>
            </a:r>
            <a:endParaRPr lang="en-US" sz="1400" dirty="0"/>
          </a:p>
        </p:txBody>
      </p:sp>
      <p:sp>
        <p:nvSpPr>
          <p:cNvPr id="10" name="Text 8"/>
          <p:cNvSpPr txBox="1"/>
          <p:nvPr/>
        </p:nvSpPr>
        <p:spPr>
          <a:xfrm>
            <a:off x="5212080" y="4023360"/>
            <a:ext cx="548640" cy="320040"/>
          </a:xfrm>
          <a:prstGeom prst="rect">
            <a:avLst/>
          </a:prstGeom>
          <a:noFill/>
          <a:ln/>
        </p:spPr>
        <p:txBody>
          <a:bodyPr wrap="square" lIns="0" tIns="0" rIns="0" bIns="0" rtlCol="0" anchor="ctr"/>
          <a:lstStyle/>
          <a:p>
            <a:pPr indent="0" marL="0">
              <a:buNone/>
            </a:pPr>
            <a:r>
              <a:rPr lang="en-US" sz="1600" b="1" dirty="0">
                <a:solidFill>
                  <a:srgbClr val="2563EB"/>
                </a:solidFill>
              </a:rPr>
              <a:t>EN</a:t>
            </a:r>
            <a:endParaRPr lang="en-US" sz="1600" dirty="0"/>
          </a:p>
        </p:txBody>
      </p:sp>
      <p:sp>
        <p:nvSpPr>
          <p:cNvPr id="11" name="Text 9"/>
          <p:cNvSpPr txBox="1"/>
          <p:nvPr/>
        </p:nvSpPr>
        <p:spPr>
          <a:xfrm>
            <a:off x="2377440" y="1874520"/>
            <a:ext cx="548640" cy="320040"/>
          </a:xfrm>
          <a:prstGeom prst="rect">
            <a:avLst/>
          </a:prstGeom>
          <a:noFill/>
          <a:ln/>
        </p:spPr>
        <p:txBody>
          <a:bodyPr wrap="square" lIns="0" tIns="0" rIns="0" bIns="0" rtlCol="0" anchor="ctr"/>
          <a:lstStyle/>
          <a:p>
            <a:pPr indent="0" marL="0">
              <a:buNone/>
            </a:pPr>
            <a:r>
              <a:rPr lang="en-US" sz="1600" b="1" dirty="0">
                <a:solidFill>
                  <a:srgbClr val="D97706"/>
                </a:solidFill>
              </a:rPr>
              <a:t>DE</a:t>
            </a:r>
            <a:endParaRPr lang="en-US" sz="1600" dirty="0"/>
          </a:p>
        </p:txBody>
      </p:sp>
      <p:sp>
        <p:nvSpPr>
          <p:cNvPr id="12" name="Text 10"/>
          <p:cNvSpPr txBox="1"/>
          <p:nvPr/>
        </p:nvSpPr>
        <p:spPr>
          <a:xfrm>
            <a:off x="4526280" y="1965960"/>
            <a:ext cx="548640" cy="320040"/>
          </a:xfrm>
          <a:prstGeom prst="rect">
            <a:avLst/>
          </a:prstGeom>
          <a:noFill/>
          <a:ln/>
        </p:spPr>
        <p:txBody>
          <a:bodyPr wrap="square" lIns="0" tIns="0" rIns="0" bIns="0" rtlCol="0" anchor="ctr"/>
          <a:lstStyle/>
          <a:p>
            <a:pPr indent="0" marL="0">
              <a:buNone/>
            </a:pPr>
            <a:r>
              <a:rPr lang="en-US" sz="1600" b="1" dirty="0">
                <a:solidFill>
                  <a:srgbClr val="7C3AED"/>
                </a:solidFill>
              </a:rPr>
              <a:t>FR</a:t>
            </a:r>
            <a:endParaRPr lang="en-US" sz="1600" dirty="0"/>
          </a:p>
        </p:txBody>
      </p:sp>
      <p:sp>
        <p:nvSpPr>
          <p:cNvPr id="13" name="Text 11"/>
          <p:cNvSpPr txBox="1"/>
          <p:nvPr/>
        </p:nvSpPr>
        <p:spPr>
          <a:xfrm>
            <a:off x="3749040" y="3429000"/>
            <a:ext cx="1463040" cy="320040"/>
          </a:xfrm>
          <a:prstGeom prst="rect">
            <a:avLst/>
          </a:prstGeom>
          <a:noFill/>
          <a:ln/>
        </p:spPr>
        <p:txBody>
          <a:bodyPr wrap="square" lIns="0" tIns="0" rIns="0" bIns="0" rtlCol="0" anchor="ctr"/>
          <a:lstStyle/>
          <a:p>
            <a:pPr indent="0" marL="0">
              <a:buNone/>
            </a:pPr>
            <a:r>
              <a:rPr lang="en-US" sz="1600" b="1" dirty="0">
                <a:solidFill>
                  <a:srgbClr val="C2410C"/>
                </a:solidFill>
              </a:rPr>
              <a:t>average ★</a:t>
            </a:r>
            <a:endParaRPr lang="en-US" sz="1600" dirty="0"/>
          </a:p>
        </p:txBody>
      </p:sp>
      <p:sp>
        <p:nvSpPr>
          <p:cNvPr id="14" name="Text 12"/>
          <p:cNvSpPr txBox="1"/>
          <p:nvPr/>
        </p:nvSpPr>
        <p:spPr>
          <a:xfrm>
            <a:off x="6400800" y="2468880"/>
            <a:ext cx="5120640" cy="548640"/>
          </a:xfrm>
          <a:prstGeom prst="rect">
            <a:avLst/>
          </a:prstGeom>
          <a:noFill/>
          <a:ln/>
        </p:spPr>
        <p:txBody>
          <a:bodyPr wrap="square" lIns="0" tIns="0" rIns="0" bIns="0" rtlCol="0" anchor="ctr"/>
          <a:lstStyle/>
          <a:p>
            <a:pPr indent="0" marL="0">
              <a:buNone/>
            </a:pPr>
            <a:r>
              <a:rPr lang="en-US" sz="2200" b="1" dirty="0">
                <a:solidFill>
                  <a:srgbClr val="111827"/>
                </a:solidFill>
              </a:rPr>
              <a:t>Three updates, three different directions</a:t>
            </a:r>
            <a:endParaRPr lang="en-US" sz="2200" dirty="0"/>
          </a:p>
        </p:txBody>
      </p:sp>
      <p:sp>
        <p:nvSpPr>
          <p:cNvPr id="15" name="Text 13"/>
          <p:cNvSpPr txBox="1"/>
          <p:nvPr/>
        </p:nvSpPr>
        <p:spPr>
          <a:xfrm>
            <a:off x="6400800" y="3017520"/>
            <a:ext cx="5120640" cy="365760"/>
          </a:xfrm>
          <a:prstGeom prst="rect">
            <a:avLst/>
          </a:prstGeom>
          <a:noFill/>
          <a:ln/>
        </p:spPr>
        <p:txBody>
          <a:bodyPr wrap="square" lIns="0" tIns="0" rIns="0" bIns="0" rtlCol="0" anchor="ctr"/>
          <a:lstStyle/>
          <a:p>
            <a:pPr indent="0" marL="0">
              <a:buNone/>
            </a:pPr>
            <a:r>
              <a:rPr lang="en-US" sz="1500" dirty="0">
                <a:solidFill>
                  <a:srgbClr val="6B7280"/>
                </a:solidFill>
              </a:rPr>
              <a:t>averaging keeps what they share, cancels the rest</a:t>
            </a:r>
            <a:endParaRPr lang="en-US" sz="1500" dirty="0"/>
          </a:p>
        </p:txBody>
      </p:sp>
      <p:sp>
        <p:nvSpPr>
          <p:cNvPr id="16" name="Text 14"/>
          <p:cNvSpPr txBox="1"/>
          <p:nvPr/>
        </p:nvSpPr>
        <p:spPr>
          <a:xfrm>
            <a:off x="6400800" y="3931920"/>
            <a:ext cx="5120640" cy="548640"/>
          </a:xfrm>
          <a:prstGeom prst="rect">
            <a:avLst/>
          </a:prstGeom>
          <a:noFill/>
          <a:ln/>
        </p:spPr>
        <p:txBody>
          <a:bodyPr wrap="square" lIns="0" tIns="0" rIns="0" bIns="0" rtlCol="0" anchor="ctr"/>
          <a:lstStyle/>
          <a:p>
            <a:pPr indent="0" marL="0">
              <a:buNone/>
            </a:pPr>
            <a:r>
              <a:rPr lang="en-US" sz="2200" b="1" dirty="0">
                <a:solidFill>
                  <a:srgbClr val="C2410C"/>
                </a:solidFill>
              </a:rPr>
              <a:t>The shared part lives in the MLPs</a:t>
            </a:r>
            <a:endParaRPr lang="en-US" sz="2200" dirty="0"/>
          </a:p>
        </p:txBody>
      </p:sp>
      <p:sp>
        <p:nvSpPr>
          <p:cNvPr id="17" name="Text 15"/>
          <p:cNvSpPr txBox="1"/>
          <p:nvPr/>
        </p:nvSpPr>
        <p:spPr>
          <a:xfrm>
            <a:off x="6400800" y="4480560"/>
            <a:ext cx="5120640" cy="365760"/>
          </a:xfrm>
          <a:prstGeom prst="rect">
            <a:avLst/>
          </a:prstGeom>
          <a:noFill/>
          <a:ln/>
        </p:spPr>
        <p:txBody>
          <a:bodyPr wrap="square" lIns="0" tIns="0" rIns="0" bIns="0" rtlCol="0" anchor="ctr"/>
          <a:lstStyle/>
          <a:p>
            <a:pPr indent="0" marL="0">
              <a:buNone/>
            </a:pPr>
            <a:r>
              <a:rPr lang="en-US" sz="1500" dirty="0">
                <a:solidFill>
                  <a:srgbClr val="6B7280"/>
                </a:solidFill>
              </a:rPr>
              <a:t>the same place steering found in Way 1</a:t>
            </a:r>
            <a:endParaRPr lang="en-US" sz="1500" dirty="0"/>
          </a:p>
        </p:txBody>
      </p:sp>
      <p:sp>
        <p:nvSpPr>
          <p:cNvPr id="18"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New knowledge is a direction. </a:t>
            </a:r>
            <a:pPr indent="0" marL="0">
              <a:buNone/>
            </a:pPr>
            <a:r>
              <a:rPr lang="en-US" sz="1800" b="1" i="1" dirty="0">
                <a:solidFill>
                  <a:srgbClr val="6B7280"/>
                </a:solidFill>
              </a:rPr>
              <a:t>And it lives in the MLPs, the same place Way 1 found.</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WAY 2 · IN ONE PICTURE</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Every update learns. </a:t>
            </a:r>
            <a:pPr algn="l" indent="0" marL="0">
              <a:buNone/>
            </a:pPr>
            <a:r>
              <a:rPr lang="en-US" sz="3200" b="1" i="1" dirty="0">
                <a:solidFill>
                  <a:srgbClr val="6B7280"/>
                </a:solidFill>
              </a:rPr>
              <a:t>Only the average learns without losing.</a:t>
            </a:r>
            <a:endParaRPr lang="en-US" sz="3200" dirty="0"/>
          </a:p>
        </p:txBody>
      </p:sp>
      <p:pic>
        <p:nvPicPr>
          <p:cNvPr id="4" name="Image 0" descr="/tmp/claude-0/-home-user-Claude-expo-repo-36501/d3d88de1-f67d-5aa6-8097-3ece5ccf8bcb/scratchpad/build/summary_part2.png">    </p:cNvPr>
          <p:cNvPicPr>
            <a:picLocks noChangeAspect="1"/>
          </p:cNvPicPr>
          <p:nvPr/>
        </p:nvPicPr>
        <p:blipFill>
          <a:blip r:embed="rId1"/>
          <a:stretch>
            <a:fillRect/>
          </a:stretch>
        </p:blipFill>
        <p:spPr>
          <a:xfrm>
            <a:off x="2331720" y="1965960"/>
            <a:ext cx="7498080" cy="3994831"/>
          </a:xfrm>
          <a:prstGeom prst="rect">
            <a:avLst/>
          </a:prstGeom>
        </p:spPr>
      </p:pic>
      <p:sp>
        <p:nvSpPr>
          <p:cNvPr id="5"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r>
              <a:rPr lang="en-US" sz="1800" b="1" dirty="0">
                <a:solidFill>
                  <a:schemeClr val="tx1"/>
                </a:solidFill>
              </a:rPr>
              <a:t>Right = more new facts. Up = nothing forgotten. </a:t>
            </a:r>
            <a:pPr indent="0" marL="0">
              <a:buNone/>
            </a:pPr>
            <a:r>
              <a:rPr lang="en-US" sz="1800" b="1" i="1" dirty="0">
                <a:solidFill>
                  <a:srgbClr val="6B7280"/>
                </a:solidFill>
              </a:rPr>
              <a:t>Top right is where we want to be.</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10908792" cy="320040"/>
          </a:xfrm>
          <a:prstGeom prst="rect">
            <a:avLst/>
          </a:prstGeom>
          <a:noFill/>
          <a:ln/>
        </p:spPr>
        <p:txBody>
          <a:bodyPr wrap="square" lIns="0" tIns="0" rIns="0" bIns="0" rtlCol="0"/>
          <a:lstStyle/>
          <a:p>
            <a:pPr indent="0" marL="0">
              <a:buNone/>
            </a:pPr>
            <a:r>
              <a:rPr lang="en-US" sz="1200" b="1" spc="300" kern="0" dirty="0">
                <a:solidFill>
                  <a:schemeClr val="accent1"/>
                </a:solidFill>
              </a:rPr>
              <a:t>THE ANSWERS</a:t>
            </a:r>
            <a:endParaRPr lang="en-US" sz="1200" dirty="0"/>
          </a:p>
        </p:txBody>
      </p:sp>
      <p:sp>
        <p:nvSpPr>
          <p:cNvPr id="3" name="Text 0"/>
          <p:cNvSpPr/>
          <p:nvPr>
            <p:ph idx="101" type="title" hasCustomPrompt="1"/>
          </p:nvPr>
        </p:nvSpPr>
        <p:spPr>
          <a:xfrm>
            <a:off x="640080" y="731520"/>
            <a:ext cx="10908792" cy="1097280"/>
          </a:xfrm>
          <a:prstGeom prst="rect">
            <a:avLst/>
          </a:prstGeom>
          <a:noFill/>
          <a:ln/>
        </p:spPr>
        <p:txBody>
          <a:bodyPr wrap="square" lIns="0" tIns="0" rIns="0" bIns="0" rtlCol="0" anchor="t"/>
          <a:lstStyle/>
          <a:p>
            <a:pPr algn="l" indent="0" marL="0">
              <a:buNone/>
            </a:pPr>
            <a:r>
              <a:rPr lang="en-US" sz="3200" b="1" dirty="0">
                <a:solidFill>
                  <a:schemeClr val="tx1"/>
                </a:solidFill>
              </a:rPr>
              <a:t>Retrain or teach? </a:t>
            </a:r>
            <a:pPr algn="l" indent="0" marL="0">
              <a:buNone/>
            </a:pPr>
            <a:r>
              <a:rPr lang="en-US" sz="3200" b="1" i="1" dirty="0">
                <a:solidFill>
                  <a:srgbClr val="6B7280"/>
                </a:solidFill>
              </a:rPr>
              <a:t>Teach.</a:t>
            </a:r>
            <a:endParaRPr lang="en-US" sz="3200" dirty="0"/>
          </a:p>
        </p:txBody>
      </p:sp>
      <p:sp>
        <p:nvSpPr>
          <p:cNvPr id="4" name="Shape 2"/>
          <p:cNvSpPr/>
          <p:nvPr/>
        </p:nvSpPr>
        <p:spPr>
          <a:xfrm>
            <a:off x="640080" y="2148840"/>
            <a:ext cx="3474720" cy="2651760"/>
          </a:xfrm>
          <a:prstGeom prst="roundRect">
            <a:avLst>
              <a:gd name="adj" fmla="val 4138"/>
            </a:avLst>
          </a:prstGeom>
          <a:solidFill>
            <a:srgbClr val="F9FAFB"/>
          </a:solidFill>
          <a:ln w="12700">
            <a:solidFill>
              <a:srgbClr val="E5E7EB"/>
            </a:solidFill>
            <a:prstDash val="solid"/>
          </a:ln>
        </p:spPr>
      </p:sp>
      <p:sp>
        <p:nvSpPr>
          <p:cNvPr id="5" name="Text 3"/>
          <p:cNvSpPr txBox="1"/>
          <p:nvPr/>
        </p:nvSpPr>
        <p:spPr>
          <a:xfrm>
            <a:off x="868680" y="2286000"/>
            <a:ext cx="3017520" cy="274320"/>
          </a:xfrm>
          <a:prstGeom prst="rect">
            <a:avLst/>
          </a:prstGeom>
          <a:noFill/>
          <a:ln/>
        </p:spPr>
        <p:txBody>
          <a:bodyPr wrap="square" lIns="0" tIns="0" rIns="0" bIns="0" rtlCol="0" anchor="ctr"/>
          <a:lstStyle/>
          <a:p>
            <a:pPr indent="0" marL="0">
              <a:buNone/>
            </a:pPr>
            <a:r>
              <a:rPr lang="en-US" sz="1050" b="1" spc="200" kern="0" dirty="0">
                <a:solidFill>
                  <a:srgbClr val="6B7280"/>
                </a:solidFill>
              </a:rPr>
              <a:t>WAY 1 · IT ALREADY KNOWS IT</a:t>
            </a:r>
            <a:endParaRPr lang="en-US" sz="1050" dirty="0"/>
          </a:p>
        </p:txBody>
      </p:sp>
      <p:sp>
        <p:nvSpPr>
          <p:cNvPr id="6" name="Text 4"/>
          <p:cNvSpPr txBox="1"/>
          <p:nvPr/>
        </p:nvSpPr>
        <p:spPr>
          <a:xfrm>
            <a:off x="868680" y="2606040"/>
            <a:ext cx="3017520" cy="1005840"/>
          </a:xfrm>
          <a:prstGeom prst="rect">
            <a:avLst/>
          </a:prstGeom>
          <a:noFill/>
          <a:ln/>
        </p:spPr>
        <p:txBody>
          <a:bodyPr wrap="square" lIns="0" tIns="0" rIns="0" bIns="0" rtlCol="0" anchor="t"/>
          <a:lstStyle/>
          <a:p>
            <a:pPr indent="0" marL="0">
              <a:buNone/>
            </a:pPr>
            <a:r>
              <a:rPr lang="en-US" sz="2400" b="1" dirty="0">
                <a:solidFill>
                  <a:srgbClr val="C2410C"/>
                </a:solidFill>
                <a:latin typeface="Cambria" pitchFamily="34" charset="0"/>
                <a:ea typeface="Cambria" pitchFamily="34" charset="-122"/>
                <a:cs typeface="Cambria" pitchFamily="34" charset="-120"/>
              </a:rPr>
              <a:t>Steer it.</a:t>
            </a:r>
            <a:endParaRPr lang="en-US" sz="2400" dirty="0"/>
          </a:p>
        </p:txBody>
      </p:sp>
      <p:sp>
        <p:nvSpPr>
          <p:cNvPr id="7" name="Text 5"/>
          <p:cNvSpPr txBox="1"/>
          <p:nvPr/>
        </p:nvSpPr>
        <p:spPr>
          <a:xfrm>
            <a:off x="868680" y="3611880"/>
            <a:ext cx="3017520" cy="1097280"/>
          </a:xfrm>
          <a:prstGeom prst="rect">
            <a:avLst/>
          </a:prstGeom>
          <a:noFill/>
          <a:ln/>
        </p:spPr>
        <p:txBody>
          <a:bodyPr wrap="square" lIns="0" tIns="0" rIns="0" bIns="0" rtlCol="0" anchor="t"/>
          <a:lstStyle/>
          <a:p>
            <a:pPr indent="0" marL="0">
              <a:buNone/>
            </a:pPr>
            <a:r>
              <a:rPr lang="en-US" sz="1350" dirty="0">
                <a:solidFill>
                  <a:srgbClr val="374151"/>
                </a:solidFill>
              </a:rPr>
              <a:t>Point at the knowledge and nudge. No training, nothing forgotten.</a:t>
            </a:r>
            <a:endParaRPr lang="en-US" sz="1350" dirty="0"/>
          </a:p>
        </p:txBody>
      </p:sp>
      <p:sp>
        <p:nvSpPr>
          <p:cNvPr id="8" name="Shape 6"/>
          <p:cNvSpPr/>
          <p:nvPr/>
        </p:nvSpPr>
        <p:spPr>
          <a:xfrm>
            <a:off x="4361688" y="2148840"/>
            <a:ext cx="3474720" cy="2651760"/>
          </a:xfrm>
          <a:prstGeom prst="roundRect">
            <a:avLst>
              <a:gd name="adj" fmla="val 4138"/>
            </a:avLst>
          </a:prstGeom>
          <a:solidFill>
            <a:srgbClr val="F9FAFB"/>
          </a:solidFill>
          <a:ln w="12700">
            <a:solidFill>
              <a:srgbClr val="E5E7EB"/>
            </a:solidFill>
            <a:prstDash val="solid"/>
          </a:ln>
        </p:spPr>
      </p:sp>
      <p:sp>
        <p:nvSpPr>
          <p:cNvPr id="9" name="Text 7"/>
          <p:cNvSpPr txBox="1"/>
          <p:nvPr/>
        </p:nvSpPr>
        <p:spPr>
          <a:xfrm>
            <a:off x="4590288" y="2286000"/>
            <a:ext cx="3017520" cy="274320"/>
          </a:xfrm>
          <a:prstGeom prst="rect">
            <a:avLst/>
          </a:prstGeom>
          <a:noFill/>
          <a:ln/>
        </p:spPr>
        <p:txBody>
          <a:bodyPr wrap="square" lIns="0" tIns="0" rIns="0" bIns="0" rtlCol="0" anchor="ctr"/>
          <a:lstStyle/>
          <a:p>
            <a:pPr indent="0" marL="0">
              <a:buNone/>
            </a:pPr>
            <a:r>
              <a:rPr lang="en-US" sz="1050" b="1" spc="200" kern="0" dirty="0">
                <a:solidFill>
                  <a:srgbClr val="6B7280"/>
                </a:solidFill>
              </a:rPr>
              <a:t>WAY 2 · IT NEVER READ IT</a:t>
            </a:r>
            <a:endParaRPr lang="en-US" sz="1050" dirty="0"/>
          </a:p>
        </p:txBody>
      </p:sp>
      <p:sp>
        <p:nvSpPr>
          <p:cNvPr id="10" name="Text 8"/>
          <p:cNvSpPr txBox="1"/>
          <p:nvPr/>
        </p:nvSpPr>
        <p:spPr>
          <a:xfrm>
            <a:off x="4590288" y="2606040"/>
            <a:ext cx="3017520" cy="1005840"/>
          </a:xfrm>
          <a:prstGeom prst="rect">
            <a:avLst/>
          </a:prstGeom>
          <a:noFill/>
          <a:ln/>
        </p:spPr>
        <p:txBody>
          <a:bodyPr wrap="square" lIns="0" tIns="0" rIns="0" bIns="0" rtlCol="0" anchor="t"/>
          <a:lstStyle/>
          <a:p>
            <a:pPr indent="0" marL="0">
              <a:buNone/>
            </a:pPr>
            <a:r>
              <a:rPr lang="en-US" sz="2400" b="1" dirty="0">
                <a:solidFill>
                  <a:srgbClr val="C2410C"/>
                </a:solidFill>
                <a:latin typeface="Cambria" pitchFamily="34" charset="0"/>
                <a:ea typeface="Cambria" pitchFamily="34" charset="-122"/>
                <a:cs typeface="Cambria" pitchFamily="34" charset="-120"/>
              </a:rPr>
              <a:t>Let it read, then average.</a:t>
            </a:r>
            <a:endParaRPr lang="en-US" sz="2400" dirty="0"/>
          </a:p>
        </p:txBody>
      </p:sp>
      <p:sp>
        <p:nvSpPr>
          <p:cNvPr id="11" name="Text 9"/>
          <p:cNvSpPr txBox="1"/>
          <p:nvPr/>
        </p:nvSpPr>
        <p:spPr>
          <a:xfrm>
            <a:off x="4590288" y="3611880"/>
            <a:ext cx="3017520" cy="1097280"/>
          </a:xfrm>
          <a:prstGeom prst="rect">
            <a:avLst/>
          </a:prstGeom>
          <a:noFill/>
          <a:ln/>
        </p:spPr>
        <p:txBody>
          <a:bodyPr wrap="square" lIns="0" tIns="0" rIns="0" bIns="0" rtlCol="0" anchor="t"/>
          <a:lstStyle/>
          <a:p>
            <a:pPr indent="0" marL="0">
              <a:buNone/>
            </a:pPr>
            <a:r>
              <a:rPr lang="en-US" sz="1350" dirty="0">
                <a:solidFill>
                  <a:srgbClr val="374151"/>
                </a:solidFill>
              </a:rPr>
              <a:t>Hand it the newspaper per language, then average. The facts without the price.</a:t>
            </a:r>
            <a:endParaRPr lang="en-US" sz="1350" dirty="0"/>
          </a:p>
        </p:txBody>
      </p:sp>
      <p:sp>
        <p:nvSpPr>
          <p:cNvPr id="12" name="Shape 10"/>
          <p:cNvSpPr/>
          <p:nvPr/>
        </p:nvSpPr>
        <p:spPr>
          <a:xfrm>
            <a:off x="8074152" y="2148840"/>
            <a:ext cx="3474720" cy="2651760"/>
          </a:xfrm>
          <a:prstGeom prst="roundRect">
            <a:avLst>
              <a:gd name="adj" fmla="val 4138"/>
            </a:avLst>
          </a:prstGeom>
          <a:solidFill>
            <a:srgbClr val="F9FAFB"/>
          </a:solidFill>
          <a:ln w="12700">
            <a:solidFill>
              <a:srgbClr val="E5E7EB"/>
            </a:solidFill>
            <a:prstDash val="solid"/>
          </a:ln>
        </p:spPr>
      </p:sp>
      <p:sp>
        <p:nvSpPr>
          <p:cNvPr id="13" name="Text 11"/>
          <p:cNvSpPr txBox="1"/>
          <p:nvPr/>
        </p:nvSpPr>
        <p:spPr>
          <a:xfrm>
            <a:off x="8302752" y="2286000"/>
            <a:ext cx="3017520" cy="274320"/>
          </a:xfrm>
          <a:prstGeom prst="rect">
            <a:avLst/>
          </a:prstGeom>
          <a:noFill/>
          <a:ln/>
        </p:spPr>
        <p:txBody>
          <a:bodyPr wrap="square" lIns="0" tIns="0" rIns="0" bIns="0" rtlCol="0" anchor="ctr"/>
          <a:lstStyle/>
          <a:p>
            <a:pPr indent="0" marL="0">
              <a:buNone/>
            </a:pPr>
            <a:r>
              <a:rPr lang="en-US" sz="1050" b="1" spc="200" kern="0" dirty="0">
                <a:solidFill>
                  <a:srgbClr val="6B7280"/>
                </a:solidFill>
              </a:rPr>
              <a:t>DOES THE LANGUAGE MATTER?</a:t>
            </a:r>
            <a:endParaRPr lang="en-US" sz="1050" dirty="0"/>
          </a:p>
        </p:txBody>
      </p:sp>
      <p:sp>
        <p:nvSpPr>
          <p:cNvPr id="14" name="Text 12"/>
          <p:cNvSpPr txBox="1"/>
          <p:nvPr/>
        </p:nvSpPr>
        <p:spPr>
          <a:xfrm>
            <a:off x="8302752" y="2606040"/>
            <a:ext cx="3017520" cy="1005840"/>
          </a:xfrm>
          <a:prstGeom prst="rect">
            <a:avLst/>
          </a:prstGeom>
          <a:noFill/>
          <a:ln/>
        </p:spPr>
        <p:txBody>
          <a:bodyPr wrap="square" lIns="0" tIns="0" rIns="0" bIns="0" rtlCol="0" anchor="t"/>
          <a:lstStyle/>
          <a:p>
            <a:pPr indent="0" marL="0">
              <a:buNone/>
            </a:pPr>
            <a:r>
              <a:rPr lang="en-US" sz="2400" b="1" dirty="0">
                <a:solidFill>
                  <a:srgbClr val="C2410C"/>
                </a:solidFill>
                <a:latin typeface="Cambria" pitchFamily="34" charset="0"/>
                <a:ea typeface="Cambria" pitchFamily="34" charset="-122"/>
                <a:cs typeface="Cambria" pitchFamily="34" charset="-120"/>
              </a:rPr>
              <a:t>Less than you'd think.</a:t>
            </a:r>
            <a:endParaRPr lang="en-US" sz="2400" dirty="0"/>
          </a:p>
        </p:txBody>
      </p:sp>
      <p:sp>
        <p:nvSpPr>
          <p:cNvPr id="15" name="Text 13"/>
          <p:cNvSpPr txBox="1"/>
          <p:nvPr/>
        </p:nvSpPr>
        <p:spPr>
          <a:xfrm>
            <a:off x="8302752" y="3611880"/>
            <a:ext cx="3017520" cy="1097280"/>
          </a:xfrm>
          <a:prstGeom prst="rect">
            <a:avLst/>
          </a:prstGeom>
          <a:noFill/>
          <a:ln/>
        </p:spPr>
        <p:txBody>
          <a:bodyPr wrap="square" lIns="0" tIns="0" rIns="0" bIns="0" rtlCol="0" anchor="t"/>
          <a:lstStyle/>
          <a:p>
            <a:pPr indent="0" marL="0">
              <a:buNone/>
            </a:pPr>
            <a:r>
              <a:rPr lang="en-US" sz="1350" dirty="0">
                <a:solidFill>
                  <a:srgbClr val="374151"/>
                </a:solidFill>
              </a:rPr>
              <a:t>Facts cross languages. Costs hide in the others. Test in all of them.</a:t>
            </a:r>
            <a:endParaRPr lang="en-US" sz="1350" dirty="0"/>
          </a:p>
        </p:txBody>
      </p:sp>
      <p:sp>
        <p:nvSpPr>
          <p:cNvPr id="16" name="Text 14"/>
          <p:cNvSpPr txBox="1"/>
          <p:nvPr/>
        </p:nvSpPr>
        <p:spPr>
          <a:xfrm>
            <a:off x="640080" y="4937760"/>
            <a:ext cx="10908792" cy="457200"/>
          </a:xfrm>
          <a:prstGeom prst="rect">
            <a:avLst/>
          </a:prstGeom>
          <a:noFill/>
          <a:ln/>
        </p:spPr>
        <p:txBody>
          <a:bodyPr wrap="square" lIns="0" tIns="0" rIns="0" bIns="0" rtlCol="0" anchor="ctr"/>
          <a:lstStyle/>
          <a:p>
            <a:pPr algn="ctr" indent="0" marL="0">
              <a:buNone/>
            </a:pPr>
            <a:r>
              <a:rPr lang="en-US" sz="1700" b="1" dirty="0">
                <a:solidFill>
                  <a:srgbClr val="111827"/>
                </a:solidFill>
              </a:rPr>
              <a:t>If new knowledge is a direction we can add, average and steer: </a:t>
            </a:r>
            <a:pPr algn="ctr" indent="0" marL="0">
              <a:buNone/>
            </a:pPr>
            <a:r>
              <a:rPr lang="en-US" sz="1700" i="1" dirty="0">
                <a:solidFill>
                  <a:srgbClr val="6B7280"/>
                </a:solidFill>
              </a:rPr>
              <a:t>do we ever need to retrain from scratch?</a:t>
            </a:r>
            <a:endParaRPr lang="en-US" sz="1700" dirty="0"/>
          </a:p>
        </p:txBody>
      </p:sp>
      <p:sp>
        <p:nvSpPr>
          <p:cNvPr id="17" name="Shape 15"/>
          <p:cNvSpPr/>
          <p:nvPr/>
        </p:nvSpPr>
        <p:spPr>
          <a:xfrm>
            <a:off x="640080" y="5577840"/>
            <a:ext cx="10908792" cy="0"/>
          </a:xfrm>
          <a:prstGeom prst="line">
            <a:avLst/>
          </a:prstGeom>
          <a:noFill/>
          <a:ln w="12700">
            <a:solidFill>
              <a:srgbClr val="E5E7EB"/>
            </a:solidFill>
            <a:prstDash val="solid"/>
          </a:ln>
        </p:spPr>
      </p:sp>
      <p:sp>
        <p:nvSpPr>
          <p:cNvPr id="18" name="Text 16"/>
          <p:cNvSpPr txBox="1"/>
          <p:nvPr/>
        </p:nvSpPr>
        <p:spPr>
          <a:xfrm>
            <a:off x="640080" y="5715000"/>
            <a:ext cx="5486400" cy="457200"/>
          </a:xfrm>
          <a:prstGeom prst="rect">
            <a:avLst/>
          </a:prstGeom>
          <a:noFill/>
          <a:ln/>
        </p:spPr>
        <p:txBody>
          <a:bodyPr wrap="square" lIns="0" tIns="0" rIns="0" bIns="0" rtlCol="0" anchor="ctr"/>
          <a:lstStyle/>
          <a:p>
            <a:pPr indent="0" marL="0">
              <a:buNone/>
            </a:pPr>
            <a:r>
              <a:rPr lang="en-US" sz="1800" b="1" dirty="0">
                <a:solidFill>
                  <a:srgbClr val="111827"/>
                </a:solidFill>
              </a:rPr>
              <a:t>Thank you </a:t>
            </a:r>
            <a:pPr indent="0" marL="0">
              <a:buNone/>
            </a:pPr>
            <a:r>
              <a:rPr lang="en-US" sz="1800" i="1" dirty="0">
                <a:solidFill>
                  <a:srgbClr val="6B7280"/>
                </a:solidFill>
              </a:rPr>
              <a:t>for your attention.</a:t>
            </a:r>
            <a:endParaRPr lang="en-US" sz="1800" dirty="0"/>
          </a:p>
        </p:txBody>
      </p:sp>
      <p:sp>
        <p:nvSpPr>
          <p:cNvPr id="19" name="Text 17"/>
          <p:cNvSpPr txBox="1"/>
          <p:nvPr/>
        </p:nvSpPr>
        <p:spPr>
          <a:xfrm>
            <a:off x="6400800" y="5669280"/>
            <a:ext cx="5148072" cy="548640"/>
          </a:xfrm>
          <a:prstGeom prst="rect">
            <a:avLst/>
          </a:prstGeom>
          <a:noFill/>
          <a:ln/>
        </p:spPr>
        <p:txBody>
          <a:bodyPr wrap="square" lIns="0" tIns="0" rIns="0" bIns="0" rtlCol="0" anchor="ctr"/>
          <a:lstStyle/>
          <a:p>
            <a:pPr algn="r" indent="0" marL="0">
              <a:buNone/>
            </a:pPr>
            <a:r>
              <a:rPr lang="en-US" sz="1150" dirty="0">
                <a:solidFill>
                  <a:srgbClr val="6B7280"/>
                </a:solidFill>
              </a:rPr>
              <a:t>Nitin Sharma · MHM Lab</a:t>
            </a:r>
            <a:endParaRPr lang="en-US" sz="1150" dirty="0"/>
          </a:p>
          <a:p>
            <a:pPr algn="r" indent="0" marL="0">
              <a:buNone/>
            </a:pPr>
            <a:r>
              <a:rPr lang="en-US" sz="1150" dirty="0">
                <a:solidFill>
                  <a:srgbClr val="6B7280"/>
                </a:solidFill>
              </a:rPr>
              <a:t>nitinsharma3150@gmail.com</a:t>
            </a:r>
            <a:endParaRPr lang="en-US" sz="1150" dirty="0"/>
          </a:p>
        </p:txBody>
      </p:sp>
      <p:sp>
        <p:nvSpPr>
          <p:cNvPr id="21" name="Text 0"/>
          <p:cNvSpPr/>
          <p:nvPr>
            <p:ph idx="102" type="body" hasCustomPrompt="1"/>
          </p:nvPr>
        </p:nvSpPr>
        <p:spPr>
          <a:xfrm>
            <a:off x="640080" y="5989320"/>
            <a:ext cx="10908792" cy="548640"/>
          </a:xfrm>
          <a:prstGeom prst="rect">
            <a:avLst/>
          </a:prstGeom>
          <a:noFill/>
          <a:ln/>
        </p:spPr>
        <p:txBody>
          <a:bodyPr wrap="square" lIns="0" tIns="0" rIns="0" bIns="0" rtlCol="0" anchor="ctr"/>
          <a:lstStyle/>
          <a:p>
            <a:pPr indent="0" marL="0">
              <a:buNone/>
            </a:pP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CA3AF"/>
                </a:solidFill>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Retrain or teach">
  <a:themeElements>
    <a:clrScheme name="Retrain or teach">
      <a:dk1>
        <a:srgbClr val="111827"/>
      </a:dk1>
      <a:lt1>
        <a:srgbClr val="FFFFFF"/>
      </a:lt1>
      <a:dk2>
        <a:srgbClr val="374151"/>
      </a:dk2>
      <a:lt2>
        <a:srgbClr val="F9FAFB"/>
      </a:lt2>
      <a:accent1>
        <a:srgbClr val="C2410C"/>
      </a:accent1>
      <a:accent2>
        <a:srgbClr val="2563EB"/>
      </a:accent2>
      <a:accent3>
        <a:srgbClr val="D97706"/>
      </a:accent3>
      <a:accent4>
        <a:srgbClr val="7C3AED"/>
      </a:accent4>
      <a:accent5>
        <a:srgbClr val="9CA3AF"/>
      </a:accent5>
      <a:accent6>
        <a:srgbClr val="166534"/>
      </a:accent6>
      <a:hlink>
        <a:srgbClr val="2563EB"/>
      </a:hlink>
      <a:folHlink>
        <a:srgbClr val="7C3AED"/>
      </a:folHlink>
    </a:clrScheme>
    <a:fontScheme name="Retrain or teac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Retrain or teach? How AI learns after it's built. Does the language matter?</dc:title>
  <dc:subject>PptxGenJS Presentation</dc:subject>
  <dc:creator>Nitin Sharma</dc:creator>
  <cp:lastModifiedBy>Nitin Sharma</cp:lastModifiedBy>
  <cp:revision>1</cp:revision>
  <dcterms:created xsi:type="dcterms:W3CDTF">2026-10-22T19:36:04Z</dcterms:created>
  <dcterms:modified xsi:type="dcterms:W3CDTF">2026-10-22T19:36:04Z</dcterms:modified>
</cp:coreProperties>
</file>