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It already knows more than it says" id="{e80d6549-61f7-4b41-be94-c88098532136}">
          <p14:sldIdLst>
            <p14:sldId id="256"/>
            <p14:sldId id="257"/>
            <p14:sldId id="258"/>
            <p14:sldId id="259"/>
          </p14:sldIdLst>
        </p14:section>
        <p14:section name="Part 2: It needs knowledge it never had" id="{b880f0b8-97d7-53b9-ca19-3ce921404b00}">
          <p14:sldIdLst>
            <p14:sldId id="260"/>
            <p14:sldId id="261"/>
            <p14:sldId id="262"/>
            <p14:sldId id="263"/>
            <p14:sldId id="264"/>
          </p14:sldIdLst>
        </p14:section>
        <p14:section name="Train separately, average, and why it works" id="{164f90f1-dfaa-cdb7-7946-0c3624ab7ab6}">
          <p14:sldIdLst>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situations today. Part one: the model already has the knowledge, it just doesn't say it, and we can fix that without any training. Part two: the model needs knowledge it never had, this year's news, and then we do have to train. The question is how, and whether it matters which language we train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well a model answers a fact depends on how often it has seen it. The curve rises steeply with repetition, but even a fact seen once leaves a small, real trace. For rare facts the information is in there, weakly, and it gets drowned out by higher-level computation on the way to the output. If the knowledge is already there, we don't need training. We need to help it out. (Bar heights sketch the log-linear trend; exact numbers in the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inside one layer, each dot is a sentence, and medical sentences sit in their own cluster. Compute the direction from everything-else to medical, once. At inference, add that vector to the activations at one layer. One addition per forward pass, no training, nothing forgotten.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you add the vector matters. Nudging the MLP layers improves factual recall by 45%, more than double the residual stream where everyone usually steers. It flips for behaviour: for tone, attention wins. So facts live in the MLPs. But steering can only surface what the model has already read. It cannot tell the model who won an election last year. For that, part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the knowledge genuinely isn't in there: everything after the cutoff. Retraining from scratch is trillions of tokens and millions of dollars. The alternative is continued pretraining on about six billion tokens of fresh news. In NewsCPT, news beat random web text by two to four times on every model and quiz. So it works. What happens inside when we do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model, no chain-of-thought. It reads the news in English only. I ask about the same event in German or French. Does it keep the answer? We updated models on English, German or French news, then asked the exact same facts, about fifteen thousand, translated, in all three languages. Who thinks it transfers?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mostly. About 70% of the accuracy gain survives when you ask in another language, between 57 and 88% depending on direction. French to English travels better than English to French.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mentioned a few times gain about two points; facts mentioned 200 or more times gain 10 to 14 points in the training language and 8 to 11 in the others. Each model learns its own newspaper's events best: what it read matters about twice as much as which language you ask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facts from before 2023: kept, slightly up. General skills on twenty tests in three languages: they slip. French-only loses 1.2, German 1.3, English 0.5. Test the French model only in French and it looks fine. Catastrophic forgetting in a new disguise, and the multilingual lens makes it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fix: mix all three newspapers. A balanced mix learns more facts than any single language, plus 5 points, and loses only 0.3. But can we do better, without training anything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three single-language models and average their weights: add the numbers, divide by three. No training. Model soups, Wortsman et al. 2022. As many new facts as the mixture, plus 5.1, and zero skill loss. It beats every single-language model on both axes. Language-specific updates can be trained separately and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Preliminary. Each language update moves the model in a different direction; similarity only about 0.15. Averaging cancels most of each language-specific part and keeps what all three share: about 65% as far from base as a single update. Keep only the MLP changes and 92 to 100% of the new facts survive, the same place steering found. Running now: is averaging a shorter, safer step or a better direction? And can we walk further along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in one picture. Right means more new facts learned; up means general skills kept. Each single-language update learns but forgets. The mixture learns the most and forgets less. The average of the three single-language models, no extra training, sits top right: as many facts as the mixture and nothing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Retrain or teach? Teach. Does the language matter? Less than you'd think. The question I'm chasing: if new knowledge is a direction we can add, average, and steer, do we ever need to retrain a model from scratch?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ph idx="102" type="body" hasCustomPrompt="1"/>
          </p:nvPr>
        </p:nvSpPr>
        <p:spPr>
          <a:xfrm>
            <a:off x="640080" y="5989320"/>
            <a:ext cx="10908792" cy="548640"/>
          </a:xfrm>
          <a:prstGeom prst="rect">
            <a:avLst/>
          </a:prstGeom>
          <a:noFill/>
          <a:ln/>
        </p:spPr>
        <p:txBody>
          <a:bodyPr wrap="square" rtlCol="0"/>
          <a:lstStyle>
            <a:lvl1pPr indent="0" marL="0">
              <a:buNone/>
              <a:defRPr lang="en-US" sz="1800" b="1" dirty="0">
                <a:solidFill>
                  <a:schemeClr val="tx1"/>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463040"/>
            <a:ext cx="10908792"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640080" y="1828800"/>
            <a:ext cx="10908792" cy="1463040"/>
          </a:xfrm>
          <a:prstGeom prst="rect">
            <a:avLst/>
          </a:prstGeom>
          <a:noFill/>
          <a:ln/>
        </p:spPr>
        <p:txBody>
          <a:bodyPr wrap="square" rtlCol="0"/>
          <a:lstStyle>
            <a:lvl1pPr algn="l" indent="0" marL="0">
              <a:buNone/>
              <a:defRPr lang="en-US" sz="6600" b="1" dirty="0">
                <a:solidFill>
                  <a:schemeClr val="tx1"/>
                </a:solidFill>
              </a:defRPr>
            </a:lvl1pPr>
          </a:lstStyle>
          <a:p>
            <a:pPr algn="l" indent="0" marL="0">
              <a:buNone/>
            </a:pPr>
            <a:endParaRPr lang="en-US" sz="6600" dirty="0"/>
          </a:p>
        </p:txBody>
      </p:sp>
      <p:sp>
        <p:nvSpPr>
          <p:cNvPr id="4" name="Text 0"/>
          <p:cNvSpPr/>
          <p:nvPr>
            <p:ph idx="102" type="body" hasCustomPrompt="1"/>
          </p:nvPr>
        </p:nvSpPr>
        <p:spPr>
          <a:xfrm>
            <a:off x="640080" y="3383280"/>
            <a:ext cx="10908792" cy="914400"/>
          </a:xfrm>
          <a:prstGeom prst="rect">
            <a:avLst/>
          </a:prstGeom>
          <a:noFill/>
          <a:ln/>
        </p:spPr>
        <p:txBody>
          <a:bodyPr wrap="square" rtlCol="0"/>
          <a:lstStyle>
            <a:lvl1pPr indent="0" marL="0">
              <a:buNone/>
              <a:defRPr lang="en-US" sz="2800" dirty="0">
                <a:solidFill>
                  <a:schemeClr val="tx2"/>
                </a:solidFill>
              </a:defRPr>
            </a:lvl1pPr>
          </a:lstStyle>
          <a:p>
            <a:pPr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46304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LAB MEETING</a:t>
            </a:r>
            <a:endParaRPr lang="en-US" sz="1200" dirty="0"/>
          </a:p>
        </p:txBody>
      </p:sp>
      <p:sp>
        <p:nvSpPr>
          <p:cNvPr id="3" name="Text 0"/>
          <p:cNvSpPr/>
          <p:nvPr>
            <p:ph idx="101" type="title" hasCustomPrompt="1"/>
          </p:nvPr>
        </p:nvSpPr>
        <p:spPr>
          <a:xfrm>
            <a:off x="640080" y="1828800"/>
            <a:ext cx="10908792" cy="1463040"/>
          </a:xfrm>
          <a:prstGeom prst="rect">
            <a:avLst/>
          </a:prstGeom>
          <a:noFill/>
          <a:ln/>
        </p:spPr>
        <p:txBody>
          <a:bodyPr wrap="square" lIns="0" tIns="0" rIns="0" bIns="0" rtlCol="0" anchor="t"/>
          <a:lstStyle/>
          <a:p>
            <a:pPr algn="l" indent="0" marL="0">
              <a:buNone/>
            </a:pPr>
            <a:r>
              <a:rPr lang="en-US" sz="6600" b="1" dirty="0">
                <a:solidFill>
                  <a:schemeClr val="tx1"/>
                </a:solidFill>
              </a:rPr>
              <a:t>Retrain or teach?</a:t>
            </a:r>
            <a:endParaRPr lang="en-US" sz="6600" dirty="0"/>
          </a:p>
        </p:txBody>
      </p:sp>
      <p:sp>
        <p:nvSpPr>
          <p:cNvPr id="4" name="Text 0"/>
          <p:cNvSpPr/>
          <p:nvPr>
            <p:ph idx="102" type="body" hasCustomPrompt="1"/>
          </p:nvPr>
        </p:nvSpPr>
        <p:spPr>
          <a:xfrm>
            <a:off x="640080" y="3383280"/>
            <a:ext cx="10908792" cy="914400"/>
          </a:xfrm>
          <a:prstGeom prst="rect">
            <a:avLst/>
          </a:prstGeom>
          <a:noFill/>
          <a:ln/>
        </p:spPr>
        <p:txBody>
          <a:bodyPr wrap="square" lIns="0" tIns="0" rIns="0" bIns="0" rtlCol="0" anchor="t"/>
          <a:lstStyle/>
          <a:p>
            <a:pPr indent="0" marL="0">
              <a:buNone/>
            </a:pPr>
            <a:r>
              <a:rPr lang="en-US" sz="2800" dirty="0">
                <a:solidFill>
                  <a:schemeClr val="tx2"/>
                </a:solidFill>
              </a:rPr>
              <a:t>How AI learns after it's built. </a:t>
            </a:r>
            <a:pPr indent="0" marL="0">
              <a:buNone/>
            </a:pPr>
            <a:r>
              <a:rPr lang="en-US" sz="2800" i="1" dirty="0">
                <a:solidFill>
                  <a:srgbClr val="6B7280"/>
                </a:solidFill>
              </a:rPr>
              <a:t>Does the language matter?</a:t>
            </a:r>
            <a:endParaRPr lang="en-US" sz="2800" dirty="0"/>
          </a:p>
        </p:txBody>
      </p:sp>
      <p:sp>
        <p:nvSpPr>
          <p:cNvPr id="5" name="Shape 3"/>
          <p:cNvSpPr/>
          <p:nvPr/>
        </p:nvSpPr>
        <p:spPr>
          <a:xfrm>
            <a:off x="640080" y="5120640"/>
            <a:ext cx="10908792" cy="0"/>
          </a:xfrm>
          <a:prstGeom prst="line">
            <a:avLst/>
          </a:prstGeom>
          <a:noFill/>
          <a:ln w="12700">
            <a:solidFill>
              <a:srgbClr val="E5E7EB"/>
            </a:solidFill>
            <a:prstDash val="solid"/>
          </a:ln>
        </p:spPr>
      </p:sp>
      <p:sp>
        <p:nvSpPr>
          <p:cNvPr id="6" name="Text 4"/>
          <p:cNvSpPr txBox="1"/>
          <p:nvPr/>
        </p:nvSpPr>
        <p:spPr>
          <a:xfrm>
            <a:off x="640080" y="5257800"/>
            <a:ext cx="5029200" cy="365760"/>
          </a:xfrm>
          <a:prstGeom prst="rect">
            <a:avLst/>
          </a:prstGeom>
          <a:noFill/>
          <a:ln/>
        </p:spPr>
        <p:txBody>
          <a:bodyPr wrap="square" lIns="0" tIns="0" rIns="0" bIns="0" rtlCol="0" anchor="ctr"/>
          <a:lstStyle/>
          <a:p>
            <a:pPr indent="0" marL="0">
              <a:buNone/>
            </a:pPr>
            <a:r>
              <a:rPr lang="en-US" sz="1500" b="1" dirty="0">
                <a:solidFill>
                  <a:schemeClr val="accent1"/>
                </a:solidFill>
              </a:rPr>
              <a:t>Part 1  </a:t>
            </a:r>
            <a:pPr indent="0" marL="0">
              <a:buNone/>
            </a:pPr>
            <a:r>
              <a:rPr lang="en-US" sz="1500" dirty="0">
                <a:solidFill>
                  <a:srgbClr val="374151"/>
                </a:solidFill>
              </a:rPr>
              <a:t>It already knows more than it says</a:t>
            </a:r>
            <a:endParaRPr lang="en-US" sz="1500" dirty="0"/>
          </a:p>
        </p:txBody>
      </p:sp>
      <p:sp>
        <p:nvSpPr>
          <p:cNvPr id="7" name="Text 5"/>
          <p:cNvSpPr txBox="1"/>
          <p:nvPr/>
        </p:nvSpPr>
        <p:spPr>
          <a:xfrm>
            <a:off x="6035040" y="5257800"/>
            <a:ext cx="5029200" cy="365760"/>
          </a:xfrm>
          <a:prstGeom prst="rect">
            <a:avLst/>
          </a:prstGeom>
          <a:noFill/>
          <a:ln/>
        </p:spPr>
        <p:txBody>
          <a:bodyPr wrap="square" lIns="0" tIns="0" rIns="0" bIns="0" rtlCol="0" anchor="ctr"/>
          <a:lstStyle/>
          <a:p>
            <a:pPr indent="0" marL="0">
              <a:buNone/>
            </a:pPr>
            <a:r>
              <a:rPr lang="en-US" sz="1500" b="1" dirty="0">
                <a:solidFill>
                  <a:schemeClr val="accent1"/>
                </a:solidFill>
              </a:rPr>
              <a:t>Part 2  </a:t>
            </a:r>
            <a:pPr indent="0" marL="0">
              <a:buNone/>
            </a:pPr>
            <a:r>
              <a:rPr lang="en-US" sz="1500" dirty="0">
                <a:solidFill>
                  <a:srgbClr val="374151"/>
                </a:solidFill>
              </a:rPr>
              <a:t>It needs knowledge it never had</a:t>
            </a:r>
            <a:endParaRPr lang="en-US" sz="15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PART 1 · THE INSIGHT</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The model often knows the answer. </a:t>
            </a:r>
            <a:pPr algn="l" indent="0" marL="0">
              <a:buNone/>
            </a:pPr>
            <a:r>
              <a:rPr lang="en-US" sz="3200" b="1" i="1" dirty="0">
                <a:solidFill>
                  <a:srgbClr val="6B7280"/>
                </a:solidFill>
              </a:rPr>
              <a:t>It just doesn't say it.</a:t>
            </a:r>
            <a:endParaRPr lang="en-US" sz="3200" dirty="0"/>
          </a:p>
        </p:txBody>
      </p:sp>
      <p:sp>
        <p:nvSpPr>
          <p:cNvPr id="4" name="Shape 2"/>
          <p:cNvSpPr/>
          <p:nvPr/>
        </p:nvSpPr>
        <p:spPr>
          <a:xfrm>
            <a:off x="822960" y="4937760"/>
            <a:ext cx="822960" cy="182880"/>
          </a:xfrm>
          <a:prstGeom prst="rect">
            <a:avLst/>
          </a:prstGeom>
          <a:solidFill>
            <a:srgbClr val="FDBA74"/>
          </a:solidFill>
          <a:ln w="12700">
            <a:solidFill>
              <a:srgbClr val="FDBA74"/>
            </a:solidFill>
            <a:prstDash val="solid"/>
          </a:ln>
        </p:spPr>
      </p:sp>
      <p:sp>
        <p:nvSpPr>
          <p:cNvPr id="5" name="Text 3"/>
          <p:cNvSpPr txBox="1"/>
          <p:nvPr/>
        </p:nvSpPr>
        <p:spPr>
          <a:xfrm>
            <a:off x="640080" y="4553712"/>
            <a:ext cx="1188720" cy="365760"/>
          </a:xfrm>
          <a:prstGeom prst="rect">
            <a:avLst/>
          </a:prstGeom>
          <a:noFill/>
          <a:ln/>
        </p:spPr>
        <p:txBody>
          <a:bodyPr wrap="square" lIns="0" tIns="0" rIns="0" bIns="0" rtlCol="0" anchor="ctr"/>
          <a:lstStyle/>
          <a:p>
            <a:pPr algn="ctr" indent="0" marL="0">
              <a:buNone/>
            </a:pPr>
            <a:r>
              <a:rPr lang="en-US" sz="1600" b="1" dirty="0">
                <a:solidFill>
                  <a:srgbClr val="6B7280"/>
                </a:solidFill>
              </a:rPr>
              <a:t>+1</a:t>
            </a:r>
            <a:endParaRPr lang="en-US" sz="1600" dirty="0"/>
          </a:p>
        </p:txBody>
      </p:sp>
      <p:sp>
        <p:nvSpPr>
          <p:cNvPr id="6" name="Text 4"/>
          <p:cNvSpPr txBox="1"/>
          <p:nvPr/>
        </p:nvSpPr>
        <p:spPr>
          <a:xfrm>
            <a:off x="731520" y="5193792"/>
            <a:ext cx="1005840" cy="274320"/>
          </a:xfrm>
          <a:prstGeom prst="rect">
            <a:avLst/>
          </a:prstGeom>
          <a:noFill/>
          <a:ln/>
        </p:spPr>
        <p:txBody>
          <a:bodyPr wrap="square" lIns="0" tIns="0" rIns="0" bIns="0" rtlCol="0" anchor="ctr"/>
          <a:lstStyle/>
          <a:p>
            <a:pPr algn="ctr" indent="0" marL="0">
              <a:buNone/>
            </a:pPr>
            <a:r>
              <a:rPr lang="en-US" sz="1300" dirty="0">
                <a:solidFill>
                  <a:srgbClr val="6B7280"/>
                </a:solidFill>
              </a:rPr>
              <a:t>once</a:t>
            </a:r>
            <a:endParaRPr lang="en-US" sz="1300" dirty="0"/>
          </a:p>
        </p:txBody>
      </p:sp>
      <p:sp>
        <p:nvSpPr>
          <p:cNvPr id="7" name="Shape 5"/>
          <p:cNvSpPr/>
          <p:nvPr/>
        </p:nvSpPr>
        <p:spPr>
          <a:xfrm>
            <a:off x="1920240" y="4709160"/>
            <a:ext cx="822960" cy="411480"/>
          </a:xfrm>
          <a:prstGeom prst="rect">
            <a:avLst/>
          </a:prstGeom>
          <a:solidFill>
            <a:srgbClr val="FB923C"/>
          </a:solidFill>
          <a:ln w="12700">
            <a:solidFill>
              <a:srgbClr val="FB923C"/>
            </a:solidFill>
            <a:prstDash val="solid"/>
          </a:ln>
        </p:spPr>
      </p:sp>
      <p:sp>
        <p:nvSpPr>
          <p:cNvPr id="8" name="Text 6"/>
          <p:cNvSpPr txBox="1"/>
          <p:nvPr/>
        </p:nvSpPr>
        <p:spPr>
          <a:xfrm>
            <a:off x="1737360" y="4325112"/>
            <a:ext cx="1188720" cy="365760"/>
          </a:xfrm>
          <a:prstGeom prst="rect">
            <a:avLst/>
          </a:prstGeom>
          <a:noFill/>
          <a:ln/>
        </p:spPr>
        <p:txBody>
          <a:bodyPr wrap="square" lIns="0" tIns="0" rIns="0" bIns="0" rtlCol="0" anchor="ctr"/>
          <a:lstStyle/>
          <a:p>
            <a:pPr algn="ctr" indent="0" marL="0">
              <a:buNone/>
            </a:pPr>
            <a:r>
              <a:rPr lang="en-US" sz="1600" b="1" dirty="0">
                <a:solidFill>
                  <a:srgbClr val="6B7280"/>
                </a:solidFill>
              </a:rPr>
              <a:t>+2</a:t>
            </a:r>
            <a:endParaRPr lang="en-US" sz="1600" dirty="0"/>
          </a:p>
        </p:txBody>
      </p:sp>
      <p:sp>
        <p:nvSpPr>
          <p:cNvPr id="9" name="Text 7"/>
          <p:cNvSpPr txBox="1"/>
          <p:nvPr/>
        </p:nvSpPr>
        <p:spPr>
          <a:xfrm>
            <a:off x="1828800" y="5193792"/>
            <a:ext cx="1005840" cy="274320"/>
          </a:xfrm>
          <a:prstGeom prst="rect">
            <a:avLst/>
          </a:prstGeom>
          <a:noFill/>
          <a:ln/>
        </p:spPr>
        <p:txBody>
          <a:bodyPr wrap="square" lIns="0" tIns="0" rIns="0" bIns="0" rtlCol="0" anchor="ctr"/>
          <a:lstStyle/>
          <a:p>
            <a:pPr algn="ctr" indent="0" marL="0">
              <a:buNone/>
            </a:pPr>
            <a:r>
              <a:rPr lang="en-US" sz="1300" dirty="0">
                <a:solidFill>
                  <a:srgbClr val="6B7280"/>
                </a:solidFill>
              </a:rPr>
              <a:t>a few</a:t>
            </a:r>
            <a:endParaRPr lang="en-US" sz="1300" dirty="0"/>
          </a:p>
        </p:txBody>
      </p:sp>
      <p:sp>
        <p:nvSpPr>
          <p:cNvPr id="10" name="Shape 8"/>
          <p:cNvSpPr/>
          <p:nvPr/>
        </p:nvSpPr>
        <p:spPr>
          <a:xfrm>
            <a:off x="3017520" y="4114800"/>
            <a:ext cx="822960" cy="1005840"/>
          </a:xfrm>
          <a:prstGeom prst="rect">
            <a:avLst/>
          </a:prstGeom>
          <a:solidFill>
            <a:srgbClr val="F97316"/>
          </a:solidFill>
          <a:ln w="12700">
            <a:solidFill>
              <a:srgbClr val="F97316"/>
            </a:solidFill>
            <a:prstDash val="solid"/>
          </a:ln>
        </p:spPr>
      </p:sp>
      <p:sp>
        <p:nvSpPr>
          <p:cNvPr id="11" name="Text 9"/>
          <p:cNvSpPr txBox="1"/>
          <p:nvPr/>
        </p:nvSpPr>
        <p:spPr>
          <a:xfrm>
            <a:off x="2834640" y="3730752"/>
            <a:ext cx="1188720" cy="365760"/>
          </a:xfrm>
          <a:prstGeom prst="rect">
            <a:avLst/>
          </a:prstGeom>
          <a:noFill/>
          <a:ln/>
        </p:spPr>
        <p:txBody>
          <a:bodyPr wrap="square" lIns="0" tIns="0" rIns="0" bIns="0" rtlCol="0" anchor="ctr"/>
          <a:lstStyle/>
          <a:p>
            <a:pPr algn="ctr" indent="0" marL="0">
              <a:buNone/>
            </a:pPr>
            <a:r>
              <a:rPr lang="en-US" sz="1600" b="1" dirty="0">
                <a:solidFill>
                  <a:srgbClr val="C2410C"/>
                </a:solidFill>
              </a:rPr>
              <a:t>+5</a:t>
            </a:r>
            <a:endParaRPr lang="en-US" sz="1600" dirty="0"/>
          </a:p>
        </p:txBody>
      </p:sp>
      <p:sp>
        <p:nvSpPr>
          <p:cNvPr id="12" name="Text 10"/>
          <p:cNvSpPr txBox="1"/>
          <p:nvPr/>
        </p:nvSpPr>
        <p:spPr>
          <a:xfrm>
            <a:off x="2926080" y="5193792"/>
            <a:ext cx="1005840" cy="274320"/>
          </a:xfrm>
          <a:prstGeom prst="rect">
            <a:avLst/>
          </a:prstGeom>
          <a:noFill/>
          <a:ln/>
        </p:spPr>
        <p:txBody>
          <a:bodyPr wrap="square" lIns="0" tIns="0" rIns="0" bIns="0" rtlCol="0" anchor="ctr"/>
          <a:lstStyle/>
          <a:p>
            <a:pPr algn="ctr" indent="0" marL="0">
              <a:buNone/>
            </a:pPr>
            <a:r>
              <a:rPr lang="en-US" sz="1300" dirty="0">
                <a:solidFill>
                  <a:srgbClr val="6B7280"/>
                </a:solidFill>
              </a:rPr>
              <a:t>dozens</a:t>
            </a:r>
            <a:endParaRPr lang="en-US" sz="1300" dirty="0"/>
          </a:p>
        </p:txBody>
      </p:sp>
      <p:sp>
        <p:nvSpPr>
          <p:cNvPr id="13" name="Shape 11"/>
          <p:cNvSpPr/>
          <p:nvPr/>
        </p:nvSpPr>
        <p:spPr>
          <a:xfrm>
            <a:off x="4114800" y="3474720"/>
            <a:ext cx="822960" cy="1645920"/>
          </a:xfrm>
          <a:prstGeom prst="rect">
            <a:avLst/>
          </a:prstGeom>
          <a:solidFill>
            <a:srgbClr val="EA580C"/>
          </a:solidFill>
          <a:ln w="12700">
            <a:solidFill>
              <a:srgbClr val="EA580C"/>
            </a:solidFill>
            <a:prstDash val="solid"/>
          </a:ln>
        </p:spPr>
      </p:sp>
      <p:sp>
        <p:nvSpPr>
          <p:cNvPr id="14" name="Text 12"/>
          <p:cNvSpPr txBox="1"/>
          <p:nvPr/>
        </p:nvSpPr>
        <p:spPr>
          <a:xfrm>
            <a:off x="3931920" y="3090672"/>
            <a:ext cx="1188720" cy="365760"/>
          </a:xfrm>
          <a:prstGeom prst="rect">
            <a:avLst/>
          </a:prstGeom>
          <a:noFill/>
          <a:ln/>
        </p:spPr>
        <p:txBody>
          <a:bodyPr wrap="square" lIns="0" tIns="0" rIns="0" bIns="0" rtlCol="0" anchor="ctr"/>
          <a:lstStyle/>
          <a:p>
            <a:pPr algn="ctr" indent="0" marL="0">
              <a:buNone/>
            </a:pPr>
            <a:r>
              <a:rPr lang="en-US" sz="1600" b="1" dirty="0">
                <a:solidFill>
                  <a:srgbClr val="C2410C"/>
                </a:solidFill>
              </a:rPr>
              <a:t>+8</a:t>
            </a:r>
            <a:endParaRPr lang="en-US" sz="1600" dirty="0"/>
          </a:p>
        </p:txBody>
      </p:sp>
      <p:sp>
        <p:nvSpPr>
          <p:cNvPr id="15" name="Text 13"/>
          <p:cNvSpPr txBox="1"/>
          <p:nvPr/>
        </p:nvSpPr>
        <p:spPr>
          <a:xfrm>
            <a:off x="4023360" y="5193792"/>
            <a:ext cx="1005840" cy="274320"/>
          </a:xfrm>
          <a:prstGeom prst="rect">
            <a:avLst/>
          </a:prstGeom>
          <a:noFill/>
          <a:ln/>
        </p:spPr>
        <p:txBody>
          <a:bodyPr wrap="square" lIns="0" tIns="0" rIns="0" bIns="0" rtlCol="0" anchor="ctr"/>
          <a:lstStyle/>
          <a:p>
            <a:pPr algn="ctr" indent="0" marL="0">
              <a:buNone/>
            </a:pPr>
            <a:r>
              <a:rPr lang="en-US" sz="1300" dirty="0">
                <a:solidFill>
                  <a:srgbClr val="6B7280"/>
                </a:solidFill>
              </a:rPr>
              <a:t>~100</a:t>
            </a:r>
            <a:endParaRPr lang="en-US" sz="1300" dirty="0"/>
          </a:p>
        </p:txBody>
      </p:sp>
      <p:sp>
        <p:nvSpPr>
          <p:cNvPr id="16" name="Shape 14"/>
          <p:cNvSpPr/>
          <p:nvPr/>
        </p:nvSpPr>
        <p:spPr>
          <a:xfrm>
            <a:off x="5212080" y="2651760"/>
            <a:ext cx="822960" cy="2468880"/>
          </a:xfrm>
          <a:prstGeom prst="rect">
            <a:avLst/>
          </a:prstGeom>
          <a:solidFill>
            <a:srgbClr val="C2410C"/>
          </a:solidFill>
          <a:ln w="12700">
            <a:solidFill>
              <a:srgbClr val="C2410C"/>
            </a:solidFill>
            <a:prstDash val="solid"/>
          </a:ln>
        </p:spPr>
      </p:sp>
      <p:sp>
        <p:nvSpPr>
          <p:cNvPr id="17" name="Text 15"/>
          <p:cNvSpPr txBox="1"/>
          <p:nvPr/>
        </p:nvSpPr>
        <p:spPr>
          <a:xfrm>
            <a:off x="5029200" y="2267712"/>
            <a:ext cx="1188720" cy="365760"/>
          </a:xfrm>
          <a:prstGeom prst="rect">
            <a:avLst/>
          </a:prstGeom>
          <a:noFill/>
          <a:ln/>
        </p:spPr>
        <p:txBody>
          <a:bodyPr wrap="square" lIns="0" tIns="0" rIns="0" bIns="0" rtlCol="0" anchor="ctr"/>
          <a:lstStyle/>
          <a:p>
            <a:pPr algn="ctr" indent="0" marL="0">
              <a:buNone/>
            </a:pPr>
            <a:r>
              <a:rPr lang="en-US" sz="1600" b="1" dirty="0">
                <a:solidFill>
                  <a:srgbClr val="C2410C"/>
                </a:solidFill>
              </a:rPr>
              <a:t>+12</a:t>
            </a:r>
            <a:endParaRPr lang="en-US" sz="1600" dirty="0"/>
          </a:p>
        </p:txBody>
      </p:sp>
      <p:sp>
        <p:nvSpPr>
          <p:cNvPr id="18" name="Text 16"/>
          <p:cNvSpPr txBox="1"/>
          <p:nvPr/>
        </p:nvSpPr>
        <p:spPr>
          <a:xfrm>
            <a:off x="5120640" y="5193792"/>
            <a:ext cx="1005840" cy="274320"/>
          </a:xfrm>
          <a:prstGeom prst="rect">
            <a:avLst/>
          </a:prstGeom>
          <a:noFill/>
          <a:ln/>
        </p:spPr>
        <p:txBody>
          <a:bodyPr wrap="square" lIns="0" tIns="0" rIns="0" bIns="0" rtlCol="0" anchor="ctr"/>
          <a:lstStyle/>
          <a:p>
            <a:pPr algn="ctr" indent="0" marL="0">
              <a:buNone/>
            </a:pPr>
            <a:r>
              <a:rPr lang="en-US" sz="1300" dirty="0">
                <a:solidFill>
                  <a:srgbClr val="6B7280"/>
                </a:solidFill>
              </a:rPr>
              <a:t>200+</a:t>
            </a:r>
            <a:endParaRPr lang="en-US" sz="1300" dirty="0"/>
          </a:p>
        </p:txBody>
      </p:sp>
      <p:sp>
        <p:nvSpPr>
          <p:cNvPr id="19" name="Shape 17"/>
          <p:cNvSpPr/>
          <p:nvPr/>
        </p:nvSpPr>
        <p:spPr>
          <a:xfrm>
            <a:off x="731520" y="5120640"/>
            <a:ext cx="5486400" cy="0"/>
          </a:xfrm>
          <a:prstGeom prst="line">
            <a:avLst/>
          </a:prstGeom>
          <a:noFill/>
          <a:ln w="25400">
            <a:solidFill>
              <a:srgbClr val="111827"/>
            </a:solidFill>
            <a:prstDash val="solid"/>
          </a:ln>
        </p:spPr>
      </p:sp>
      <p:sp>
        <p:nvSpPr>
          <p:cNvPr id="20" name="Text 18"/>
          <p:cNvSpPr txBox="1"/>
          <p:nvPr/>
        </p:nvSpPr>
        <p:spPr>
          <a:xfrm>
            <a:off x="731520" y="5504688"/>
            <a:ext cx="5486400" cy="274320"/>
          </a:xfrm>
          <a:prstGeom prst="rect">
            <a:avLst/>
          </a:prstGeom>
          <a:noFill/>
          <a:ln/>
        </p:spPr>
        <p:txBody>
          <a:bodyPr wrap="square" lIns="0" tIns="0" rIns="0" bIns="0" rtlCol="0" anchor="ctr"/>
          <a:lstStyle/>
          <a:p>
            <a:pPr indent="0" marL="0">
              <a:buNone/>
            </a:pPr>
            <a:r>
              <a:rPr lang="en-US" sz="1200" dirty="0">
                <a:solidFill>
                  <a:srgbClr val="6B7280"/>
                </a:solidFill>
              </a:rPr>
              <a:t>how often the model has seen a fact → how well it answers</a:t>
            </a:r>
            <a:endParaRPr lang="en-US" sz="1200" dirty="0"/>
          </a:p>
        </p:txBody>
      </p:sp>
      <p:sp>
        <p:nvSpPr>
          <p:cNvPr id="21" name="Shape 19"/>
          <p:cNvSpPr/>
          <p:nvPr/>
        </p:nvSpPr>
        <p:spPr>
          <a:xfrm>
            <a:off x="6675120" y="2286000"/>
            <a:ext cx="4846320" cy="1188720"/>
          </a:xfrm>
          <a:prstGeom prst="roundRect">
            <a:avLst>
              <a:gd name="adj" fmla="val 9231"/>
            </a:avLst>
          </a:prstGeom>
          <a:solidFill>
            <a:srgbClr val="F9FAFB"/>
          </a:solidFill>
          <a:ln w="12700">
            <a:solidFill>
              <a:srgbClr val="E5E7EB"/>
            </a:solidFill>
            <a:prstDash val="solid"/>
          </a:ln>
        </p:spPr>
      </p:sp>
      <p:sp>
        <p:nvSpPr>
          <p:cNvPr id="22" name="Text 20"/>
          <p:cNvSpPr txBox="1"/>
          <p:nvPr/>
        </p:nvSpPr>
        <p:spPr>
          <a:xfrm>
            <a:off x="6903720" y="2377440"/>
            <a:ext cx="4480560" cy="457200"/>
          </a:xfrm>
          <a:prstGeom prst="rect">
            <a:avLst/>
          </a:prstGeom>
          <a:noFill/>
          <a:ln/>
        </p:spPr>
        <p:txBody>
          <a:bodyPr wrap="square" lIns="0" tIns="0" rIns="0" bIns="0" rtlCol="0" anchor="ctr"/>
          <a:lstStyle/>
          <a:p>
            <a:pPr indent="0" marL="0">
              <a:buNone/>
            </a:pPr>
            <a:r>
              <a:rPr lang="en-US" sz="1800" b="1" dirty="0">
                <a:solidFill>
                  <a:srgbClr val="111827"/>
                </a:solidFill>
              </a:rPr>
              <a:t>Even a fact seen once leaves a trace</a:t>
            </a:r>
            <a:endParaRPr lang="en-US" sz="1800" dirty="0"/>
          </a:p>
        </p:txBody>
      </p:sp>
      <p:sp>
        <p:nvSpPr>
          <p:cNvPr id="23" name="Text 21"/>
          <p:cNvSpPr txBox="1"/>
          <p:nvPr/>
        </p:nvSpPr>
        <p:spPr>
          <a:xfrm>
            <a:off x="6903720" y="2834640"/>
            <a:ext cx="4480560" cy="457200"/>
          </a:xfrm>
          <a:prstGeom prst="rect">
            <a:avLst/>
          </a:prstGeom>
          <a:noFill/>
          <a:ln/>
        </p:spPr>
        <p:txBody>
          <a:bodyPr wrap="square" lIns="0" tIns="0" rIns="0" bIns="0" rtlCol="0" anchor="ctr"/>
          <a:lstStyle/>
          <a:p>
            <a:pPr indent="0" marL="0">
              <a:buNone/>
            </a:pPr>
            <a:r>
              <a:rPr lang="en-US" sz="1500" dirty="0">
                <a:solidFill>
                  <a:srgbClr val="374151"/>
                </a:solidFill>
              </a:rPr>
              <a:t>the information is in there, weakly</a:t>
            </a:r>
            <a:endParaRPr lang="en-US" sz="1500" dirty="0"/>
          </a:p>
        </p:txBody>
      </p:sp>
      <p:sp>
        <p:nvSpPr>
          <p:cNvPr id="24" name="Shape 22"/>
          <p:cNvSpPr/>
          <p:nvPr/>
        </p:nvSpPr>
        <p:spPr>
          <a:xfrm>
            <a:off x="6675120" y="3749040"/>
            <a:ext cx="4846320" cy="1371600"/>
          </a:xfrm>
          <a:prstGeom prst="roundRect">
            <a:avLst>
              <a:gd name="adj" fmla="val 8000"/>
            </a:avLst>
          </a:prstGeom>
          <a:solidFill>
            <a:srgbClr val="F9FAFB"/>
          </a:solidFill>
          <a:ln w="12700">
            <a:solidFill>
              <a:srgbClr val="E5E7EB"/>
            </a:solidFill>
            <a:prstDash val="solid"/>
          </a:ln>
        </p:spPr>
      </p:sp>
      <p:sp>
        <p:nvSpPr>
          <p:cNvPr id="25" name="Text 23"/>
          <p:cNvSpPr txBox="1"/>
          <p:nvPr/>
        </p:nvSpPr>
        <p:spPr>
          <a:xfrm>
            <a:off x="6903720" y="3840480"/>
            <a:ext cx="4480560" cy="548640"/>
          </a:xfrm>
          <a:prstGeom prst="rect">
            <a:avLst/>
          </a:prstGeom>
          <a:noFill/>
          <a:ln/>
        </p:spPr>
        <p:txBody>
          <a:bodyPr wrap="square" lIns="0" tIns="0" rIns="0" bIns="0" rtlCol="0" anchor="ctr"/>
          <a:lstStyle/>
          <a:p>
            <a:pPr indent="0" marL="0">
              <a:buNone/>
            </a:pPr>
            <a:r>
              <a:rPr lang="en-US" sz="1800" b="1" dirty="0">
                <a:solidFill>
                  <a:srgbClr val="111827"/>
                </a:solidFill>
              </a:rPr>
              <a:t>But it gets drowned out on the way to the output</a:t>
            </a:r>
            <a:endParaRPr lang="en-US" sz="1800" dirty="0"/>
          </a:p>
        </p:txBody>
      </p:sp>
      <p:sp>
        <p:nvSpPr>
          <p:cNvPr id="26" name="Text 24"/>
          <p:cNvSpPr txBox="1"/>
          <p:nvPr/>
        </p:nvSpPr>
        <p:spPr>
          <a:xfrm>
            <a:off x="6903720" y="4434840"/>
            <a:ext cx="4480560" cy="548640"/>
          </a:xfrm>
          <a:prstGeom prst="rect">
            <a:avLst/>
          </a:prstGeom>
          <a:noFill/>
          <a:ln/>
        </p:spPr>
        <p:txBody>
          <a:bodyPr wrap="square" lIns="0" tIns="0" rIns="0" bIns="0" rtlCol="0" anchor="ctr"/>
          <a:lstStyle/>
          <a:p>
            <a:pPr indent="0" marL="0">
              <a:buNone/>
            </a:pPr>
            <a:r>
              <a:rPr lang="en-US" sz="1500" dirty="0">
                <a:solidFill>
                  <a:srgbClr val="374151"/>
                </a:solidFill>
              </a:rPr>
              <a:t>higher layers mix it with everything else: vague, not wrong</a:t>
            </a:r>
            <a:endParaRPr lang="en-US" sz="1500" dirty="0"/>
          </a:p>
        </p:txBody>
      </p:sp>
      <p:sp>
        <p:nvSpPr>
          <p:cNvPr id="27"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If the knowledge is there, we don't need to train. </a:t>
            </a:r>
            <a:pPr indent="0" marL="0">
              <a:buNone/>
            </a:pPr>
            <a:r>
              <a:rPr lang="en-US" sz="1800" b="1" i="1" dirty="0">
                <a:solidFill>
                  <a:srgbClr val="6B7280"/>
                </a:solidFill>
              </a:rPr>
              <a:t>We need to help it out.</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PART 1 · THE METHOD</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Steer it: one addition. </a:t>
            </a:r>
            <a:pPr algn="l" indent="0" marL="0">
              <a:buNone/>
            </a:pPr>
            <a:r>
              <a:rPr lang="en-US" sz="3200" b="1" i="1" dirty="0">
                <a:solidFill>
                  <a:srgbClr val="6B7280"/>
                </a:solidFill>
              </a:rPr>
              <a:t>No training.</a:t>
            </a:r>
            <a:endParaRPr lang="en-US" sz="3200" dirty="0"/>
          </a:p>
        </p:txBody>
      </p:sp>
      <p:sp>
        <p:nvSpPr>
          <p:cNvPr id="4" name="Shape 2"/>
          <p:cNvSpPr/>
          <p:nvPr/>
        </p:nvSpPr>
        <p:spPr>
          <a:xfrm>
            <a:off x="640080" y="2148840"/>
            <a:ext cx="4754880" cy="3291840"/>
          </a:xfrm>
          <a:prstGeom prst="roundRect">
            <a:avLst>
              <a:gd name="adj" fmla="val 3333"/>
            </a:avLst>
          </a:prstGeom>
          <a:solidFill>
            <a:srgbClr val="F9FAFB"/>
          </a:solidFill>
          <a:ln w="12700">
            <a:solidFill>
              <a:srgbClr val="E5E7EB"/>
            </a:solidFill>
            <a:prstDash val="solid"/>
          </a:ln>
        </p:spPr>
      </p:sp>
      <p:sp>
        <p:nvSpPr>
          <p:cNvPr id="5" name="Shape 3"/>
          <p:cNvSpPr/>
          <p:nvPr/>
        </p:nvSpPr>
        <p:spPr>
          <a:xfrm>
            <a:off x="1280160" y="2971800"/>
            <a:ext cx="201168" cy="201168"/>
          </a:xfrm>
          <a:prstGeom prst="ellipse">
            <a:avLst/>
          </a:prstGeom>
          <a:solidFill>
            <a:srgbClr val="C2410C"/>
          </a:solidFill>
          <a:ln w="12700">
            <a:solidFill>
              <a:srgbClr val="C2410C"/>
            </a:solidFill>
            <a:prstDash val="solid"/>
          </a:ln>
        </p:spPr>
      </p:sp>
      <p:sp>
        <p:nvSpPr>
          <p:cNvPr id="6" name="Shape 4"/>
          <p:cNvSpPr/>
          <p:nvPr/>
        </p:nvSpPr>
        <p:spPr>
          <a:xfrm>
            <a:off x="1737360" y="2697480"/>
            <a:ext cx="201168" cy="201168"/>
          </a:xfrm>
          <a:prstGeom prst="ellipse">
            <a:avLst/>
          </a:prstGeom>
          <a:solidFill>
            <a:srgbClr val="C2410C"/>
          </a:solidFill>
          <a:ln w="12700">
            <a:solidFill>
              <a:srgbClr val="C2410C"/>
            </a:solidFill>
            <a:prstDash val="solid"/>
          </a:ln>
        </p:spPr>
      </p:sp>
      <p:sp>
        <p:nvSpPr>
          <p:cNvPr id="7" name="Shape 5"/>
          <p:cNvSpPr/>
          <p:nvPr/>
        </p:nvSpPr>
        <p:spPr>
          <a:xfrm>
            <a:off x="1508760" y="3520440"/>
            <a:ext cx="201168" cy="201168"/>
          </a:xfrm>
          <a:prstGeom prst="ellipse">
            <a:avLst/>
          </a:prstGeom>
          <a:solidFill>
            <a:srgbClr val="C2410C"/>
          </a:solidFill>
          <a:ln w="12700">
            <a:solidFill>
              <a:srgbClr val="C2410C"/>
            </a:solidFill>
            <a:prstDash val="solid"/>
          </a:ln>
        </p:spPr>
      </p:sp>
      <p:sp>
        <p:nvSpPr>
          <p:cNvPr id="8" name="Shape 6"/>
          <p:cNvSpPr/>
          <p:nvPr/>
        </p:nvSpPr>
        <p:spPr>
          <a:xfrm>
            <a:off x="2103120" y="3246120"/>
            <a:ext cx="201168" cy="201168"/>
          </a:xfrm>
          <a:prstGeom prst="ellipse">
            <a:avLst/>
          </a:prstGeom>
          <a:solidFill>
            <a:srgbClr val="C2410C"/>
          </a:solidFill>
          <a:ln w="12700">
            <a:solidFill>
              <a:srgbClr val="C2410C"/>
            </a:solidFill>
            <a:prstDash val="solid"/>
          </a:ln>
        </p:spPr>
      </p:sp>
      <p:sp>
        <p:nvSpPr>
          <p:cNvPr id="9" name="Shape 7"/>
          <p:cNvSpPr/>
          <p:nvPr/>
        </p:nvSpPr>
        <p:spPr>
          <a:xfrm>
            <a:off x="1188720" y="4069080"/>
            <a:ext cx="201168" cy="201168"/>
          </a:xfrm>
          <a:prstGeom prst="ellipse">
            <a:avLst/>
          </a:prstGeom>
          <a:solidFill>
            <a:srgbClr val="C2410C"/>
          </a:solidFill>
          <a:ln w="12700">
            <a:solidFill>
              <a:srgbClr val="C2410C"/>
            </a:solidFill>
            <a:prstDash val="solid"/>
          </a:ln>
        </p:spPr>
      </p:sp>
      <p:sp>
        <p:nvSpPr>
          <p:cNvPr id="10" name="Shape 8"/>
          <p:cNvSpPr/>
          <p:nvPr/>
        </p:nvSpPr>
        <p:spPr>
          <a:xfrm>
            <a:off x="1828800" y="3977640"/>
            <a:ext cx="201168" cy="201168"/>
          </a:xfrm>
          <a:prstGeom prst="ellipse">
            <a:avLst/>
          </a:prstGeom>
          <a:solidFill>
            <a:srgbClr val="C2410C"/>
          </a:solidFill>
          <a:ln w="12700">
            <a:solidFill>
              <a:srgbClr val="C2410C"/>
            </a:solidFill>
            <a:prstDash val="solid"/>
          </a:ln>
        </p:spPr>
      </p:sp>
      <p:sp>
        <p:nvSpPr>
          <p:cNvPr id="11" name="Shape 9"/>
          <p:cNvSpPr/>
          <p:nvPr/>
        </p:nvSpPr>
        <p:spPr>
          <a:xfrm>
            <a:off x="2286000" y="3703320"/>
            <a:ext cx="201168" cy="201168"/>
          </a:xfrm>
          <a:prstGeom prst="ellipse">
            <a:avLst/>
          </a:prstGeom>
          <a:solidFill>
            <a:srgbClr val="C2410C"/>
          </a:solidFill>
          <a:ln w="12700">
            <a:solidFill>
              <a:srgbClr val="C2410C"/>
            </a:solidFill>
            <a:prstDash val="solid"/>
          </a:ln>
        </p:spPr>
      </p:sp>
      <p:sp>
        <p:nvSpPr>
          <p:cNvPr id="12" name="Shape 10"/>
          <p:cNvSpPr/>
          <p:nvPr/>
        </p:nvSpPr>
        <p:spPr>
          <a:xfrm>
            <a:off x="1554480" y="4526280"/>
            <a:ext cx="201168" cy="201168"/>
          </a:xfrm>
          <a:prstGeom prst="ellipse">
            <a:avLst/>
          </a:prstGeom>
          <a:solidFill>
            <a:srgbClr val="C2410C"/>
          </a:solidFill>
          <a:ln w="12700">
            <a:solidFill>
              <a:srgbClr val="C2410C"/>
            </a:solidFill>
            <a:prstDash val="solid"/>
          </a:ln>
        </p:spPr>
      </p:sp>
      <p:sp>
        <p:nvSpPr>
          <p:cNvPr id="13" name="Shape 11"/>
          <p:cNvSpPr/>
          <p:nvPr/>
        </p:nvSpPr>
        <p:spPr>
          <a:xfrm>
            <a:off x="3657600" y="3246120"/>
            <a:ext cx="201168" cy="201168"/>
          </a:xfrm>
          <a:prstGeom prst="ellipse">
            <a:avLst/>
          </a:prstGeom>
          <a:solidFill>
            <a:srgbClr val="2563EB"/>
          </a:solidFill>
          <a:ln w="12700">
            <a:solidFill>
              <a:srgbClr val="2563EB"/>
            </a:solidFill>
            <a:prstDash val="solid"/>
          </a:ln>
        </p:spPr>
      </p:sp>
      <p:sp>
        <p:nvSpPr>
          <p:cNvPr id="14" name="Shape 12"/>
          <p:cNvSpPr/>
          <p:nvPr/>
        </p:nvSpPr>
        <p:spPr>
          <a:xfrm>
            <a:off x="4114800" y="2880360"/>
            <a:ext cx="201168" cy="201168"/>
          </a:xfrm>
          <a:prstGeom prst="ellipse">
            <a:avLst/>
          </a:prstGeom>
          <a:solidFill>
            <a:srgbClr val="2563EB"/>
          </a:solidFill>
          <a:ln w="12700">
            <a:solidFill>
              <a:srgbClr val="2563EB"/>
            </a:solidFill>
            <a:prstDash val="solid"/>
          </a:ln>
        </p:spPr>
      </p:sp>
      <p:sp>
        <p:nvSpPr>
          <p:cNvPr id="15" name="Shape 13"/>
          <p:cNvSpPr/>
          <p:nvPr/>
        </p:nvSpPr>
        <p:spPr>
          <a:xfrm>
            <a:off x="4480560" y="3520440"/>
            <a:ext cx="201168" cy="201168"/>
          </a:xfrm>
          <a:prstGeom prst="ellipse">
            <a:avLst/>
          </a:prstGeom>
          <a:solidFill>
            <a:srgbClr val="2563EB"/>
          </a:solidFill>
          <a:ln w="12700">
            <a:solidFill>
              <a:srgbClr val="2563EB"/>
            </a:solidFill>
            <a:prstDash val="solid"/>
          </a:ln>
        </p:spPr>
      </p:sp>
      <p:sp>
        <p:nvSpPr>
          <p:cNvPr id="16" name="Shape 14"/>
          <p:cNvSpPr/>
          <p:nvPr/>
        </p:nvSpPr>
        <p:spPr>
          <a:xfrm>
            <a:off x="3840480" y="3886200"/>
            <a:ext cx="201168" cy="201168"/>
          </a:xfrm>
          <a:prstGeom prst="ellipse">
            <a:avLst/>
          </a:prstGeom>
          <a:solidFill>
            <a:srgbClr val="2563EB"/>
          </a:solidFill>
          <a:ln w="12700">
            <a:solidFill>
              <a:srgbClr val="2563EB"/>
            </a:solidFill>
            <a:prstDash val="solid"/>
          </a:ln>
        </p:spPr>
      </p:sp>
      <p:sp>
        <p:nvSpPr>
          <p:cNvPr id="17" name="Shape 15"/>
          <p:cNvSpPr/>
          <p:nvPr/>
        </p:nvSpPr>
        <p:spPr>
          <a:xfrm>
            <a:off x="4297680" y="4251960"/>
            <a:ext cx="201168" cy="201168"/>
          </a:xfrm>
          <a:prstGeom prst="ellipse">
            <a:avLst/>
          </a:prstGeom>
          <a:solidFill>
            <a:srgbClr val="2563EB"/>
          </a:solidFill>
          <a:ln w="12700">
            <a:solidFill>
              <a:srgbClr val="2563EB"/>
            </a:solidFill>
            <a:prstDash val="solid"/>
          </a:ln>
        </p:spPr>
      </p:sp>
      <p:sp>
        <p:nvSpPr>
          <p:cNvPr id="18" name="Shape 16"/>
          <p:cNvSpPr/>
          <p:nvPr/>
        </p:nvSpPr>
        <p:spPr>
          <a:xfrm>
            <a:off x="3474720" y="4617720"/>
            <a:ext cx="201168" cy="201168"/>
          </a:xfrm>
          <a:prstGeom prst="ellipse">
            <a:avLst/>
          </a:prstGeom>
          <a:solidFill>
            <a:srgbClr val="2563EB"/>
          </a:solidFill>
          <a:ln w="12700">
            <a:solidFill>
              <a:srgbClr val="2563EB"/>
            </a:solidFill>
            <a:prstDash val="solid"/>
          </a:ln>
        </p:spPr>
      </p:sp>
      <p:sp>
        <p:nvSpPr>
          <p:cNvPr id="19" name="Shape 17"/>
          <p:cNvSpPr/>
          <p:nvPr/>
        </p:nvSpPr>
        <p:spPr>
          <a:xfrm>
            <a:off x="4023360" y="4892040"/>
            <a:ext cx="201168" cy="201168"/>
          </a:xfrm>
          <a:prstGeom prst="ellipse">
            <a:avLst/>
          </a:prstGeom>
          <a:solidFill>
            <a:srgbClr val="2563EB"/>
          </a:solidFill>
          <a:ln w="12700">
            <a:solidFill>
              <a:srgbClr val="2563EB"/>
            </a:solidFill>
            <a:prstDash val="solid"/>
          </a:ln>
        </p:spPr>
      </p:sp>
      <p:sp>
        <p:nvSpPr>
          <p:cNvPr id="20" name="Shape 18"/>
          <p:cNvSpPr/>
          <p:nvPr/>
        </p:nvSpPr>
        <p:spPr>
          <a:xfrm>
            <a:off x="4572000" y="3977640"/>
            <a:ext cx="201168" cy="201168"/>
          </a:xfrm>
          <a:prstGeom prst="ellipse">
            <a:avLst/>
          </a:prstGeom>
          <a:solidFill>
            <a:srgbClr val="2563EB"/>
          </a:solidFill>
          <a:ln w="12700">
            <a:solidFill>
              <a:srgbClr val="2563EB"/>
            </a:solidFill>
            <a:prstDash val="solid"/>
          </a:ln>
        </p:spPr>
      </p:sp>
      <p:sp>
        <p:nvSpPr>
          <p:cNvPr id="21" name="Shape 19"/>
          <p:cNvSpPr/>
          <p:nvPr/>
        </p:nvSpPr>
        <p:spPr>
          <a:xfrm flipH="1">
            <a:off x="2011680" y="3611880"/>
            <a:ext cx="2011680" cy="274320"/>
          </a:xfrm>
          <a:prstGeom prst="line">
            <a:avLst/>
          </a:prstGeom>
          <a:noFill/>
          <a:ln w="38100">
            <a:solidFill>
              <a:srgbClr val="111827"/>
            </a:solidFill>
            <a:prstDash val="solid"/>
            <a:tailEnd type="triangle"/>
          </a:ln>
        </p:spPr>
      </p:sp>
      <p:sp>
        <p:nvSpPr>
          <p:cNvPr id="22" name="Text 20"/>
          <p:cNvSpPr txBox="1"/>
          <p:nvPr/>
        </p:nvSpPr>
        <p:spPr>
          <a:xfrm>
            <a:off x="2834640" y="3154680"/>
            <a:ext cx="457200" cy="365760"/>
          </a:xfrm>
          <a:prstGeom prst="rect">
            <a:avLst/>
          </a:prstGeom>
          <a:noFill/>
          <a:ln/>
        </p:spPr>
        <p:txBody>
          <a:bodyPr wrap="square" lIns="0" tIns="0" rIns="0" bIns="0" rtlCol="0" anchor="ctr"/>
          <a:lstStyle/>
          <a:p>
            <a:pPr indent="0" marL="0">
              <a:buNone/>
            </a:pPr>
            <a:r>
              <a:rPr lang="en-US" sz="2000" b="1" dirty="0">
                <a:solidFill>
                  <a:srgbClr val="111827"/>
                </a:solidFill>
              </a:rPr>
              <a:t>v</a:t>
            </a:r>
            <a:endParaRPr lang="en-US" sz="2000" dirty="0"/>
          </a:p>
        </p:txBody>
      </p:sp>
      <p:sp>
        <p:nvSpPr>
          <p:cNvPr id="23" name="Text 21"/>
          <p:cNvSpPr txBox="1"/>
          <p:nvPr/>
        </p:nvSpPr>
        <p:spPr>
          <a:xfrm>
            <a:off x="914400" y="4892040"/>
            <a:ext cx="1828800" cy="365760"/>
          </a:xfrm>
          <a:prstGeom prst="rect">
            <a:avLst/>
          </a:prstGeom>
          <a:noFill/>
          <a:ln/>
        </p:spPr>
        <p:txBody>
          <a:bodyPr wrap="square" lIns="0" tIns="0" rIns="0" bIns="0" rtlCol="0" anchor="ctr"/>
          <a:lstStyle/>
          <a:p>
            <a:pPr indent="0" marL="0">
              <a:buNone/>
            </a:pPr>
            <a:r>
              <a:rPr lang="en-US" sz="1400" b="1" dirty="0">
                <a:solidFill>
                  <a:srgbClr val="C2410C"/>
                </a:solidFill>
              </a:rPr>
              <a:t>medical</a:t>
            </a:r>
            <a:endParaRPr lang="en-US" sz="1400" dirty="0"/>
          </a:p>
        </p:txBody>
      </p:sp>
      <p:sp>
        <p:nvSpPr>
          <p:cNvPr id="24" name="Text 22"/>
          <p:cNvSpPr txBox="1"/>
          <p:nvPr/>
        </p:nvSpPr>
        <p:spPr>
          <a:xfrm>
            <a:off x="3383280" y="2423160"/>
            <a:ext cx="1828800" cy="365760"/>
          </a:xfrm>
          <a:prstGeom prst="rect">
            <a:avLst/>
          </a:prstGeom>
          <a:noFill/>
          <a:ln/>
        </p:spPr>
        <p:txBody>
          <a:bodyPr wrap="square" lIns="0" tIns="0" rIns="0" bIns="0" rtlCol="0" anchor="ctr"/>
          <a:lstStyle/>
          <a:p>
            <a:pPr algn="r" indent="0" marL="0">
              <a:buNone/>
            </a:pPr>
            <a:r>
              <a:rPr lang="en-US" sz="1400" b="1" dirty="0">
                <a:solidFill>
                  <a:srgbClr val="2563EB"/>
                </a:solidFill>
              </a:rPr>
              <a:t>everything else</a:t>
            </a:r>
            <a:endParaRPr lang="en-US" sz="1400" dirty="0"/>
          </a:p>
        </p:txBody>
      </p:sp>
      <p:sp>
        <p:nvSpPr>
          <p:cNvPr id="25" name="Text 23"/>
          <p:cNvSpPr txBox="1"/>
          <p:nvPr/>
        </p:nvSpPr>
        <p:spPr>
          <a:xfrm>
            <a:off x="640080" y="5486400"/>
            <a:ext cx="4754880" cy="365760"/>
          </a:xfrm>
          <a:prstGeom prst="rect">
            <a:avLst/>
          </a:prstGeom>
          <a:noFill/>
          <a:ln/>
        </p:spPr>
        <p:txBody>
          <a:bodyPr wrap="square" lIns="0" tIns="0" rIns="0" bIns="0" rtlCol="0" anchor="ctr"/>
          <a:lstStyle/>
          <a:p>
            <a:pPr algn="ctr" indent="0" marL="0">
              <a:buNone/>
            </a:pPr>
            <a:r>
              <a:rPr lang="en-US" sz="1200" dirty="0">
                <a:solidFill>
                  <a:srgbClr val="6B7280"/>
                </a:solidFill>
              </a:rPr>
              <a:t>inside one layer, each dot a sentence: the domains are separable</a:t>
            </a:r>
            <a:endParaRPr lang="en-US" sz="1200" dirty="0"/>
          </a:p>
        </p:txBody>
      </p:sp>
      <p:sp>
        <p:nvSpPr>
          <p:cNvPr id="26" name="Shape 24"/>
          <p:cNvSpPr/>
          <p:nvPr/>
        </p:nvSpPr>
        <p:spPr>
          <a:xfrm>
            <a:off x="6400800" y="2377440"/>
            <a:ext cx="3108960" cy="457200"/>
          </a:xfrm>
          <a:prstGeom prst="roundRect">
            <a:avLst>
              <a:gd name="adj" fmla="val 12000"/>
            </a:avLst>
          </a:prstGeom>
          <a:solidFill>
            <a:srgbClr val="E5E7EB"/>
          </a:solidFill>
          <a:ln w="12700">
            <a:solidFill>
              <a:srgbClr val="E5E7EB"/>
            </a:solidFill>
            <a:prstDash val="solid"/>
          </a:ln>
        </p:spPr>
      </p:sp>
      <p:sp>
        <p:nvSpPr>
          <p:cNvPr id="27" name="Shape 25"/>
          <p:cNvSpPr/>
          <p:nvPr/>
        </p:nvSpPr>
        <p:spPr>
          <a:xfrm>
            <a:off x="6400800" y="2944368"/>
            <a:ext cx="3108960" cy="457200"/>
          </a:xfrm>
          <a:prstGeom prst="roundRect">
            <a:avLst>
              <a:gd name="adj" fmla="val 12000"/>
            </a:avLst>
          </a:prstGeom>
          <a:solidFill>
            <a:srgbClr val="E5E7EB"/>
          </a:solidFill>
          <a:ln w="12700">
            <a:solidFill>
              <a:srgbClr val="E5E7EB"/>
            </a:solidFill>
            <a:prstDash val="solid"/>
          </a:ln>
        </p:spPr>
      </p:sp>
      <p:sp>
        <p:nvSpPr>
          <p:cNvPr id="28" name="Shape 26"/>
          <p:cNvSpPr/>
          <p:nvPr/>
        </p:nvSpPr>
        <p:spPr>
          <a:xfrm>
            <a:off x="6400800" y="3511296"/>
            <a:ext cx="3108960" cy="457200"/>
          </a:xfrm>
          <a:prstGeom prst="roundRect">
            <a:avLst>
              <a:gd name="adj" fmla="val 12000"/>
            </a:avLst>
          </a:prstGeom>
          <a:solidFill>
            <a:srgbClr val="C2410C"/>
          </a:solidFill>
          <a:ln w="12700">
            <a:solidFill>
              <a:srgbClr val="C2410C"/>
            </a:solidFill>
            <a:prstDash val="solid"/>
          </a:ln>
        </p:spPr>
      </p:sp>
      <p:sp>
        <p:nvSpPr>
          <p:cNvPr id="29" name="Text 27"/>
          <p:cNvSpPr txBox="1"/>
          <p:nvPr/>
        </p:nvSpPr>
        <p:spPr>
          <a:xfrm>
            <a:off x="6400800" y="3511296"/>
            <a:ext cx="3108960" cy="457200"/>
          </a:xfrm>
          <a:prstGeom prst="rect">
            <a:avLst/>
          </a:prstGeom>
          <a:noFill/>
          <a:ln/>
        </p:spPr>
        <p:txBody>
          <a:bodyPr wrap="square" lIns="0" tIns="0" rIns="0" bIns="0" rtlCol="0" anchor="ctr"/>
          <a:lstStyle/>
          <a:p>
            <a:pPr algn="ctr" indent="0" marL="0">
              <a:buNone/>
            </a:pPr>
            <a:r>
              <a:rPr lang="en-US" sz="1600" b="1" dirty="0">
                <a:solidFill>
                  <a:srgbClr val="FFFFFF"/>
                </a:solidFill>
              </a:rPr>
              <a:t>MLP, layer 8</a:t>
            </a:r>
            <a:endParaRPr lang="en-US" sz="1600" dirty="0"/>
          </a:p>
        </p:txBody>
      </p:sp>
      <p:sp>
        <p:nvSpPr>
          <p:cNvPr id="30" name="Text 28"/>
          <p:cNvSpPr txBox="1"/>
          <p:nvPr/>
        </p:nvSpPr>
        <p:spPr>
          <a:xfrm>
            <a:off x="9738360" y="3465576"/>
            <a:ext cx="1097280" cy="548640"/>
          </a:xfrm>
          <a:prstGeom prst="rect">
            <a:avLst/>
          </a:prstGeom>
          <a:noFill/>
          <a:ln/>
        </p:spPr>
        <p:txBody>
          <a:bodyPr wrap="square" lIns="0" tIns="0" rIns="0" bIns="0" rtlCol="0" anchor="ctr"/>
          <a:lstStyle/>
          <a:p>
            <a:pPr indent="0" marL="0">
              <a:buNone/>
            </a:pPr>
            <a:r>
              <a:rPr lang="en-US" sz="2800" b="1" dirty="0">
                <a:solidFill>
                  <a:srgbClr val="C2410C"/>
                </a:solidFill>
              </a:rPr>
              <a:t>+ v</a:t>
            </a:r>
            <a:endParaRPr lang="en-US" sz="2800" dirty="0"/>
          </a:p>
        </p:txBody>
      </p:sp>
      <p:sp>
        <p:nvSpPr>
          <p:cNvPr id="31" name="Shape 29"/>
          <p:cNvSpPr/>
          <p:nvPr/>
        </p:nvSpPr>
        <p:spPr>
          <a:xfrm>
            <a:off x="6400800" y="4078224"/>
            <a:ext cx="3108960" cy="457200"/>
          </a:xfrm>
          <a:prstGeom prst="roundRect">
            <a:avLst>
              <a:gd name="adj" fmla="val 12000"/>
            </a:avLst>
          </a:prstGeom>
          <a:solidFill>
            <a:srgbClr val="E5E7EB"/>
          </a:solidFill>
          <a:ln w="12700">
            <a:solidFill>
              <a:srgbClr val="E5E7EB"/>
            </a:solidFill>
            <a:prstDash val="solid"/>
          </a:ln>
        </p:spPr>
      </p:sp>
      <p:sp>
        <p:nvSpPr>
          <p:cNvPr id="32" name="Shape 30"/>
          <p:cNvSpPr/>
          <p:nvPr/>
        </p:nvSpPr>
        <p:spPr>
          <a:xfrm>
            <a:off x="6400800" y="4645152"/>
            <a:ext cx="3108960" cy="457200"/>
          </a:xfrm>
          <a:prstGeom prst="roundRect">
            <a:avLst>
              <a:gd name="adj" fmla="val 12000"/>
            </a:avLst>
          </a:prstGeom>
          <a:solidFill>
            <a:srgbClr val="E5E7EB"/>
          </a:solidFill>
          <a:ln w="12700">
            <a:solidFill>
              <a:srgbClr val="E5E7EB"/>
            </a:solidFill>
            <a:prstDash val="solid"/>
          </a:ln>
        </p:spPr>
      </p:sp>
      <p:sp>
        <p:nvSpPr>
          <p:cNvPr id="33" name="Shape 31"/>
          <p:cNvSpPr/>
          <p:nvPr/>
        </p:nvSpPr>
        <p:spPr>
          <a:xfrm>
            <a:off x="6400800" y="5394960"/>
            <a:ext cx="4846320" cy="384048"/>
          </a:xfrm>
          <a:prstGeom prst="roundRect">
            <a:avLst>
              <a:gd name="adj" fmla="val 50000"/>
            </a:avLst>
          </a:prstGeom>
          <a:solidFill>
            <a:srgbClr val="DCFCE7"/>
          </a:solidFill>
          <a:ln w="12700">
            <a:solidFill>
              <a:srgbClr val="DCFCE7"/>
            </a:solidFill>
            <a:prstDash val="solid"/>
          </a:ln>
        </p:spPr>
      </p:sp>
      <p:sp>
        <p:nvSpPr>
          <p:cNvPr id="34" name="Text 32"/>
          <p:cNvSpPr txBox="1"/>
          <p:nvPr/>
        </p:nvSpPr>
        <p:spPr>
          <a:xfrm>
            <a:off x="6400800" y="5394960"/>
            <a:ext cx="4846320" cy="384048"/>
          </a:xfrm>
          <a:prstGeom prst="rect">
            <a:avLst/>
          </a:prstGeom>
          <a:noFill/>
          <a:ln/>
        </p:spPr>
        <p:txBody>
          <a:bodyPr wrap="square" lIns="0" tIns="0" rIns="0" bIns="0" rtlCol="0" anchor="ctr"/>
          <a:lstStyle/>
          <a:p>
            <a:pPr algn="ctr" indent="0" marL="0">
              <a:buNone/>
            </a:pPr>
            <a:r>
              <a:rPr lang="en-US" sz="1300" b="1" dirty="0">
                <a:solidFill>
                  <a:srgbClr val="166534"/>
                </a:solidFill>
              </a:rPr>
              <a:t>one vector addition  ·  versus billions of tokens of training</a:t>
            </a:r>
            <a:endParaRPr lang="en-US" sz="1300" dirty="0"/>
          </a:p>
        </p:txBody>
      </p:sp>
      <p:sp>
        <p:nvSpPr>
          <p:cNvPr id="35"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Compute the “medical” direction once, add it at inference. </a:t>
            </a:r>
            <a:pPr indent="0" marL="0">
              <a:buNone/>
            </a:pPr>
            <a:r>
              <a:rPr lang="en-US" sz="1800" b="1" i="1" dirty="0">
                <a:solidFill>
                  <a:srgbClr val="6B7280"/>
                </a:solidFill>
              </a:rPr>
              <a:t>The model says what it already knew.</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PART 1 · THE RESULT</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Where you nudge matters. </a:t>
            </a:r>
            <a:pPr algn="l" indent="0" marL="0">
              <a:buNone/>
            </a:pPr>
            <a:r>
              <a:rPr lang="en-US" sz="3200" b="1" i="1" dirty="0">
                <a:solidFill>
                  <a:srgbClr val="6B7280"/>
                </a:solidFill>
              </a:rPr>
              <a:t>Facts live in the MLPs.</a:t>
            </a:r>
            <a:endParaRPr lang="en-US" sz="3200" dirty="0"/>
          </a:p>
        </p:txBody>
      </p:sp>
      <p:sp>
        <p:nvSpPr>
          <p:cNvPr id="4" name="Shape 2"/>
          <p:cNvSpPr/>
          <p:nvPr/>
        </p:nvSpPr>
        <p:spPr>
          <a:xfrm>
            <a:off x="914400" y="4023360"/>
            <a:ext cx="1280160" cy="1188720"/>
          </a:xfrm>
          <a:prstGeom prst="rect">
            <a:avLst/>
          </a:prstGeom>
          <a:solidFill>
            <a:srgbClr val="9CA3AF"/>
          </a:solidFill>
          <a:ln w="12700">
            <a:solidFill>
              <a:srgbClr val="9CA3AF"/>
            </a:solidFill>
            <a:prstDash val="solid"/>
          </a:ln>
        </p:spPr>
      </p:sp>
      <p:sp>
        <p:nvSpPr>
          <p:cNvPr id="5" name="Text 3"/>
          <p:cNvSpPr txBox="1"/>
          <p:nvPr/>
        </p:nvSpPr>
        <p:spPr>
          <a:xfrm>
            <a:off x="731520" y="3639312"/>
            <a:ext cx="1645920" cy="365760"/>
          </a:xfrm>
          <a:prstGeom prst="rect">
            <a:avLst/>
          </a:prstGeom>
          <a:noFill/>
          <a:ln/>
        </p:spPr>
        <p:txBody>
          <a:bodyPr wrap="square" lIns="0" tIns="0" rIns="0" bIns="0" rtlCol="0" anchor="ctr"/>
          <a:lstStyle/>
          <a:p>
            <a:pPr algn="ctr" indent="0" marL="0">
              <a:buNone/>
            </a:pPr>
            <a:r>
              <a:rPr lang="en-US" sz="1600" b="1" dirty="0">
                <a:solidFill>
                  <a:srgbClr val="6B7280"/>
                </a:solidFill>
              </a:rPr>
              <a:t>+21%</a:t>
            </a:r>
            <a:endParaRPr lang="en-US" sz="1600" dirty="0"/>
          </a:p>
        </p:txBody>
      </p:sp>
      <p:sp>
        <p:nvSpPr>
          <p:cNvPr id="6" name="Shape 4"/>
          <p:cNvSpPr/>
          <p:nvPr/>
        </p:nvSpPr>
        <p:spPr>
          <a:xfrm>
            <a:off x="2651760" y="3566160"/>
            <a:ext cx="1280160" cy="1645920"/>
          </a:xfrm>
          <a:prstGeom prst="rect">
            <a:avLst/>
          </a:prstGeom>
          <a:solidFill>
            <a:srgbClr val="9CA3AF"/>
          </a:solidFill>
          <a:ln w="12700">
            <a:solidFill>
              <a:srgbClr val="9CA3AF"/>
            </a:solidFill>
            <a:prstDash val="solid"/>
          </a:ln>
        </p:spPr>
      </p:sp>
      <p:sp>
        <p:nvSpPr>
          <p:cNvPr id="7" name="Text 5"/>
          <p:cNvSpPr txBox="1"/>
          <p:nvPr/>
        </p:nvSpPr>
        <p:spPr>
          <a:xfrm>
            <a:off x="2468880" y="3182112"/>
            <a:ext cx="1645920" cy="365760"/>
          </a:xfrm>
          <a:prstGeom prst="rect">
            <a:avLst/>
          </a:prstGeom>
          <a:noFill/>
          <a:ln/>
        </p:spPr>
        <p:txBody>
          <a:bodyPr wrap="square" lIns="0" tIns="0" rIns="0" bIns="0" rtlCol="0" anchor="ctr"/>
          <a:lstStyle/>
          <a:p>
            <a:pPr algn="ctr" indent="0" marL="0">
              <a:buNone/>
            </a:pPr>
            <a:r>
              <a:rPr lang="en-US" sz="1600" b="1" dirty="0">
                <a:solidFill>
                  <a:srgbClr val="6B7280"/>
                </a:solidFill>
              </a:rPr>
              <a:t>+29%</a:t>
            </a:r>
            <a:endParaRPr lang="en-US" sz="1600" dirty="0"/>
          </a:p>
        </p:txBody>
      </p:sp>
      <p:sp>
        <p:nvSpPr>
          <p:cNvPr id="8" name="Shape 6"/>
          <p:cNvSpPr/>
          <p:nvPr/>
        </p:nvSpPr>
        <p:spPr>
          <a:xfrm>
            <a:off x="4389120" y="2651760"/>
            <a:ext cx="1280160" cy="2560320"/>
          </a:xfrm>
          <a:prstGeom prst="rect">
            <a:avLst/>
          </a:prstGeom>
          <a:solidFill>
            <a:srgbClr val="C2410C"/>
          </a:solidFill>
          <a:ln w="12700">
            <a:solidFill>
              <a:srgbClr val="C2410C"/>
            </a:solidFill>
            <a:prstDash val="solid"/>
          </a:ln>
        </p:spPr>
      </p:sp>
      <p:sp>
        <p:nvSpPr>
          <p:cNvPr id="9" name="Text 7"/>
          <p:cNvSpPr txBox="1"/>
          <p:nvPr/>
        </p:nvSpPr>
        <p:spPr>
          <a:xfrm>
            <a:off x="4206240" y="2267712"/>
            <a:ext cx="1645920" cy="365760"/>
          </a:xfrm>
          <a:prstGeom prst="rect">
            <a:avLst/>
          </a:prstGeom>
          <a:noFill/>
          <a:ln/>
        </p:spPr>
        <p:txBody>
          <a:bodyPr wrap="square" lIns="0" tIns="0" rIns="0" bIns="0" rtlCol="0" anchor="ctr"/>
          <a:lstStyle/>
          <a:p>
            <a:pPr algn="ctr" indent="0" marL="0">
              <a:buNone/>
            </a:pPr>
            <a:r>
              <a:rPr lang="en-US" sz="1600" b="1" dirty="0">
                <a:solidFill>
                  <a:srgbClr val="C2410C"/>
                </a:solidFill>
              </a:rPr>
              <a:t>+45%</a:t>
            </a:r>
            <a:endParaRPr lang="en-US" sz="1600" dirty="0"/>
          </a:p>
        </p:txBody>
      </p:sp>
      <p:sp>
        <p:nvSpPr>
          <p:cNvPr id="10" name="Shape 8"/>
          <p:cNvSpPr/>
          <p:nvPr/>
        </p:nvSpPr>
        <p:spPr>
          <a:xfrm>
            <a:off x="777240" y="5212080"/>
            <a:ext cx="5212080" cy="0"/>
          </a:xfrm>
          <a:prstGeom prst="line">
            <a:avLst/>
          </a:prstGeom>
          <a:noFill/>
          <a:ln w="25400">
            <a:solidFill>
              <a:srgbClr val="111827"/>
            </a:solidFill>
            <a:prstDash val="solid"/>
          </a:ln>
        </p:spPr>
      </p:sp>
      <p:sp>
        <p:nvSpPr>
          <p:cNvPr id="11" name="Text 9"/>
          <p:cNvSpPr txBox="1"/>
          <p:nvPr/>
        </p:nvSpPr>
        <p:spPr>
          <a:xfrm>
            <a:off x="731520" y="5285232"/>
            <a:ext cx="1645920" cy="640080"/>
          </a:xfrm>
          <a:prstGeom prst="rect">
            <a:avLst/>
          </a:prstGeom>
          <a:noFill/>
          <a:ln/>
        </p:spPr>
        <p:txBody>
          <a:bodyPr wrap="square" lIns="0" tIns="0" rIns="0" bIns="0" rtlCol="0" anchor="t"/>
          <a:lstStyle/>
          <a:p>
            <a:pPr algn="ctr" indent="0" marL="0">
              <a:buNone/>
            </a:pPr>
            <a:r>
              <a:rPr lang="en-US" sz="1400" b="1" dirty="0">
                <a:solidFill>
                  <a:srgbClr val="374151"/>
                </a:solidFill>
              </a:rPr>
              <a:t>residual stream</a:t>
            </a:r>
            <a:pPr algn="ctr" indent="0" marL="0">
              <a:buNone/>
            </a:pPr>
            <a:endParaRPr lang="en-US" sz="1400" dirty="0"/>
          </a:p>
          <a:p>
            <a:pPr algn="ctr" indent="0" marL="0">
              <a:buNone/>
            </a:pPr>
            <a:r>
              <a:rPr lang="en-US" sz="1400" dirty="0">
                <a:solidFill>
                  <a:srgbClr val="6B7280"/>
                </a:solidFill>
              </a:rPr>
              <a:t>the usual spot</a:t>
            </a:r>
            <a:endParaRPr lang="en-US" sz="1400" dirty="0"/>
          </a:p>
        </p:txBody>
      </p:sp>
      <p:sp>
        <p:nvSpPr>
          <p:cNvPr id="12" name="Text 10"/>
          <p:cNvSpPr txBox="1"/>
          <p:nvPr/>
        </p:nvSpPr>
        <p:spPr>
          <a:xfrm>
            <a:off x="2468880" y="5285232"/>
            <a:ext cx="1645920" cy="640080"/>
          </a:xfrm>
          <a:prstGeom prst="rect">
            <a:avLst/>
          </a:prstGeom>
          <a:noFill/>
          <a:ln/>
        </p:spPr>
        <p:txBody>
          <a:bodyPr wrap="square" lIns="0" tIns="0" rIns="0" bIns="0" rtlCol="0" anchor="t"/>
          <a:lstStyle/>
          <a:p>
            <a:pPr algn="ctr" indent="0" marL="0">
              <a:buNone/>
            </a:pPr>
            <a:r>
              <a:rPr lang="en-US" sz="1400" b="1" dirty="0">
                <a:solidFill>
                  <a:srgbClr val="374151"/>
                </a:solidFill>
              </a:rPr>
              <a:t>attention</a:t>
            </a:r>
            <a:pPr algn="ctr" indent="0" marL="0">
              <a:buNone/>
            </a:pPr>
            <a:endParaRPr lang="en-US" sz="1400" dirty="0"/>
          </a:p>
        </p:txBody>
      </p:sp>
      <p:sp>
        <p:nvSpPr>
          <p:cNvPr id="13" name="Text 11"/>
          <p:cNvSpPr txBox="1"/>
          <p:nvPr/>
        </p:nvSpPr>
        <p:spPr>
          <a:xfrm>
            <a:off x="4206240" y="5285232"/>
            <a:ext cx="1645920" cy="640080"/>
          </a:xfrm>
          <a:prstGeom prst="rect">
            <a:avLst/>
          </a:prstGeom>
          <a:noFill/>
          <a:ln/>
        </p:spPr>
        <p:txBody>
          <a:bodyPr wrap="square" lIns="0" tIns="0" rIns="0" bIns="0" rtlCol="0" anchor="t"/>
          <a:lstStyle/>
          <a:p>
            <a:pPr algn="ctr" indent="0" marL="0">
              <a:buNone/>
            </a:pPr>
            <a:r>
              <a:rPr lang="en-US" sz="1400" b="1" dirty="0">
                <a:solidFill>
                  <a:srgbClr val="C2410C"/>
                </a:solidFill>
              </a:rPr>
              <a:t>MLP</a:t>
            </a:r>
            <a:pPr algn="ctr" indent="0" marL="0">
              <a:buNone/>
            </a:pPr>
            <a:endParaRPr lang="en-US" sz="1400" dirty="0"/>
          </a:p>
        </p:txBody>
      </p:sp>
      <p:sp>
        <p:nvSpPr>
          <p:cNvPr id="14" name="Shape 12"/>
          <p:cNvSpPr/>
          <p:nvPr/>
        </p:nvSpPr>
        <p:spPr>
          <a:xfrm>
            <a:off x="6766560" y="2377440"/>
            <a:ext cx="4754880" cy="1188720"/>
          </a:xfrm>
          <a:prstGeom prst="roundRect">
            <a:avLst>
              <a:gd name="adj" fmla="val 9231"/>
            </a:avLst>
          </a:prstGeom>
          <a:solidFill>
            <a:srgbClr val="F9FAFB"/>
          </a:solidFill>
          <a:ln w="12700">
            <a:solidFill>
              <a:srgbClr val="E5E7EB"/>
            </a:solidFill>
            <a:prstDash val="solid"/>
          </a:ln>
        </p:spPr>
      </p:sp>
      <p:sp>
        <p:nvSpPr>
          <p:cNvPr id="15" name="Text 13"/>
          <p:cNvSpPr txBox="1"/>
          <p:nvPr/>
        </p:nvSpPr>
        <p:spPr>
          <a:xfrm>
            <a:off x="6995160" y="2468880"/>
            <a:ext cx="4389120" cy="320040"/>
          </a:xfrm>
          <a:prstGeom prst="rect">
            <a:avLst/>
          </a:prstGeom>
          <a:noFill/>
          <a:ln/>
        </p:spPr>
        <p:txBody>
          <a:bodyPr wrap="square" lIns="0" tIns="0" rIns="0" bIns="0" rtlCol="0" anchor="ctr"/>
          <a:lstStyle/>
          <a:p>
            <a:pPr indent="0" marL="0">
              <a:buNone/>
            </a:pPr>
            <a:r>
              <a:rPr lang="en-US" sz="1200" b="1" spc="200" kern="0" dirty="0">
                <a:solidFill>
                  <a:srgbClr val="6B7280"/>
                </a:solidFill>
              </a:rPr>
              <a:t>FACTS · MEDICAL, LAW</a:t>
            </a:r>
            <a:endParaRPr lang="en-US" sz="1200" dirty="0"/>
          </a:p>
        </p:txBody>
      </p:sp>
      <p:sp>
        <p:nvSpPr>
          <p:cNvPr id="16" name="Text 14"/>
          <p:cNvSpPr txBox="1"/>
          <p:nvPr/>
        </p:nvSpPr>
        <p:spPr>
          <a:xfrm>
            <a:off x="6995160" y="2834640"/>
            <a:ext cx="4389120" cy="548640"/>
          </a:xfrm>
          <a:prstGeom prst="rect">
            <a:avLst/>
          </a:prstGeom>
          <a:noFill/>
          <a:ln/>
        </p:spPr>
        <p:txBody>
          <a:bodyPr wrap="square" lIns="0" tIns="0" rIns="0" bIns="0" rtlCol="0" anchor="ctr"/>
          <a:lstStyle/>
          <a:p>
            <a:pPr indent="0" marL="0">
              <a:buNone/>
            </a:pPr>
            <a:r>
              <a:rPr lang="en-US" sz="2000" b="1" dirty="0">
                <a:solidFill>
                  <a:srgbClr val="111827"/>
                </a:solidFill>
              </a:rPr>
              <a:t>MLP wins, in 3 of 3 models</a:t>
            </a:r>
            <a:endParaRPr lang="en-US" sz="2000" dirty="0"/>
          </a:p>
        </p:txBody>
      </p:sp>
      <p:sp>
        <p:nvSpPr>
          <p:cNvPr id="17" name="Shape 15"/>
          <p:cNvSpPr/>
          <p:nvPr/>
        </p:nvSpPr>
        <p:spPr>
          <a:xfrm>
            <a:off x="6766560" y="3840480"/>
            <a:ext cx="4754880" cy="1188720"/>
          </a:xfrm>
          <a:prstGeom prst="roundRect">
            <a:avLst>
              <a:gd name="adj" fmla="val 9231"/>
            </a:avLst>
          </a:prstGeom>
          <a:solidFill>
            <a:srgbClr val="F9FAFB"/>
          </a:solidFill>
          <a:ln w="12700">
            <a:solidFill>
              <a:srgbClr val="E5E7EB"/>
            </a:solidFill>
            <a:prstDash val="solid"/>
          </a:ln>
        </p:spPr>
      </p:sp>
      <p:sp>
        <p:nvSpPr>
          <p:cNvPr id="18" name="Text 16"/>
          <p:cNvSpPr txBox="1"/>
          <p:nvPr/>
        </p:nvSpPr>
        <p:spPr>
          <a:xfrm>
            <a:off x="6995160" y="3931920"/>
            <a:ext cx="4389120" cy="320040"/>
          </a:xfrm>
          <a:prstGeom prst="rect">
            <a:avLst/>
          </a:prstGeom>
          <a:noFill/>
          <a:ln/>
        </p:spPr>
        <p:txBody>
          <a:bodyPr wrap="square" lIns="0" tIns="0" rIns="0" bIns="0" rtlCol="0" anchor="ctr"/>
          <a:lstStyle/>
          <a:p>
            <a:pPr indent="0" marL="0">
              <a:buNone/>
            </a:pPr>
            <a:r>
              <a:rPr lang="en-US" sz="1200" b="1" spc="200" kern="0" dirty="0">
                <a:solidFill>
                  <a:srgbClr val="6B7280"/>
                </a:solidFill>
              </a:rPr>
              <a:t>BEHAVIOUR · TONE</a:t>
            </a:r>
            <a:endParaRPr lang="en-US" sz="1200" dirty="0"/>
          </a:p>
        </p:txBody>
      </p:sp>
      <p:sp>
        <p:nvSpPr>
          <p:cNvPr id="19" name="Text 17"/>
          <p:cNvSpPr txBox="1"/>
          <p:nvPr/>
        </p:nvSpPr>
        <p:spPr>
          <a:xfrm>
            <a:off x="6995160" y="4297680"/>
            <a:ext cx="4389120" cy="548640"/>
          </a:xfrm>
          <a:prstGeom prst="rect">
            <a:avLst/>
          </a:prstGeom>
          <a:noFill/>
          <a:ln/>
        </p:spPr>
        <p:txBody>
          <a:bodyPr wrap="square" lIns="0" tIns="0" rIns="0" bIns="0" rtlCol="0" anchor="ctr"/>
          <a:lstStyle/>
          <a:p>
            <a:pPr indent="0" marL="0">
              <a:buNone/>
            </a:pPr>
            <a:r>
              <a:rPr lang="en-US" sz="2000" b="1" dirty="0">
                <a:solidFill>
                  <a:srgbClr val="111827"/>
                </a:solidFill>
              </a:rPr>
              <a:t>attention wins, MLP can even hurt</a:t>
            </a:r>
            <a:endParaRPr lang="en-US" sz="2000" dirty="0"/>
          </a:p>
        </p:txBody>
      </p:sp>
      <p:sp>
        <p:nvSpPr>
          <p:cNvPr id="20"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Cheap and nothing forgotten. </a:t>
            </a:r>
            <a:pPr indent="0" marL="0">
              <a:buNone/>
            </a:pPr>
            <a:r>
              <a:rPr lang="en-US" sz="1800" b="1" i="1" dirty="0">
                <a:solidFill>
                  <a:srgbClr val="6B7280"/>
                </a:solidFill>
              </a:rPr>
              <a:t>But it can only surface what the model has already read.</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PART 2 · NEW KNOWLEDGE</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Yesterday's news isn't in there. </a:t>
            </a:r>
            <a:pPr algn="l" indent="0" marL="0">
              <a:buNone/>
            </a:pPr>
            <a:r>
              <a:rPr lang="en-US" sz="3200" b="1" i="1" dirty="0">
                <a:solidFill>
                  <a:srgbClr val="6B7280"/>
                </a:solidFill>
              </a:rPr>
              <a:t>Now it has to read.</a:t>
            </a:r>
            <a:endParaRPr lang="en-US" sz="3200" dirty="0"/>
          </a:p>
        </p:txBody>
      </p:sp>
      <p:sp>
        <p:nvSpPr>
          <p:cNvPr id="4" name="Shape 2"/>
          <p:cNvSpPr/>
          <p:nvPr/>
        </p:nvSpPr>
        <p:spPr>
          <a:xfrm>
            <a:off x="640080" y="2286000"/>
            <a:ext cx="4206240" cy="1417320"/>
          </a:xfrm>
          <a:prstGeom prst="roundRect">
            <a:avLst>
              <a:gd name="adj" fmla="val 7742"/>
            </a:avLst>
          </a:prstGeom>
          <a:solidFill>
            <a:srgbClr val="F9FAFB"/>
          </a:solidFill>
          <a:ln w="12700">
            <a:solidFill>
              <a:srgbClr val="E5E7EB"/>
            </a:solidFill>
            <a:prstDash val="solid"/>
          </a:ln>
        </p:spPr>
      </p:sp>
      <p:sp>
        <p:nvSpPr>
          <p:cNvPr id="5" name="Text 3"/>
          <p:cNvSpPr txBox="1"/>
          <p:nvPr/>
        </p:nvSpPr>
        <p:spPr>
          <a:xfrm>
            <a:off x="868680" y="2377440"/>
            <a:ext cx="3840480" cy="274320"/>
          </a:xfrm>
          <a:prstGeom prst="rect">
            <a:avLst/>
          </a:prstGeom>
          <a:noFill/>
          <a:ln/>
        </p:spPr>
        <p:txBody>
          <a:bodyPr wrap="square" lIns="0" tIns="0" rIns="0" bIns="0" rtlCol="0" anchor="ctr"/>
          <a:lstStyle/>
          <a:p>
            <a:pPr indent="0" marL="0">
              <a:buNone/>
            </a:pPr>
            <a:r>
              <a:rPr lang="en-US" sz="1100" b="1" spc="200" kern="0" dirty="0">
                <a:solidFill>
                  <a:srgbClr val="6B7280"/>
                </a:solidFill>
              </a:rPr>
              <a:t>RETRAIN FROM SCRATCH</a:t>
            </a:r>
            <a:endParaRPr lang="en-US" sz="1100" dirty="0"/>
          </a:p>
        </p:txBody>
      </p:sp>
      <p:sp>
        <p:nvSpPr>
          <p:cNvPr id="6" name="Text 4"/>
          <p:cNvSpPr txBox="1"/>
          <p:nvPr/>
        </p:nvSpPr>
        <p:spPr>
          <a:xfrm>
            <a:off x="868680" y="2651760"/>
            <a:ext cx="3840480" cy="609600"/>
          </a:xfrm>
          <a:prstGeom prst="rect">
            <a:avLst/>
          </a:prstGeom>
          <a:noFill/>
          <a:ln/>
        </p:spPr>
        <p:txBody>
          <a:bodyPr wrap="square" lIns="0" tIns="0" rIns="0" bIns="0" rtlCol="0" anchor="ctr"/>
          <a:lstStyle/>
          <a:p>
            <a:pPr indent="0" marL="0">
              <a:buNone/>
            </a:pPr>
            <a:r>
              <a:rPr lang="en-US" sz="4000" b="1" dirty="0">
                <a:solidFill>
                  <a:srgbClr val="111827"/>
                </a:solidFill>
                <a:latin typeface="Cambria" pitchFamily="34" charset="0"/>
                <a:ea typeface="Cambria" pitchFamily="34" charset="-122"/>
                <a:cs typeface="Cambria" pitchFamily="34" charset="-120"/>
              </a:rPr>
              <a:t>trillions</a:t>
            </a:r>
            <a:endParaRPr lang="en-US" sz="4000" dirty="0"/>
          </a:p>
        </p:txBody>
      </p:sp>
      <p:sp>
        <p:nvSpPr>
          <p:cNvPr id="7" name="Text 5"/>
          <p:cNvSpPr txBox="1"/>
          <p:nvPr/>
        </p:nvSpPr>
        <p:spPr>
          <a:xfrm>
            <a:off x="868680" y="3291840"/>
            <a:ext cx="3840480" cy="365760"/>
          </a:xfrm>
          <a:prstGeom prst="rect">
            <a:avLst/>
          </a:prstGeom>
          <a:noFill/>
          <a:ln/>
        </p:spPr>
        <p:txBody>
          <a:bodyPr wrap="square" lIns="0" tIns="0" rIns="0" bIns="0" rtlCol="0" anchor="ctr"/>
          <a:lstStyle/>
          <a:p>
            <a:pPr indent="0" marL="0">
              <a:buNone/>
            </a:pPr>
            <a:r>
              <a:rPr lang="en-US" sz="1300" dirty="0">
                <a:solidFill>
                  <a:srgbClr val="374151"/>
                </a:solidFill>
              </a:rPr>
              <a:t>of tokens, millions of dollars, every few months</a:t>
            </a:r>
            <a:endParaRPr lang="en-US" sz="1300" dirty="0"/>
          </a:p>
        </p:txBody>
      </p:sp>
      <p:sp>
        <p:nvSpPr>
          <p:cNvPr id="8" name="Shape 6"/>
          <p:cNvSpPr/>
          <p:nvPr/>
        </p:nvSpPr>
        <p:spPr>
          <a:xfrm>
            <a:off x="640080" y="3931920"/>
            <a:ext cx="4206240" cy="1417320"/>
          </a:xfrm>
          <a:prstGeom prst="roundRect">
            <a:avLst>
              <a:gd name="adj" fmla="val 7742"/>
            </a:avLst>
          </a:prstGeom>
          <a:solidFill>
            <a:srgbClr val="FFF7ED"/>
          </a:solidFill>
          <a:ln w="12700">
            <a:solidFill>
              <a:srgbClr val="FDBA74"/>
            </a:solidFill>
            <a:prstDash val="solid"/>
          </a:ln>
        </p:spPr>
      </p:sp>
      <p:sp>
        <p:nvSpPr>
          <p:cNvPr id="9" name="Text 7"/>
          <p:cNvSpPr txBox="1"/>
          <p:nvPr/>
        </p:nvSpPr>
        <p:spPr>
          <a:xfrm>
            <a:off x="868680" y="4023360"/>
            <a:ext cx="3840480" cy="274320"/>
          </a:xfrm>
          <a:prstGeom prst="rect">
            <a:avLst/>
          </a:prstGeom>
          <a:noFill/>
          <a:ln/>
        </p:spPr>
        <p:txBody>
          <a:bodyPr wrap="square" lIns="0" tIns="0" rIns="0" bIns="0" rtlCol="0" anchor="ctr"/>
          <a:lstStyle/>
          <a:p>
            <a:pPr indent="0" marL="0">
              <a:buNone/>
            </a:pPr>
            <a:r>
              <a:rPr lang="en-US" sz="1100" b="1" spc="200" kern="0" dirty="0">
                <a:solidFill>
                  <a:srgbClr val="C2410C"/>
                </a:solidFill>
              </a:rPr>
              <a:t>CONTINUED PRETRAINING</a:t>
            </a:r>
            <a:endParaRPr lang="en-US" sz="1100" dirty="0"/>
          </a:p>
        </p:txBody>
      </p:sp>
      <p:sp>
        <p:nvSpPr>
          <p:cNvPr id="10" name="Text 8"/>
          <p:cNvSpPr txBox="1"/>
          <p:nvPr/>
        </p:nvSpPr>
        <p:spPr>
          <a:xfrm>
            <a:off x="868680" y="4297680"/>
            <a:ext cx="3840480" cy="609600"/>
          </a:xfrm>
          <a:prstGeom prst="rect">
            <a:avLst/>
          </a:prstGeom>
          <a:noFill/>
          <a:ln/>
        </p:spPr>
        <p:txBody>
          <a:bodyPr wrap="square" lIns="0" tIns="0" rIns="0" bIns="0" rtlCol="0" anchor="ctr"/>
          <a:lstStyle/>
          <a:p>
            <a:pPr indent="0" marL="0">
              <a:buNone/>
            </a:pPr>
            <a:r>
              <a:rPr lang="en-US" sz="4000" b="1" dirty="0">
                <a:solidFill>
                  <a:srgbClr val="C2410C"/>
                </a:solidFill>
                <a:latin typeface="Cambria" pitchFamily="34" charset="0"/>
                <a:ea typeface="Cambria" pitchFamily="34" charset="-122"/>
                <a:cs typeface="Cambria" pitchFamily="34" charset="-120"/>
              </a:rPr>
              <a:t>~6 billion</a:t>
            </a:r>
            <a:endParaRPr lang="en-US" sz="4000" dirty="0"/>
          </a:p>
        </p:txBody>
      </p:sp>
      <p:sp>
        <p:nvSpPr>
          <p:cNvPr id="11" name="Text 9"/>
          <p:cNvSpPr txBox="1"/>
          <p:nvPr/>
        </p:nvSpPr>
        <p:spPr>
          <a:xfrm>
            <a:off x="868680" y="4937760"/>
            <a:ext cx="3840480" cy="365760"/>
          </a:xfrm>
          <a:prstGeom prst="rect">
            <a:avLst/>
          </a:prstGeom>
          <a:noFill/>
          <a:ln/>
        </p:spPr>
        <p:txBody>
          <a:bodyPr wrap="square" lIns="0" tIns="0" rIns="0" bIns="0" rtlCol="0" anchor="ctr"/>
          <a:lstStyle/>
          <a:p>
            <a:pPr indent="0" marL="0">
              <a:buNone/>
            </a:pPr>
            <a:r>
              <a:rPr lang="en-US" sz="1300" dirty="0">
                <a:solidFill>
                  <a:srgbClr val="374151"/>
                </a:solidFill>
              </a:rPr>
              <a:t>tokens of fresh news, same recipe, a few days</a:t>
            </a:r>
            <a:endParaRPr lang="en-US" sz="1300" dirty="0"/>
          </a:p>
        </p:txBody>
      </p:sp>
      <p:sp>
        <p:nvSpPr>
          <p:cNvPr id="12" name="Shape 10"/>
          <p:cNvSpPr/>
          <p:nvPr/>
        </p:nvSpPr>
        <p:spPr>
          <a:xfrm>
            <a:off x="5852160" y="2743200"/>
            <a:ext cx="640080" cy="2103120"/>
          </a:xfrm>
          <a:prstGeom prst="rect">
            <a:avLst/>
          </a:prstGeom>
          <a:solidFill>
            <a:srgbClr val="C2410C"/>
          </a:solidFill>
          <a:ln w="12700">
            <a:solidFill>
              <a:srgbClr val="C2410C"/>
            </a:solidFill>
            <a:prstDash val="solid"/>
          </a:ln>
        </p:spPr>
      </p:sp>
      <p:sp>
        <p:nvSpPr>
          <p:cNvPr id="13" name="Text 11"/>
          <p:cNvSpPr txBox="1"/>
          <p:nvPr/>
        </p:nvSpPr>
        <p:spPr>
          <a:xfrm>
            <a:off x="5669280" y="2359152"/>
            <a:ext cx="1005840" cy="365760"/>
          </a:xfrm>
          <a:prstGeom prst="rect">
            <a:avLst/>
          </a:prstGeom>
          <a:noFill/>
          <a:ln/>
        </p:spPr>
        <p:txBody>
          <a:bodyPr wrap="square" lIns="0" tIns="0" rIns="0" bIns="0" rtlCol="0" anchor="ctr"/>
          <a:lstStyle/>
          <a:p>
            <a:pPr algn="ctr" indent="0" marL="0">
              <a:buNone/>
            </a:pPr>
            <a:r>
              <a:rPr lang="en-US" sz="1600" b="1" dirty="0">
                <a:solidFill>
                  <a:srgbClr val="C2410C"/>
                </a:solidFill>
              </a:rPr>
              <a:t>+8</a:t>
            </a:r>
            <a:endParaRPr lang="en-US" sz="1600" dirty="0"/>
          </a:p>
        </p:txBody>
      </p:sp>
      <p:sp>
        <p:nvSpPr>
          <p:cNvPr id="14" name="Shape 12"/>
          <p:cNvSpPr/>
          <p:nvPr/>
        </p:nvSpPr>
        <p:spPr>
          <a:xfrm>
            <a:off x="6583680" y="4343400"/>
            <a:ext cx="640080" cy="502920"/>
          </a:xfrm>
          <a:prstGeom prst="rect">
            <a:avLst/>
          </a:prstGeom>
          <a:solidFill>
            <a:srgbClr val="9CA3AF"/>
          </a:solidFill>
          <a:ln w="12700">
            <a:solidFill>
              <a:srgbClr val="9CA3AF"/>
            </a:solidFill>
            <a:prstDash val="solid"/>
          </a:ln>
        </p:spPr>
      </p:sp>
      <p:sp>
        <p:nvSpPr>
          <p:cNvPr id="15" name="Text 13"/>
          <p:cNvSpPr txBox="1"/>
          <p:nvPr/>
        </p:nvSpPr>
        <p:spPr>
          <a:xfrm>
            <a:off x="6400800" y="3959352"/>
            <a:ext cx="1005840" cy="365760"/>
          </a:xfrm>
          <a:prstGeom prst="rect">
            <a:avLst/>
          </a:prstGeom>
          <a:noFill/>
          <a:ln/>
        </p:spPr>
        <p:txBody>
          <a:bodyPr wrap="square" lIns="0" tIns="0" rIns="0" bIns="0" rtlCol="0" anchor="ctr"/>
          <a:lstStyle/>
          <a:p>
            <a:pPr algn="ctr" indent="0" marL="0">
              <a:buNone/>
            </a:pPr>
            <a:r>
              <a:rPr lang="en-US" sz="1600" b="1" dirty="0">
                <a:solidFill>
                  <a:srgbClr val="6B7280"/>
                </a:solidFill>
              </a:rPr>
              <a:t>+2</a:t>
            </a:r>
            <a:endParaRPr lang="en-US" sz="1600" dirty="0"/>
          </a:p>
        </p:txBody>
      </p:sp>
      <p:sp>
        <p:nvSpPr>
          <p:cNvPr id="16" name="Shape 14"/>
          <p:cNvSpPr/>
          <p:nvPr/>
        </p:nvSpPr>
        <p:spPr>
          <a:xfrm>
            <a:off x="7772400" y="3566160"/>
            <a:ext cx="640080" cy="1280160"/>
          </a:xfrm>
          <a:prstGeom prst="rect">
            <a:avLst/>
          </a:prstGeom>
          <a:solidFill>
            <a:srgbClr val="C2410C"/>
          </a:solidFill>
          <a:ln w="12700">
            <a:solidFill>
              <a:srgbClr val="C2410C"/>
            </a:solidFill>
            <a:prstDash val="solid"/>
          </a:ln>
        </p:spPr>
      </p:sp>
      <p:sp>
        <p:nvSpPr>
          <p:cNvPr id="17" name="Text 15"/>
          <p:cNvSpPr txBox="1"/>
          <p:nvPr/>
        </p:nvSpPr>
        <p:spPr>
          <a:xfrm>
            <a:off x="7589520" y="3182112"/>
            <a:ext cx="1005840" cy="365760"/>
          </a:xfrm>
          <a:prstGeom prst="rect">
            <a:avLst/>
          </a:prstGeom>
          <a:noFill/>
          <a:ln/>
        </p:spPr>
        <p:txBody>
          <a:bodyPr wrap="square" lIns="0" tIns="0" rIns="0" bIns="0" rtlCol="0" anchor="ctr"/>
          <a:lstStyle/>
          <a:p>
            <a:pPr algn="ctr" indent="0" marL="0">
              <a:buNone/>
            </a:pPr>
            <a:r>
              <a:rPr lang="en-US" sz="1600" b="1" dirty="0">
                <a:solidFill>
                  <a:srgbClr val="C2410C"/>
                </a:solidFill>
              </a:rPr>
              <a:t>+5</a:t>
            </a:r>
            <a:endParaRPr lang="en-US" sz="1600" dirty="0"/>
          </a:p>
        </p:txBody>
      </p:sp>
      <p:sp>
        <p:nvSpPr>
          <p:cNvPr id="18" name="Shape 16"/>
          <p:cNvSpPr/>
          <p:nvPr/>
        </p:nvSpPr>
        <p:spPr>
          <a:xfrm>
            <a:off x="8503920" y="4572000"/>
            <a:ext cx="640080" cy="274320"/>
          </a:xfrm>
          <a:prstGeom prst="rect">
            <a:avLst/>
          </a:prstGeom>
          <a:solidFill>
            <a:srgbClr val="9CA3AF"/>
          </a:solidFill>
          <a:ln w="12700">
            <a:solidFill>
              <a:srgbClr val="9CA3AF"/>
            </a:solidFill>
            <a:prstDash val="solid"/>
          </a:ln>
        </p:spPr>
      </p:sp>
      <p:sp>
        <p:nvSpPr>
          <p:cNvPr id="19" name="Text 17"/>
          <p:cNvSpPr txBox="1"/>
          <p:nvPr/>
        </p:nvSpPr>
        <p:spPr>
          <a:xfrm>
            <a:off x="8321040" y="4187952"/>
            <a:ext cx="1005840" cy="365760"/>
          </a:xfrm>
          <a:prstGeom prst="rect">
            <a:avLst/>
          </a:prstGeom>
          <a:noFill/>
          <a:ln/>
        </p:spPr>
        <p:txBody>
          <a:bodyPr wrap="square" lIns="0" tIns="0" rIns="0" bIns="0" rtlCol="0" anchor="ctr"/>
          <a:lstStyle/>
          <a:p>
            <a:pPr algn="ctr" indent="0" marL="0">
              <a:buNone/>
            </a:pPr>
            <a:r>
              <a:rPr lang="en-US" sz="1600" b="1" dirty="0">
                <a:solidFill>
                  <a:srgbClr val="6B7280"/>
                </a:solidFill>
              </a:rPr>
              <a:t>+1</a:t>
            </a:r>
            <a:endParaRPr lang="en-US" sz="1600" dirty="0"/>
          </a:p>
        </p:txBody>
      </p:sp>
      <p:sp>
        <p:nvSpPr>
          <p:cNvPr id="20" name="Shape 18"/>
          <p:cNvSpPr/>
          <p:nvPr/>
        </p:nvSpPr>
        <p:spPr>
          <a:xfrm>
            <a:off x="9692640" y="3657600"/>
            <a:ext cx="640080" cy="1188720"/>
          </a:xfrm>
          <a:prstGeom prst="rect">
            <a:avLst/>
          </a:prstGeom>
          <a:solidFill>
            <a:srgbClr val="C2410C"/>
          </a:solidFill>
          <a:ln w="12700">
            <a:solidFill>
              <a:srgbClr val="C2410C"/>
            </a:solidFill>
            <a:prstDash val="solid"/>
          </a:ln>
        </p:spPr>
      </p:sp>
      <p:sp>
        <p:nvSpPr>
          <p:cNvPr id="21" name="Text 19"/>
          <p:cNvSpPr txBox="1"/>
          <p:nvPr/>
        </p:nvSpPr>
        <p:spPr>
          <a:xfrm>
            <a:off x="9509760" y="3273552"/>
            <a:ext cx="1005840" cy="365760"/>
          </a:xfrm>
          <a:prstGeom prst="rect">
            <a:avLst/>
          </a:prstGeom>
          <a:noFill/>
          <a:ln/>
        </p:spPr>
        <p:txBody>
          <a:bodyPr wrap="square" lIns="0" tIns="0" rIns="0" bIns="0" rtlCol="0" anchor="ctr"/>
          <a:lstStyle/>
          <a:p>
            <a:pPr algn="ctr" indent="0" marL="0">
              <a:buNone/>
            </a:pPr>
            <a:r>
              <a:rPr lang="en-US" sz="1600" b="1" dirty="0">
                <a:solidFill>
                  <a:srgbClr val="C2410C"/>
                </a:solidFill>
              </a:rPr>
              <a:t>+4.5</a:t>
            </a:r>
            <a:endParaRPr lang="en-US" sz="1600" dirty="0"/>
          </a:p>
        </p:txBody>
      </p:sp>
      <p:sp>
        <p:nvSpPr>
          <p:cNvPr id="22" name="Shape 20"/>
          <p:cNvSpPr/>
          <p:nvPr/>
        </p:nvSpPr>
        <p:spPr>
          <a:xfrm>
            <a:off x="10424160" y="4818888"/>
            <a:ext cx="640080" cy="27432"/>
          </a:xfrm>
          <a:prstGeom prst="rect">
            <a:avLst/>
          </a:prstGeom>
          <a:solidFill>
            <a:srgbClr val="9CA3AF"/>
          </a:solidFill>
          <a:ln w="12700">
            <a:solidFill>
              <a:srgbClr val="9CA3AF"/>
            </a:solidFill>
            <a:prstDash val="solid"/>
          </a:ln>
        </p:spPr>
      </p:sp>
      <p:sp>
        <p:nvSpPr>
          <p:cNvPr id="23" name="Text 21"/>
          <p:cNvSpPr txBox="1"/>
          <p:nvPr/>
        </p:nvSpPr>
        <p:spPr>
          <a:xfrm>
            <a:off x="10241280" y="4434840"/>
            <a:ext cx="1005840" cy="365760"/>
          </a:xfrm>
          <a:prstGeom prst="rect">
            <a:avLst/>
          </a:prstGeom>
          <a:noFill/>
          <a:ln/>
        </p:spPr>
        <p:txBody>
          <a:bodyPr wrap="square" lIns="0" tIns="0" rIns="0" bIns="0" rtlCol="0" anchor="ctr"/>
          <a:lstStyle/>
          <a:p>
            <a:pPr algn="ctr" indent="0" marL="0">
              <a:buNone/>
            </a:pPr>
            <a:r>
              <a:rPr lang="en-US" sz="1600" b="1" dirty="0">
                <a:solidFill>
                  <a:srgbClr val="6B7280"/>
                </a:solidFill>
              </a:rPr>
              <a:t>0</a:t>
            </a:r>
            <a:endParaRPr lang="en-US" sz="1600" dirty="0"/>
          </a:p>
        </p:txBody>
      </p:sp>
      <p:sp>
        <p:nvSpPr>
          <p:cNvPr id="24" name="Shape 22"/>
          <p:cNvSpPr/>
          <p:nvPr/>
        </p:nvSpPr>
        <p:spPr>
          <a:xfrm>
            <a:off x="5715000" y="4846320"/>
            <a:ext cx="5760720" cy="0"/>
          </a:xfrm>
          <a:prstGeom prst="line">
            <a:avLst/>
          </a:prstGeom>
          <a:noFill/>
          <a:ln w="25400">
            <a:solidFill>
              <a:srgbClr val="111827"/>
            </a:solidFill>
            <a:prstDash val="solid"/>
          </a:ln>
        </p:spPr>
      </p:sp>
      <p:sp>
        <p:nvSpPr>
          <p:cNvPr id="25" name="Shape 23"/>
          <p:cNvSpPr/>
          <p:nvPr/>
        </p:nvSpPr>
        <p:spPr>
          <a:xfrm>
            <a:off x="6675120" y="5074920"/>
            <a:ext cx="201168" cy="201168"/>
          </a:xfrm>
          <a:prstGeom prst="rect">
            <a:avLst/>
          </a:prstGeom>
          <a:solidFill>
            <a:srgbClr val="C2410C"/>
          </a:solidFill>
          <a:ln w="12700">
            <a:solidFill>
              <a:srgbClr val="C2410C"/>
            </a:solidFill>
            <a:prstDash val="solid"/>
          </a:ln>
        </p:spPr>
      </p:sp>
      <p:sp>
        <p:nvSpPr>
          <p:cNvPr id="26" name="Text 24"/>
          <p:cNvSpPr txBox="1"/>
          <p:nvPr/>
        </p:nvSpPr>
        <p:spPr>
          <a:xfrm>
            <a:off x="6949440" y="5029200"/>
            <a:ext cx="1097280" cy="292608"/>
          </a:xfrm>
          <a:prstGeom prst="rect">
            <a:avLst/>
          </a:prstGeom>
          <a:noFill/>
          <a:ln/>
        </p:spPr>
        <p:txBody>
          <a:bodyPr wrap="square" lIns="0" tIns="0" rIns="0" bIns="0" rtlCol="0" anchor="ctr"/>
          <a:lstStyle/>
          <a:p>
            <a:pPr indent="0" marL="0">
              <a:buNone/>
            </a:pPr>
            <a:r>
              <a:rPr lang="en-US" sz="1300" b="1" dirty="0">
                <a:solidFill>
                  <a:srgbClr val="374151"/>
                </a:solidFill>
              </a:rPr>
              <a:t>news</a:t>
            </a:r>
            <a:endParaRPr lang="en-US" sz="1300" dirty="0"/>
          </a:p>
        </p:txBody>
      </p:sp>
      <p:sp>
        <p:nvSpPr>
          <p:cNvPr id="27" name="Shape 25"/>
          <p:cNvSpPr/>
          <p:nvPr/>
        </p:nvSpPr>
        <p:spPr>
          <a:xfrm>
            <a:off x="8138160" y="5074920"/>
            <a:ext cx="201168" cy="201168"/>
          </a:xfrm>
          <a:prstGeom prst="rect">
            <a:avLst/>
          </a:prstGeom>
          <a:solidFill>
            <a:srgbClr val="9CA3AF"/>
          </a:solidFill>
          <a:ln w="12700">
            <a:solidFill>
              <a:srgbClr val="9CA3AF"/>
            </a:solidFill>
            <a:prstDash val="solid"/>
          </a:ln>
        </p:spPr>
      </p:sp>
      <p:sp>
        <p:nvSpPr>
          <p:cNvPr id="28" name="Text 26"/>
          <p:cNvSpPr txBox="1"/>
          <p:nvPr/>
        </p:nvSpPr>
        <p:spPr>
          <a:xfrm>
            <a:off x="8412480" y="5029200"/>
            <a:ext cx="2194560" cy="292608"/>
          </a:xfrm>
          <a:prstGeom prst="rect">
            <a:avLst/>
          </a:prstGeom>
          <a:noFill/>
          <a:ln/>
        </p:spPr>
        <p:txBody>
          <a:bodyPr wrap="square" lIns="0" tIns="0" rIns="0" bIns="0" rtlCol="0" anchor="ctr"/>
          <a:lstStyle/>
          <a:p>
            <a:pPr indent="0" marL="0">
              <a:buNone/>
            </a:pPr>
            <a:r>
              <a:rPr lang="en-US" sz="1300" b="1" dirty="0">
                <a:solidFill>
                  <a:srgbClr val="374151"/>
                </a:solidFill>
              </a:rPr>
              <a:t>random web text</a:t>
            </a:r>
            <a:endParaRPr lang="en-US" sz="1300" dirty="0"/>
          </a:p>
        </p:txBody>
      </p:sp>
      <p:sp>
        <p:nvSpPr>
          <p:cNvPr id="29" name="Text 27"/>
          <p:cNvSpPr txBox="1"/>
          <p:nvPr/>
        </p:nvSpPr>
        <p:spPr>
          <a:xfrm>
            <a:off x="5760720" y="5394960"/>
            <a:ext cx="5486400" cy="274320"/>
          </a:xfrm>
          <a:prstGeom prst="rect">
            <a:avLst/>
          </a:prstGeom>
          <a:noFill/>
          <a:ln/>
        </p:spPr>
        <p:txBody>
          <a:bodyPr wrap="square" lIns="0" tIns="0" rIns="0" bIns="0" rtlCol="0" anchor="ctr"/>
          <a:lstStyle/>
          <a:p>
            <a:pPr indent="0" marL="0">
              <a:buNone/>
            </a:pPr>
            <a:r>
              <a:rPr lang="en-US" sz="1200" dirty="0">
                <a:solidFill>
                  <a:srgbClr val="6B7280"/>
                </a:solidFill>
              </a:rPr>
              <a:t>new facts learned, three quizzes, eight models</a:t>
            </a:r>
            <a:endParaRPr lang="en-US" sz="1200" dirty="0"/>
          </a:p>
        </p:txBody>
      </p:sp>
      <p:sp>
        <p:nvSpPr>
          <p:cNvPr id="30"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It works: news teaches 2–4× more than web text. </a:t>
            </a:r>
            <a:pPr indent="0" marL="0">
              <a:buNone/>
            </a:pPr>
            <a:r>
              <a:rPr lang="en-US" sz="1800" b="1" i="1" dirty="0">
                <a:solidFill>
                  <a:srgbClr val="6B7280"/>
                </a:solidFill>
              </a:rPr>
              <a:t>So what happens inside when we do this?</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PART 2 · FIRST QUESTION</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Trained on English news. Asked in German. </a:t>
            </a:r>
            <a:pPr algn="l" indent="0" marL="0">
              <a:buNone/>
            </a:pPr>
            <a:r>
              <a:rPr lang="en-US" sz="3200" b="1" i="1" dirty="0">
                <a:solidFill>
                  <a:srgbClr val="6B7280"/>
                </a:solidFill>
              </a:rPr>
              <a:t>Does it know?</a:t>
            </a:r>
            <a:endParaRPr lang="en-US" sz="3200" dirty="0"/>
          </a:p>
        </p:txBody>
      </p:sp>
      <p:sp>
        <p:nvSpPr>
          <p:cNvPr id="4" name="Text 2"/>
          <p:cNvSpPr txBox="1"/>
          <p:nvPr/>
        </p:nvSpPr>
        <p:spPr>
          <a:xfrm>
            <a:off x="914400" y="2240280"/>
            <a:ext cx="2011680" cy="320040"/>
          </a:xfrm>
          <a:prstGeom prst="rect">
            <a:avLst/>
          </a:prstGeom>
          <a:noFill/>
          <a:ln/>
        </p:spPr>
        <p:txBody>
          <a:bodyPr wrap="square" lIns="0" tIns="0" rIns="0" bIns="0" rtlCol="0" anchor="ctr"/>
          <a:lstStyle/>
          <a:p>
            <a:pPr algn="ctr" indent="0" marL="0">
              <a:buNone/>
            </a:pPr>
            <a:r>
              <a:rPr lang="en-US" sz="1400" b="1" dirty="0">
                <a:solidFill>
                  <a:srgbClr val="6B7280"/>
                </a:solidFill>
              </a:rPr>
              <a:t>reads news in</a:t>
            </a:r>
            <a:endParaRPr lang="en-US" sz="1400" dirty="0"/>
          </a:p>
        </p:txBody>
      </p:sp>
      <p:sp>
        <p:nvSpPr>
          <p:cNvPr id="5" name="Shape 3"/>
          <p:cNvSpPr/>
          <p:nvPr/>
        </p:nvSpPr>
        <p:spPr>
          <a:xfrm>
            <a:off x="914400" y="2651760"/>
            <a:ext cx="2011680" cy="548640"/>
          </a:xfrm>
          <a:prstGeom prst="roundRect">
            <a:avLst>
              <a:gd name="adj" fmla="val 16667"/>
            </a:avLst>
          </a:prstGeom>
          <a:solidFill>
            <a:srgbClr val="2563EB"/>
          </a:solidFill>
          <a:ln w="12700">
            <a:solidFill>
              <a:srgbClr val="2563EB"/>
            </a:solidFill>
            <a:prstDash val="solid"/>
          </a:ln>
        </p:spPr>
      </p:sp>
      <p:sp>
        <p:nvSpPr>
          <p:cNvPr id="6" name="Text 4"/>
          <p:cNvSpPr txBox="1"/>
          <p:nvPr/>
        </p:nvSpPr>
        <p:spPr>
          <a:xfrm>
            <a:off x="914400" y="2651760"/>
            <a:ext cx="2011680" cy="548640"/>
          </a:xfrm>
          <a:prstGeom prst="rect">
            <a:avLst/>
          </a:prstGeom>
          <a:noFill/>
          <a:ln/>
        </p:spPr>
        <p:txBody>
          <a:bodyPr wrap="square" lIns="0" tIns="0" rIns="0" bIns="0" rtlCol="0" anchor="ctr"/>
          <a:lstStyle/>
          <a:p>
            <a:pPr algn="ctr" indent="0" marL="0">
              <a:buNone/>
            </a:pPr>
            <a:r>
              <a:rPr lang="en-US" sz="2000" b="1" dirty="0">
                <a:solidFill>
                  <a:srgbClr val="FFFFFF"/>
                </a:solidFill>
              </a:rPr>
              <a:t>EN</a:t>
            </a:r>
            <a:endParaRPr lang="en-US" sz="2000" dirty="0"/>
          </a:p>
        </p:txBody>
      </p:sp>
      <p:sp>
        <p:nvSpPr>
          <p:cNvPr id="7" name="Shape 5"/>
          <p:cNvSpPr/>
          <p:nvPr/>
        </p:nvSpPr>
        <p:spPr>
          <a:xfrm>
            <a:off x="914400" y="3383280"/>
            <a:ext cx="2011680" cy="548640"/>
          </a:xfrm>
          <a:prstGeom prst="roundRect">
            <a:avLst>
              <a:gd name="adj" fmla="val 16667"/>
            </a:avLst>
          </a:prstGeom>
          <a:solidFill>
            <a:srgbClr val="D97706"/>
          </a:solidFill>
          <a:ln w="12700">
            <a:solidFill>
              <a:srgbClr val="D97706"/>
            </a:solidFill>
            <a:prstDash val="solid"/>
          </a:ln>
        </p:spPr>
      </p:sp>
      <p:sp>
        <p:nvSpPr>
          <p:cNvPr id="8" name="Text 6"/>
          <p:cNvSpPr txBox="1"/>
          <p:nvPr/>
        </p:nvSpPr>
        <p:spPr>
          <a:xfrm>
            <a:off x="914400" y="3383280"/>
            <a:ext cx="2011680" cy="548640"/>
          </a:xfrm>
          <a:prstGeom prst="rect">
            <a:avLst/>
          </a:prstGeom>
          <a:noFill/>
          <a:ln/>
        </p:spPr>
        <p:txBody>
          <a:bodyPr wrap="square" lIns="0" tIns="0" rIns="0" bIns="0" rtlCol="0" anchor="ctr"/>
          <a:lstStyle/>
          <a:p>
            <a:pPr algn="ctr" indent="0" marL="0">
              <a:buNone/>
            </a:pPr>
            <a:r>
              <a:rPr lang="en-US" sz="2000" b="1" dirty="0">
                <a:solidFill>
                  <a:srgbClr val="FFFFFF"/>
                </a:solidFill>
              </a:rPr>
              <a:t>DE</a:t>
            </a:r>
            <a:endParaRPr lang="en-US" sz="2000" dirty="0"/>
          </a:p>
        </p:txBody>
      </p:sp>
      <p:sp>
        <p:nvSpPr>
          <p:cNvPr id="9" name="Shape 7"/>
          <p:cNvSpPr/>
          <p:nvPr/>
        </p:nvSpPr>
        <p:spPr>
          <a:xfrm>
            <a:off x="914400" y="4114800"/>
            <a:ext cx="2011680" cy="548640"/>
          </a:xfrm>
          <a:prstGeom prst="roundRect">
            <a:avLst>
              <a:gd name="adj" fmla="val 16667"/>
            </a:avLst>
          </a:prstGeom>
          <a:solidFill>
            <a:srgbClr val="7C3AED"/>
          </a:solidFill>
          <a:ln w="12700">
            <a:solidFill>
              <a:srgbClr val="7C3AED"/>
            </a:solidFill>
            <a:prstDash val="solid"/>
          </a:ln>
        </p:spPr>
      </p:sp>
      <p:sp>
        <p:nvSpPr>
          <p:cNvPr id="10" name="Text 8"/>
          <p:cNvSpPr txBox="1"/>
          <p:nvPr/>
        </p:nvSpPr>
        <p:spPr>
          <a:xfrm>
            <a:off x="914400" y="4114800"/>
            <a:ext cx="2011680" cy="548640"/>
          </a:xfrm>
          <a:prstGeom prst="rect">
            <a:avLst/>
          </a:prstGeom>
          <a:noFill/>
          <a:ln/>
        </p:spPr>
        <p:txBody>
          <a:bodyPr wrap="square" lIns="0" tIns="0" rIns="0" bIns="0" rtlCol="0" anchor="ctr"/>
          <a:lstStyle/>
          <a:p>
            <a:pPr algn="ctr" indent="0" marL="0">
              <a:buNone/>
            </a:pPr>
            <a:r>
              <a:rPr lang="en-US" sz="2000" b="1" dirty="0">
                <a:solidFill>
                  <a:srgbClr val="FFFFFF"/>
                </a:solidFill>
              </a:rPr>
              <a:t>FR</a:t>
            </a:r>
            <a:endParaRPr lang="en-US" sz="2000" dirty="0"/>
          </a:p>
        </p:txBody>
      </p:sp>
      <p:sp>
        <p:nvSpPr>
          <p:cNvPr id="11" name="Shape 9"/>
          <p:cNvSpPr/>
          <p:nvPr/>
        </p:nvSpPr>
        <p:spPr>
          <a:xfrm>
            <a:off x="3291840" y="3429000"/>
            <a:ext cx="1188720" cy="502920"/>
          </a:xfrm>
          <a:prstGeom prst="rightArrow">
            <a:avLst/>
          </a:prstGeom>
          <a:solidFill>
            <a:srgbClr val="9CA3AF"/>
          </a:solidFill>
          <a:ln w="12700">
            <a:solidFill>
              <a:srgbClr val="9CA3AF"/>
            </a:solidFill>
            <a:prstDash val="solid"/>
          </a:ln>
        </p:spPr>
      </p:sp>
      <p:sp>
        <p:nvSpPr>
          <p:cNvPr id="12" name="Text 10"/>
          <p:cNvSpPr txBox="1"/>
          <p:nvPr/>
        </p:nvSpPr>
        <p:spPr>
          <a:xfrm>
            <a:off x="4754880" y="3154680"/>
            <a:ext cx="2651760" cy="457200"/>
          </a:xfrm>
          <a:prstGeom prst="rect">
            <a:avLst/>
          </a:prstGeom>
          <a:noFill/>
          <a:ln/>
        </p:spPr>
        <p:txBody>
          <a:bodyPr wrap="square" lIns="0" tIns="0" rIns="0" bIns="0" rtlCol="0" anchor="ctr"/>
          <a:lstStyle/>
          <a:p>
            <a:pPr algn="ctr" indent="0" marL="0">
              <a:buNone/>
            </a:pPr>
            <a:r>
              <a:rPr lang="en-US" sz="2400" b="1" dirty="0">
                <a:solidFill>
                  <a:srgbClr val="111827"/>
                </a:solidFill>
              </a:rPr>
              <a:t>plain LLM</a:t>
            </a:r>
            <a:endParaRPr lang="en-US" sz="2400" dirty="0"/>
          </a:p>
        </p:txBody>
      </p:sp>
      <p:sp>
        <p:nvSpPr>
          <p:cNvPr id="13" name="Text 11"/>
          <p:cNvSpPr txBox="1"/>
          <p:nvPr/>
        </p:nvSpPr>
        <p:spPr>
          <a:xfrm>
            <a:off x="4754880" y="3611880"/>
            <a:ext cx="2651760" cy="365760"/>
          </a:xfrm>
          <a:prstGeom prst="rect">
            <a:avLst/>
          </a:prstGeom>
          <a:noFill/>
          <a:ln/>
        </p:spPr>
        <p:txBody>
          <a:bodyPr wrap="square" lIns="0" tIns="0" rIns="0" bIns="0" rtlCol="0" anchor="ctr"/>
          <a:lstStyle/>
          <a:p>
            <a:pPr algn="ctr" indent="0" marL="0">
              <a:buNone/>
            </a:pPr>
            <a:r>
              <a:rPr lang="en-US" sz="1400" dirty="0">
                <a:solidFill>
                  <a:srgbClr val="6B7280"/>
                </a:solidFill>
              </a:rPr>
              <a:t>no reasoning</a:t>
            </a:r>
            <a:endParaRPr lang="en-US" sz="1400" dirty="0"/>
          </a:p>
        </p:txBody>
      </p:sp>
      <p:sp>
        <p:nvSpPr>
          <p:cNvPr id="14" name="Shape 12"/>
          <p:cNvSpPr/>
          <p:nvPr/>
        </p:nvSpPr>
        <p:spPr>
          <a:xfrm>
            <a:off x="7680960" y="3429000"/>
            <a:ext cx="1188720" cy="502920"/>
          </a:xfrm>
          <a:prstGeom prst="rightArrow">
            <a:avLst/>
          </a:prstGeom>
          <a:solidFill>
            <a:srgbClr val="9CA3AF"/>
          </a:solidFill>
          <a:ln w="12700">
            <a:solidFill>
              <a:srgbClr val="9CA3AF"/>
            </a:solidFill>
            <a:prstDash val="solid"/>
          </a:ln>
        </p:spPr>
      </p:sp>
      <p:sp>
        <p:nvSpPr>
          <p:cNvPr id="15" name="Text 13"/>
          <p:cNvSpPr txBox="1"/>
          <p:nvPr/>
        </p:nvSpPr>
        <p:spPr>
          <a:xfrm>
            <a:off x="9144000" y="2240280"/>
            <a:ext cx="2103120" cy="320040"/>
          </a:xfrm>
          <a:prstGeom prst="rect">
            <a:avLst/>
          </a:prstGeom>
          <a:noFill/>
          <a:ln/>
        </p:spPr>
        <p:txBody>
          <a:bodyPr wrap="square" lIns="0" tIns="0" rIns="0" bIns="0" rtlCol="0" anchor="ctr"/>
          <a:lstStyle/>
          <a:p>
            <a:pPr algn="ctr" indent="0" marL="0">
              <a:buNone/>
            </a:pPr>
            <a:r>
              <a:rPr lang="en-US" sz="1400" b="1" dirty="0">
                <a:solidFill>
                  <a:srgbClr val="6B7280"/>
                </a:solidFill>
              </a:rPr>
              <a:t>same fact asked in</a:t>
            </a:r>
            <a:endParaRPr lang="en-US" sz="1400" dirty="0"/>
          </a:p>
        </p:txBody>
      </p:sp>
      <p:sp>
        <p:nvSpPr>
          <p:cNvPr id="16" name="Shape 14"/>
          <p:cNvSpPr/>
          <p:nvPr/>
        </p:nvSpPr>
        <p:spPr>
          <a:xfrm>
            <a:off x="9144000" y="2651760"/>
            <a:ext cx="2103120" cy="548640"/>
          </a:xfrm>
          <a:prstGeom prst="roundRect">
            <a:avLst>
              <a:gd name="adj" fmla="val 16667"/>
            </a:avLst>
          </a:prstGeom>
          <a:solidFill>
            <a:srgbClr val="FFFFFF"/>
          </a:solidFill>
          <a:ln w="31750">
            <a:solidFill>
              <a:srgbClr val="2563EB"/>
            </a:solidFill>
            <a:prstDash val="solid"/>
          </a:ln>
        </p:spPr>
      </p:sp>
      <p:sp>
        <p:nvSpPr>
          <p:cNvPr id="17" name="Text 15"/>
          <p:cNvSpPr txBox="1"/>
          <p:nvPr/>
        </p:nvSpPr>
        <p:spPr>
          <a:xfrm>
            <a:off x="9144000" y="2651760"/>
            <a:ext cx="2103120" cy="548640"/>
          </a:xfrm>
          <a:prstGeom prst="rect">
            <a:avLst/>
          </a:prstGeom>
          <a:noFill/>
          <a:ln/>
        </p:spPr>
        <p:txBody>
          <a:bodyPr wrap="square" lIns="0" tIns="0" rIns="0" bIns="0" rtlCol="0" anchor="ctr"/>
          <a:lstStyle/>
          <a:p>
            <a:pPr algn="ctr" indent="0" marL="0">
              <a:buNone/>
            </a:pPr>
            <a:r>
              <a:rPr lang="en-US" sz="2000" b="1" dirty="0">
                <a:solidFill>
                  <a:srgbClr val="111827"/>
                </a:solidFill>
              </a:rPr>
              <a:t>EN</a:t>
            </a:r>
            <a:endParaRPr lang="en-US" sz="2000" dirty="0"/>
          </a:p>
        </p:txBody>
      </p:sp>
      <p:sp>
        <p:nvSpPr>
          <p:cNvPr id="18" name="Shape 16"/>
          <p:cNvSpPr/>
          <p:nvPr/>
        </p:nvSpPr>
        <p:spPr>
          <a:xfrm>
            <a:off x="9144000" y="3383280"/>
            <a:ext cx="2103120" cy="548640"/>
          </a:xfrm>
          <a:prstGeom prst="roundRect">
            <a:avLst>
              <a:gd name="adj" fmla="val 16667"/>
            </a:avLst>
          </a:prstGeom>
          <a:solidFill>
            <a:srgbClr val="FFFFFF"/>
          </a:solidFill>
          <a:ln w="31750">
            <a:solidFill>
              <a:srgbClr val="D97706"/>
            </a:solidFill>
            <a:prstDash val="solid"/>
          </a:ln>
        </p:spPr>
      </p:sp>
      <p:sp>
        <p:nvSpPr>
          <p:cNvPr id="19" name="Text 17"/>
          <p:cNvSpPr txBox="1"/>
          <p:nvPr/>
        </p:nvSpPr>
        <p:spPr>
          <a:xfrm>
            <a:off x="9144000" y="3383280"/>
            <a:ext cx="2103120" cy="548640"/>
          </a:xfrm>
          <a:prstGeom prst="rect">
            <a:avLst/>
          </a:prstGeom>
          <a:noFill/>
          <a:ln/>
        </p:spPr>
        <p:txBody>
          <a:bodyPr wrap="square" lIns="0" tIns="0" rIns="0" bIns="0" rtlCol="0" anchor="ctr"/>
          <a:lstStyle/>
          <a:p>
            <a:pPr algn="ctr" indent="0" marL="0">
              <a:buNone/>
            </a:pPr>
            <a:r>
              <a:rPr lang="en-US" sz="2000" b="1" dirty="0">
                <a:solidFill>
                  <a:srgbClr val="111827"/>
                </a:solidFill>
              </a:rPr>
              <a:t>DE</a:t>
            </a:r>
            <a:endParaRPr lang="en-US" sz="2000" dirty="0"/>
          </a:p>
        </p:txBody>
      </p:sp>
      <p:sp>
        <p:nvSpPr>
          <p:cNvPr id="20" name="Shape 18"/>
          <p:cNvSpPr/>
          <p:nvPr/>
        </p:nvSpPr>
        <p:spPr>
          <a:xfrm>
            <a:off x="9144000" y="4114800"/>
            <a:ext cx="2103120" cy="548640"/>
          </a:xfrm>
          <a:prstGeom prst="roundRect">
            <a:avLst>
              <a:gd name="adj" fmla="val 16667"/>
            </a:avLst>
          </a:prstGeom>
          <a:solidFill>
            <a:srgbClr val="FFFFFF"/>
          </a:solidFill>
          <a:ln w="31750">
            <a:solidFill>
              <a:srgbClr val="7C3AED"/>
            </a:solidFill>
            <a:prstDash val="solid"/>
          </a:ln>
        </p:spPr>
      </p:sp>
      <p:sp>
        <p:nvSpPr>
          <p:cNvPr id="21" name="Text 19"/>
          <p:cNvSpPr txBox="1"/>
          <p:nvPr/>
        </p:nvSpPr>
        <p:spPr>
          <a:xfrm>
            <a:off x="9144000" y="4114800"/>
            <a:ext cx="2103120" cy="548640"/>
          </a:xfrm>
          <a:prstGeom prst="rect">
            <a:avLst/>
          </a:prstGeom>
          <a:noFill/>
          <a:ln/>
        </p:spPr>
        <p:txBody>
          <a:bodyPr wrap="square" lIns="0" tIns="0" rIns="0" bIns="0" rtlCol="0" anchor="ctr"/>
          <a:lstStyle/>
          <a:p>
            <a:pPr algn="ctr" indent="0" marL="0">
              <a:buNone/>
            </a:pPr>
            <a:r>
              <a:rPr lang="en-US" sz="2000" b="1" dirty="0">
                <a:solidFill>
                  <a:srgbClr val="111827"/>
                </a:solidFill>
              </a:rPr>
              <a:t>FR</a:t>
            </a:r>
            <a:endParaRPr lang="en-US" sz="2000" dirty="0"/>
          </a:p>
        </p:txBody>
      </p:sp>
      <p:sp>
        <p:nvSpPr>
          <p:cNvPr id="22"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Same facts, three languages, every combination. </a:t>
            </a:r>
            <a:pPr indent="0" marL="0">
              <a:buNone/>
            </a:pPr>
            <a:r>
              <a:rPr lang="en-US" sz="1800" b="1" i="1" dirty="0">
                <a:solidFill>
                  <a:srgbClr val="6B7280"/>
                </a:solidFill>
              </a:rPr>
              <a:t>What's your guess?</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THE ANSWER</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Knowledge mostly doesn't speak a language. </a:t>
            </a:r>
            <a:pPr algn="l" indent="0" marL="0">
              <a:buNone/>
            </a:pPr>
            <a:r>
              <a:rPr lang="en-US" sz="3200" b="1" i="1" dirty="0">
                <a:solidFill>
                  <a:srgbClr val="6B7280"/>
                </a:solidFill>
              </a:rPr>
              <a:t>~70% carries over.</a:t>
            </a:r>
            <a:endParaRPr lang="en-US" sz="3200" dirty="0"/>
          </a:p>
        </p:txBody>
      </p:sp>
      <p:sp>
        <p:nvSpPr>
          <p:cNvPr id="4" name="Text 2"/>
          <p:cNvSpPr txBox="1"/>
          <p:nvPr/>
        </p:nvSpPr>
        <p:spPr>
          <a:xfrm>
            <a:off x="640080" y="2103120"/>
            <a:ext cx="10908792" cy="1828800"/>
          </a:xfrm>
          <a:prstGeom prst="rect">
            <a:avLst/>
          </a:prstGeom>
          <a:noFill/>
          <a:ln/>
        </p:spPr>
        <p:txBody>
          <a:bodyPr wrap="square" lIns="0" tIns="0" rIns="0" bIns="0" rtlCol="0" anchor="ctr"/>
          <a:lstStyle/>
          <a:p>
            <a:pPr algn="ctr" indent="0" marL="0">
              <a:buNone/>
            </a:pPr>
            <a:r>
              <a:rPr lang="en-US" sz="12000" b="1" dirty="0">
                <a:solidFill>
                  <a:srgbClr val="C2410C"/>
                </a:solidFill>
                <a:latin typeface="Cambria" pitchFamily="34" charset="0"/>
                <a:ea typeface="Cambria" pitchFamily="34" charset="-122"/>
                <a:cs typeface="Cambria" pitchFamily="34" charset="-120"/>
              </a:rPr>
              <a:t>~70%</a:t>
            </a:r>
            <a:endParaRPr lang="en-US" sz="12000" dirty="0"/>
          </a:p>
        </p:txBody>
      </p:sp>
      <p:sp>
        <p:nvSpPr>
          <p:cNvPr id="5" name="Shape 3"/>
          <p:cNvSpPr/>
          <p:nvPr/>
        </p:nvSpPr>
        <p:spPr>
          <a:xfrm>
            <a:off x="1554480" y="4206240"/>
            <a:ext cx="9052560" cy="502920"/>
          </a:xfrm>
          <a:prstGeom prst="roundRect">
            <a:avLst>
              <a:gd name="adj" fmla="val 18182"/>
            </a:avLst>
          </a:prstGeom>
          <a:solidFill>
            <a:srgbClr val="F3F4F6"/>
          </a:solidFill>
          <a:ln w="12700">
            <a:solidFill>
              <a:srgbClr val="E5E7EB"/>
            </a:solidFill>
            <a:prstDash val="solid"/>
          </a:ln>
        </p:spPr>
      </p:sp>
      <p:sp>
        <p:nvSpPr>
          <p:cNvPr id="6" name="Shape 4"/>
          <p:cNvSpPr/>
          <p:nvPr/>
        </p:nvSpPr>
        <p:spPr>
          <a:xfrm>
            <a:off x="1554480" y="4206240"/>
            <a:ext cx="6336792" cy="502920"/>
          </a:xfrm>
          <a:prstGeom prst="roundRect">
            <a:avLst>
              <a:gd name="adj" fmla="val 18182"/>
            </a:avLst>
          </a:prstGeom>
          <a:solidFill>
            <a:srgbClr val="C2410C"/>
          </a:solidFill>
          <a:ln w="12700">
            <a:solidFill>
              <a:srgbClr val="C2410C"/>
            </a:solidFill>
            <a:prstDash val="solid"/>
          </a:ln>
        </p:spPr>
      </p:sp>
      <p:sp>
        <p:nvSpPr>
          <p:cNvPr id="7" name="Text 5"/>
          <p:cNvSpPr txBox="1"/>
          <p:nvPr/>
        </p:nvSpPr>
        <p:spPr>
          <a:xfrm>
            <a:off x="1554480" y="4800600"/>
            <a:ext cx="3657600" cy="320040"/>
          </a:xfrm>
          <a:prstGeom prst="rect">
            <a:avLst/>
          </a:prstGeom>
          <a:noFill/>
          <a:ln/>
        </p:spPr>
        <p:txBody>
          <a:bodyPr wrap="square" lIns="0" tIns="0" rIns="0" bIns="0" rtlCol="0" anchor="ctr"/>
          <a:lstStyle/>
          <a:p>
            <a:pPr indent="0" marL="0">
              <a:buNone/>
            </a:pPr>
            <a:r>
              <a:rPr lang="en-US" sz="1400" b="1" dirty="0">
                <a:solidFill>
                  <a:srgbClr val="6B7280"/>
                </a:solidFill>
              </a:rPr>
              <a:t>learned in English</a:t>
            </a:r>
            <a:endParaRPr lang="en-US" sz="1400" dirty="0"/>
          </a:p>
        </p:txBody>
      </p:sp>
      <p:sp>
        <p:nvSpPr>
          <p:cNvPr id="8" name="Text 6"/>
          <p:cNvSpPr txBox="1"/>
          <p:nvPr/>
        </p:nvSpPr>
        <p:spPr>
          <a:xfrm>
            <a:off x="6949440" y="4800600"/>
            <a:ext cx="3657600" cy="320040"/>
          </a:xfrm>
          <a:prstGeom prst="rect">
            <a:avLst/>
          </a:prstGeom>
          <a:noFill/>
          <a:ln/>
        </p:spPr>
        <p:txBody>
          <a:bodyPr wrap="square" lIns="0" tIns="0" rIns="0" bIns="0" rtlCol="0" anchor="ctr"/>
          <a:lstStyle/>
          <a:p>
            <a:pPr algn="r" indent="0" marL="0">
              <a:buNone/>
            </a:pPr>
            <a:r>
              <a:rPr lang="en-US" sz="1400" b="1" dirty="0">
                <a:solidFill>
                  <a:srgbClr val="6B7280"/>
                </a:solidFill>
              </a:rPr>
              <a:t>100% = as good as asking in English</a:t>
            </a:r>
            <a:endParaRPr lang="en-US" sz="1400" dirty="0"/>
          </a:p>
        </p:txBody>
      </p:sp>
      <p:sp>
        <p:nvSpPr>
          <p:cNvPr id="9"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Learn it once, use it in the other two. </a:t>
            </a:r>
            <a:pPr indent="0" marL="0">
              <a:buNone/>
            </a:pPr>
            <a:r>
              <a:rPr lang="en-US" sz="1800" b="1" i="1" dirty="0">
                <a:solidFill>
                  <a:srgbClr val="6B7280"/>
                </a:solidFill>
              </a:rPr>
              <a:t>Asking in the language it read is still a bit better.</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THE DRIVER</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The same curve as part 1. </a:t>
            </a:r>
            <a:pPr algn="l" indent="0" marL="0">
              <a:buNone/>
            </a:pPr>
            <a:r>
              <a:rPr lang="en-US" sz="3200" b="1" i="1" dirty="0">
                <a:solidFill>
                  <a:srgbClr val="6B7280"/>
                </a:solidFill>
              </a:rPr>
              <a:t>And the repeated facts are the ones that travel.</a:t>
            </a:r>
            <a:endParaRPr lang="en-US" sz="3200" dirty="0"/>
          </a:p>
        </p:txBody>
      </p:sp>
      <p:sp>
        <p:nvSpPr>
          <p:cNvPr id="4" name="Shape 2"/>
          <p:cNvSpPr/>
          <p:nvPr/>
        </p:nvSpPr>
        <p:spPr>
          <a:xfrm>
            <a:off x="1463040" y="4663440"/>
            <a:ext cx="914400" cy="365760"/>
          </a:xfrm>
          <a:prstGeom prst="rect">
            <a:avLst/>
          </a:prstGeom>
          <a:solidFill>
            <a:srgbClr val="C2410C"/>
          </a:solidFill>
          <a:ln w="12700">
            <a:solidFill>
              <a:srgbClr val="C2410C"/>
            </a:solidFill>
            <a:prstDash val="solid"/>
          </a:ln>
        </p:spPr>
      </p:sp>
      <p:sp>
        <p:nvSpPr>
          <p:cNvPr id="5" name="Text 3"/>
          <p:cNvSpPr txBox="1"/>
          <p:nvPr/>
        </p:nvSpPr>
        <p:spPr>
          <a:xfrm>
            <a:off x="1280160" y="4279392"/>
            <a:ext cx="1280160" cy="365760"/>
          </a:xfrm>
          <a:prstGeom prst="rect">
            <a:avLst/>
          </a:prstGeom>
          <a:noFill/>
          <a:ln/>
        </p:spPr>
        <p:txBody>
          <a:bodyPr wrap="square" lIns="0" tIns="0" rIns="0" bIns="0" rtlCol="0" anchor="ctr"/>
          <a:lstStyle/>
          <a:p>
            <a:pPr algn="ctr" indent="0" marL="0">
              <a:buNone/>
            </a:pPr>
            <a:r>
              <a:rPr lang="en-US" sz="1600" b="1" dirty="0">
                <a:solidFill>
                  <a:srgbClr val="C2410C"/>
                </a:solidFill>
              </a:rPr>
              <a:t>+2</a:t>
            </a:r>
            <a:endParaRPr lang="en-US" sz="1600" dirty="0"/>
          </a:p>
        </p:txBody>
      </p:sp>
      <p:sp>
        <p:nvSpPr>
          <p:cNvPr id="6" name="Shape 4"/>
          <p:cNvSpPr/>
          <p:nvPr/>
        </p:nvSpPr>
        <p:spPr>
          <a:xfrm>
            <a:off x="2560320" y="4681728"/>
            <a:ext cx="914400" cy="347472"/>
          </a:xfrm>
          <a:prstGeom prst="rect">
            <a:avLst/>
          </a:prstGeom>
          <a:solidFill>
            <a:srgbClr val="FDBA74"/>
          </a:solidFill>
          <a:ln w="12700">
            <a:solidFill>
              <a:srgbClr val="FDBA74"/>
            </a:solidFill>
            <a:prstDash val="solid"/>
          </a:ln>
        </p:spPr>
      </p:sp>
      <p:sp>
        <p:nvSpPr>
          <p:cNvPr id="7" name="Text 5"/>
          <p:cNvSpPr txBox="1"/>
          <p:nvPr/>
        </p:nvSpPr>
        <p:spPr>
          <a:xfrm>
            <a:off x="2377440" y="4297680"/>
            <a:ext cx="1280160" cy="365760"/>
          </a:xfrm>
          <a:prstGeom prst="rect">
            <a:avLst/>
          </a:prstGeom>
          <a:noFill/>
          <a:ln/>
        </p:spPr>
        <p:txBody>
          <a:bodyPr wrap="square" lIns="0" tIns="0" rIns="0" bIns="0" rtlCol="0" anchor="ctr"/>
          <a:lstStyle/>
          <a:p>
            <a:pPr algn="ctr" indent="0" marL="0">
              <a:buNone/>
            </a:pPr>
            <a:r>
              <a:rPr lang="en-US" sz="1600" b="1" dirty="0">
                <a:solidFill>
                  <a:srgbClr val="6B7280"/>
                </a:solidFill>
              </a:rPr>
              <a:t>+2</a:t>
            </a:r>
            <a:endParaRPr lang="en-US" sz="1600" dirty="0"/>
          </a:p>
        </p:txBody>
      </p:sp>
      <p:sp>
        <p:nvSpPr>
          <p:cNvPr id="8" name="Shape 6"/>
          <p:cNvSpPr/>
          <p:nvPr/>
        </p:nvSpPr>
        <p:spPr>
          <a:xfrm>
            <a:off x="1325880" y="5029200"/>
            <a:ext cx="2286000" cy="0"/>
          </a:xfrm>
          <a:prstGeom prst="line">
            <a:avLst/>
          </a:prstGeom>
          <a:noFill/>
          <a:ln w="25400">
            <a:solidFill>
              <a:srgbClr val="111827"/>
            </a:solidFill>
            <a:prstDash val="solid"/>
          </a:ln>
        </p:spPr>
      </p:sp>
      <p:sp>
        <p:nvSpPr>
          <p:cNvPr id="9" name="Text 7"/>
          <p:cNvSpPr txBox="1"/>
          <p:nvPr/>
        </p:nvSpPr>
        <p:spPr>
          <a:xfrm>
            <a:off x="1097280" y="5120640"/>
            <a:ext cx="2743200" cy="365760"/>
          </a:xfrm>
          <a:prstGeom prst="rect">
            <a:avLst/>
          </a:prstGeom>
          <a:noFill/>
          <a:ln/>
        </p:spPr>
        <p:txBody>
          <a:bodyPr wrap="square" lIns="0" tIns="0" rIns="0" bIns="0" rtlCol="0" anchor="ctr"/>
          <a:lstStyle/>
          <a:p>
            <a:pPr algn="ctr" indent="0" marL="0">
              <a:buNone/>
            </a:pPr>
            <a:r>
              <a:rPr lang="en-US" sz="1500" b="1" dirty="0">
                <a:solidFill>
                  <a:srgbClr val="111827"/>
                </a:solidFill>
              </a:rPr>
              <a:t>mentioned a few times</a:t>
            </a:r>
            <a:endParaRPr lang="en-US" sz="1500" dirty="0"/>
          </a:p>
        </p:txBody>
      </p:sp>
      <p:sp>
        <p:nvSpPr>
          <p:cNvPr id="10" name="Shape 8"/>
          <p:cNvSpPr/>
          <p:nvPr/>
        </p:nvSpPr>
        <p:spPr>
          <a:xfrm>
            <a:off x="4754880" y="2743200"/>
            <a:ext cx="914400" cy="2286000"/>
          </a:xfrm>
          <a:prstGeom prst="rect">
            <a:avLst/>
          </a:prstGeom>
          <a:solidFill>
            <a:srgbClr val="C2410C"/>
          </a:solidFill>
          <a:ln w="12700">
            <a:solidFill>
              <a:srgbClr val="C2410C"/>
            </a:solidFill>
            <a:prstDash val="solid"/>
          </a:ln>
        </p:spPr>
      </p:sp>
      <p:sp>
        <p:nvSpPr>
          <p:cNvPr id="11" name="Text 9"/>
          <p:cNvSpPr txBox="1"/>
          <p:nvPr/>
        </p:nvSpPr>
        <p:spPr>
          <a:xfrm>
            <a:off x="4572000" y="2359152"/>
            <a:ext cx="1280160" cy="365760"/>
          </a:xfrm>
          <a:prstGeom prst="rect">
            <a:avLst/>
          </a:prstGeom>
          <a:noFill/>
          <a:ln/>
        </p:spPr>
        <p:txBody>
          <a:bodyPr wrap="square" lIns="0" tIns="0" rIns="0" bIns="0" rtlCol="0" anchor="ctr"/>
          <a:lstStyle/>
          <a:p>
            <a:pPr algn="ctr" indent="0" marL="0">
              <a:buNone/>
            </a:pPr>
            <a:r>
              <a:rPr lang="en-US" sz="1600" b="1" dirty="0">
                <a:solidFill>
                  <a:srgbClr val="C2410C"/>
                </a:solidFill>
              </a:rPr>
              <a:t>+12</a:t>
            </a:r>
            <a:endParaRPr lang="en-US" sz="1600" dirty="0"/>
          </a:p>
        </p:txBody>
      </p:sp>
      <p:sp>
        <p:nvSpPr>
          <p:cNvPr id="12" name="Shape 10"/>
          <p:cNvSpPr/>
          <p:nvPr/>
        </p:nvSpPr>
        <p:spPr>
          <a:xfrm>
            <a:off x="5852160" y="3291840"/>
            <a:ext cx="914400" cy="1737360"/>
          </a:xfrm>
          <a:prstGeom prst="rect">
            <a:avLst/>
          </a:prstGeom>
          <a:solidFill>
            <a:srgbClr val="FDBA74"/>
          </a:solidFill>
          <a:ln w="12700">
            <a:solidFill>
              <a:srgbClr val="FDBA74"/>
            </a:solidFill>
            <a:prstDash val="solid"/>
          </a:ln>
        </p:spPr>
      </p:sp>
      <p:sp>
        <p:nvSpPr>
          <p:cNvPr id="13" name="Text 11"/>
          <p:cNvSpPr txBox="1"/>
          <p:nvPr/>
        </p:nvSpPr>
        <p:spPr>
          <a:xfrm>
            <a:off x="5669280" y="2907792"/>
            <a:ext cx="1280160" cy="365760"/>
          </a:xfrm>
          <a:prstGeom prst="rect">
            <a:avLst/>
          </a:prstGeom>
          <a:noFill/>
          <a:ln/>
        </p:spPr>
        <p:txBody>
          <a:bodyPr wrap="square" lIns="0" tIns="0" rIns="0" bIns="0" rtlCol="0" anchor="ctr"/>
          <a:lstStyle/>
          <a:p>
            <a:pPr algn="ctr" indent="0" marL="0">
              <a:buNone/>
            </a:pPr>
            <a:r>
              <a:rPr lang="en-US" sz="1600" b="1" dirty="0">
                <a:solidFill>
                  <a:srgbClr val="6B7280"/>
                </a:solidFill>
              </a:rPr>
              <a:t>+9</a:t>
            </a:r>
            <a:endParaRPr lang="en-US" sz="1600" dirty="0"/>
          </a:p>
        </p:txBody>
      </p:sp>
      <p:sp>
        <p:nvSpPr>
          <p:cNvPr id="14" name="Shape 12"/>
          <p:cNvSpPr/>
          <p:nvPr/>
        </p:nvSpPr>
        <p:spPr>
          <a:xfrm>
            <a:off x="4617720" y="5029200"/>
            <a:ext cx="2286000" cy="0"/>
          </a:xfrm>
          <a:prstGeom prst="line">
            <a:avLst/>
          </a:prstGeom>
          <a:noFill/>
          <a:ln w="25400">
            <a:solidFill>
              <a:srgbClr val="111827"/>
            </a:solidFill>
            <a:prstDash val="solid"/>
          </a:ln>
        </p:spPr>
      </p:sp>
      <p:sp>
        <p:nvSpPr>
          <p:cNvPr id="15" name="Text 13"/>
          <p:cNvSpPr txBox="1"/>
          <p:nvPr/>
        </p:nvSpPr>
        <p:spPr>
          <a:xfrm>
            <a:off x="4389120" y="5120640"/>
            <a:ext cx="2743200" cy="365760"/>
          </a:xfrm>
          <a:prstGeom prst="rect">
            <a:avLst/>
          </a:prstGeom>
          <a:noFill/>
          <a:ln/>
        </p:spPr>
        <p:txBody>
          <a:bodyPr wrap="square" lIns="0" tIns="0" rIns="0" bIns="0" rtlCol="0" anchor="ctr"/>
          <a:lstStyle/>
          <a:p>
            <a:pPr algn="ctr" indent="0" marL="0">
              <a:buNone/>
            </a:pPr>
            <a:r>
              <a:rPr lang="en-US" sz="1500" b="1" dirty="0">
                <a:solidFill>
                  <a:srgbClr val="111827"/>
                </a:solidFill>
              </a:rPr>
              <a:t>mentioned 200+ times</a:t>
            </a:r>
            <a:endParaRPr lang="en-US" sz="1500" dirty="0"/>
          </a:p>
        </p:txBody>
      </p:sp>
      <p:sp>
        <p:nvSpPr>
          <p:cNvPr id="16" name="Shape 14"/>
          <p:cNvSpPr/>
          <p:nvPr/>
        </p:nvSpPr>
        <p:spPr>
          <a:xfrm>
            <a:off x="8046720" y="3291840"/>
            <a:ext cx="274320" cy="274320"/>
          </a:xfrm>
          <a:prstGeom prst="rect">
            <a:avLst/>
          </a:prstGeom>
          <a:solidFill>
            <a:srgbClr val="C2410C"/>
          </a:solidFill>
          <a:ln w="12700">
            <a:solidFill>
              <a:srgbClr val="C2410C"/>
            </a:solidFill>
            <a:prstDash val="solid"/>
          </a:ln>
        </p:spPr>
      </p:sp>
      <p:sp>
        <p:nvSpPr>
          <p:cNvPr id="17" name="Text 15"/>
          <p:cNvSpPr txBox="1"/>
          <p:nvPr/>
        </p:nvSpPr>
        <p:spPr>
          <a:xfrm>
            <a:off x="8458200" y="3246120"/>
            <a:ext cx="3200400" cy="365760"/>
          </a:xfrm>
          <a:prstGeom prst="rect">
            <a:avLst/>
          </a:prstGeom>
          <a:noFill/>
          <a:ln/>
        </p:spPr>
        <p:txBody>
          <a:bodyPr wrap="square" lIns="0" tIns="0" rIns="0" bIns="0" rtlCol="0" anchor="ctr"/>
          <a:lstStyle/>
          <a:p>
            <a:pPr indent="0" marL="0">
              <a:buNone/>
            </a:pPr>
            <a:r>
              <a:rPr lang="en-US" sz="1400" b="1" dirty="0">
                <a:solidFill>
                  <a:srgbClr val="374151"/>
                </a:solidFill>
              </a:rPr>
              <a:t>asked in the training language</a:t>
            </a:r>
            <a:endParaRPr lang="en-US" sz="1400" dirty="0"/>
          </a:p>
        </p:txBody>
      </p:sp>
      <p:sp>
        <p:nvSpPr>
          <p:cNvPr id="18" name="Shape 16"/>
          <p:cNvSpPr/>
          <p:nvPr/>
        </p:nvSpPr>
        <p:spPr>
          <a:xfrm>
            <a:off x="8046720" y="3840480"/>
            <a:ext cx="274320" cy="274320"/>
          </a:xfrm>
          <a:prstGeom prst="rect">
            <a:avLst/>
          </a:prstGeom>
          <a:solidFill>
            <a:srgbClr val="FDBA74"/>
          </a:solidFill>
          <a:ln w="12700">
            <a:solidFill>
              <a:srgbClr val="FDBA74"/>
            </a:solidFill>
            <a:prstDash val="solid"/>
          </a:ln>
        </p:spPr>
      </p:sp>
      <p:sp>
        <p:nvSpPr>
          <p:cNvPr id="19" name="Text 17"/>
          <p:cNvSpPr txBox="1"/>
          <p:nvPr/>
        </p:nvSpPr>
        <p:spPr>
          <a:xfrm>
            <a:off x="8458200" y="3794760"/>
            <a:ext cx="3200400" cy="365760"/>
          </a:xfrm>
          <a:prstGeom prst="rect">
            <a:avLst/>
          </a:prstGeom>
          <a:noFill/>
          <a:ln/>
        </p:spPr>
        <p:txBody>
          <a:bodyPr wrap="square" lIns="0" tIns="0" rIns="0" bIns="0" rtlCol="0" anchor="ctr"/>
          <a:lstStyle/>
          <a:p>
            <a:pPr indent="0" marL="0">
              <a:buNone/>
            </a:pPr>
            <a:r>
              <a:rPr lang="en-US" sz="1400" b="1" dirty="0">
                <a:solidFill>
                  <a:srgbClr val="374151"/>
                </a:solidFill>
              </a:rPr>
              <a:t>asked in the other two</a:t>
            </a:r>
            <a:endParaRPr lang="en-US" sz="1400" dirty="0"/>
          </a:p>
        </p:txBody>
      </p:sp>
      <p:sp>
        <p:nvSpPr>
          <p:cNvPr id="20"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What the news repeats, the model learns, in every language. </a:t>
            </a:r>
            <a:pPr indent="0" marL="0">
              <a:buNone/>
            </a:pPr>
            <a:r>
              <a:rPr lang="en-US" sz="1800" b="1" i="1" dirty="0">
                <a:solidFill>
                  <a:srgbClr val="6B7280"/>
                </a:solidFill>
              </a:rPr>
              <a:t>Which newspaper matters more than which language.</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THE COST</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Old facts stay. </a:t>
            </a:r>
            <a:pPr algn="l" indent="0" marL="0">
              <a:buNone/>
            </a:pPr>
            <a:r>
              <a:rPr lang="en-US" sz="3200" b="1" i="1" dirty="0">
                <a:solidFill>
                  <a:srgbClr val="6B7280"/>
                </a:solidFill>
              </a:rPr>
              <a:t>Old skills quietly go.</a:t>
            </a:r>
            <a:endParaRPr lang="en-US" sz="3200" dirty="0"/>
          </a:p>
        </p:txBody>
      </p:sp>
      <p:sp>
        <p:nvSpPr>
          <p:cNvPr id="4" name="Shape 2"/>
          <p:cNvSpPr/>
          <p:nvPr/>
        </p:nvSpPr>
        <p:spPr>
          <a:xfrm>
            <a:off x="640080" y="2286000"/>
            <a:ext cx="5212080" cy="3108960"/>
          </a:xfrm>
          <a:prstGeom prst="roundRect">
            <a:avLst>
              <a:gd name="adj" fmla="val 3529"/>
            </a:avLst>
          </a:prstGeom>
          <a:solidFill>
            <a:srgbClr val="F9FAFB"/>
          </a:solidFill>
          <a:ln w="12700">
            <a:solidFill>
              <a:srgbClr val="E5E7EB"/>
            </a:solidFill>
            <a:prstDash val="solid"/>
          </a:ln>
        </p:spPr>
      </p:sp>
      <p:sp>
        <p:nvSpPr>
          <p:cNvPr id="5" name="Text 3"/>
          <p:cNvSpPr txBox="1"/>
          <p:nvPr/>
        </p:nvSpPr>
        <p:spPr>
          <a:xfrm>
            <a:off x="640080" y="2514600"/>
            <a:ext cx="5212080" cy="320040"/>
          </a:xfrm>
          <a:prstGeom prst="rect">
            <a:avLst/>
          </a:prstGeom>
          <a:noFill/>
          <a:ln/>
        </p:spPr>
        <p:txBody>
          <a:bodyPr wrap="square" lIns="0" tIns="0" rIns="0" bIns="0" rtlCol="0" anchor="ctr"/>
          <a:lstStyle/>
          <a:p>
            <a:pPr algn="ctr" indent="0" marL="0">
              <a:buNone/>
            </a:pPr>
            <a:r>
              <a:rPr lang="en-US" sz="1200" b="1" spc="200" kern="0" dirty="0">
                <a:solidFill>
                  <a:srgbClr val="6B7280"/>
                </a:solidFill>
              </a:rPr>
              <a:t>FACTS FROM BEFORE 2023</a:t>
            </a:r>
            <a:endParaRPr lang="en-US" sz="1200" dirty="0"/>
          </a:p>
        </p:txBody>
      </p:sp>
      <p:sp>
        <p:nvSpPr>
          <p:cNvPr id="6" name="Text 4"/>
          <p:cNvSpPr txBox="1"/>
          <p:nvPr/>
        </p:nvSpPr>
        <p:spPr>
          <a:xfrm>
            <a:off x="640080" y="2926080"/>
            <a:ext cx="5212080" cy="1463040"/>
          </a:xfrm>
          <a:prstGeom prst="rect">
            <a:avLst/>
          </a:prstGeom>
          <a:noFill/>
          <a:ln/>
        </p:spPr>
        <p:txBody>
          <a:bodyPr wrap="square" lIns="0" tIns="0" rIns="0" bIns="0" rtlCol="0" anchor="ctr"/>
          <a:lstStyle/>
          <a:p>
            <a:pPr algn="ctr" indent="0" marL="0">
              <a:buNone/>
            </a:pPr>
            <a:r>
              <a:rPr lang="en-US" sz="8400" b="1" dirty="0">
                <a:solidFill>
                  <a:srgbClr val="111827"/>
                </a:solidFill>
                <a:latin typeface="Cambria" pitchFamily="34" charset="0"/>
                <a:ea typeface="Cambria" pitchFamily="34" charset="-122"/>
                <a:cs typeface="Cambria" pitchFamily="34" charset="-120"/>
              </a:rPr>
              <a:t>+0.3</a:t>
            </a:r>
            <a:endParaRPr lang="en-US" sz="8400" dirty="0"/>
          </a:p>
        </p:txBody>
      </p:sp>
      <p:sp>
        <p:nvSpPr>
          <p:cNvPr id="7" name="Text 5"/>
          <p:cNvSpPr txBox="1"/>
          <p:nvPr/>
        </p:nvSpPr>
        <p:spPr>
          <a:xfrm>
            <a:off x="640080" y="4572000"/>
            <a:ext cx="5212080" cy="365760"/>
          </a:xfrm>
          <a:prstGeom prst="rect">
            <a:avLst/>
          </a:prstGeom>
          <a:noFill/>
          <a:ln/>
        </p:spPr>
        <p:txBody>
          <a:bodyPr wrap="square" lIns="0" tIns="0" rIns="0" bIns="0" rtlCol="0" anchor="ctr"/>
          <a:lstStyle/>
          <a:p>
            <a:pPr algn="ctr" indent="0" marL="0">
              <a:buNone/>
            </a:pPr>
            <a:r>
              <a:rPr lang="en-US" sz="1600" dirty="0">
                <a:solidFill>
                  <a:srgbClr val="374151"/>
                </a:solidFill>
              </a:rPr>
              <a:t>nothing forgotten</a:t>
            </a:r>
            <a:endParaRPr lang="en-US" sz="1600" dirty="0"/>
          </a:p>
        </p:txBody>
      </p:sp>
      <p:sp>
        <p:nvSpPr>
          <p:cNvPr id="8" name="Shape 6"/>
          <p:cNvSpPr/>
          <p:nvPr/>
        </p:nvSpPr>
        <p:spPr>
          <a:xfrm>
            <a:off x="6355080" y="2286000"/>
            <a:ext cx="5212080" cy="3108960"/>
          </a:xfrm>
          <a:prstGeom prst="roundRect">
            <a:avLst>
              <a:gd name="adj" fmla="val 3529"/>
            </a:avLst>
          </a:prstGeom>
          <a:solidFill>
            <a:srgbClr val="FFF7ED"/>
          </a:solidFill>
          <a:ln w="12700">
            <a:solidFill>
              <a:srgbClr val="FDBA74"/>
            </a:solidFill>
            <a:prstDash val="solid"/>
          </a:ln>
        </p:spPr>
      </p:sp>
      <p:sp>
        <p:nvSpPr>
          <p:cNvPr id="9" name="Text 7"/>
          <p:cNvSpPr txBox="1"/>
          <p:nvPr/>
        </p:nvSpPr>
        <p:spPr>
          <a:xfrm>
            <a:off x="6355080" y="2514600"/>
            <a:ext cx="5212080" cy="320040"/>
          </a:xfrm>
          <a:prstGeom prst="rect">
            <a:avLst/>
          </a:prstGeom>
          <a:noFill/>
          <a:ln/>
        </p:spPr>
        <p:txBody>
          <a:bodyPr wrap="square" lIns="0" tIns="0" rIns="0" bIns="0" rtlCol="0" anchor="ctr"/>
          <a:lstStyle/>
          <a:p>
            <a:pPr algn="ctr" indent="0" marL="0">
              <a:buNone/>
            </a:pPr>
            <a:r>
              <a:rPr lang="en-US" sz="1200" b="1" spc="200" kern="0" dirty="0">
                <a:solidFill>
                  <a:srgbClr val="C2410C"/>
                </a:solidFill>
              </a:rPr>
              <a:t>GENERAL SKILLS · 20 TESTS</a:t>
            </a:r>
            <a:endParaRPr lang="en-US" sz="1200" dirty="0"/>
          </a:p>
        </p:txBody>
      </p:sp>
      <p:sp>
        <p:nvSpPr>
          <p:cNvPr id="10" name="Text 8"/>
          <p:cNvSpPr txBox="1"/>
          <p:nvPr/>
        </p:nvSpPr>
        <p:spPr>
          <a:xfrm>
            <a:off x="6355080" y="2926080"/>
            <a:ext cx="5212080" cy="1463040"/>
          </a:xfrm>
          <a:prstGeom prst="rect">
            <a:avLst/>
          </a:prstGeom>
          <a:noFill/>
          <a:ln/>
        </p:spPr>
        <p:txBody>
          <a:bodyPr wrap="square" lIns="0" tIns="0" rIns="0" bIns="0" rtlCol="0" anchor="ctr"/>
          <a:lstStyle/>
          <a:p>
            <a:pPr algn="ctr" indent="0" marL="0">
              <a:buNone/>
            </a:pPr>
            <a:r>
              <a:rPr lang="en-US" sz="8400" b="1" dirty="0">
                <a:solidFill>
                  <a:srgbClr val="C2410C"/>
                </a:solidFill>
                <a:latin typeface="Cambria" pitchFamily="34" charset="0"/>
                <a:ea typeface="Cambria" pitchFamily="34" charset="-122"/>
                <a:cs typeface="Cambria" pitchFamily="34" charset="-120"/>
              </a:rPr>
              <a:t>−1.2</a:t>
            </a:r>
            <a:endParaRPr lang="en-US" sz="8400" dirty="0"/>
          </a:p>
        </p:txBody>
      </p:sp>
      <p:sp>
        <p:nvSpPr>
          <p:cNvPr id="11" name="Text 9"/>
          <p:cNvSpPr txBox="1"/>
          <p:nvPr/>
        </p:nvSpPr>
        <p:spPr>
          <a:xfrm>
            <a:off x="6355080" y="4526280"/>
            <a:ext cx="5212080" cy="365760"/>
          </a:xfrm>
          <a:prstGeom prst="rect">
            <a:avLst/>
          </a:prstGeom>
          <a:noFill/>
          <a:ln/>
        </p:spPr>
        <p:txBody>
          <a:bodyPr wrap="square" lIns="0" tIns="0" rIns="0" bIns="0" rtlCol="0" anchor="ctr"/>
          <a:lstStyle/>
          <a:p>
            <a:pPr algn="ctr" indent="0" marL="0">
              <a:buNone/>
            </a:pPr>
            <a:r>
              <a:rPr lang="en-US" sz="1600" dirty="0">
                <a:solidFill>
                  <a:srgbClr val="374151"/>
                </a:solidFill>
              </a:rPr>
              <a:t>after French-only news</a:t>
            </a:r>
            <a:endParaRPr lang="en-US" sz="1600" dirty="0"/>
          </a:p>
        </p:txBody>
      </p:sp>
      <p:sp>
        <p:nvSpPr>
          <p:cNvPr id="12" name="Text 10"/>
          <p:cNvSpPr txBox="1"/>
          <p:nvPr/>
        </p:nvSpPr>
        <p:spPr>
          <a:xfrm>
            <a:off x="6355080" y="4846320"/>
            <a:ext cx="5212080" cy="365760"/>
          </a:xfrm>
          <a:prstGeom prst="rect">
            <a:avLst/>
          </a:prstGeom>
          <a:noFill/>
          <a:ln/>
        </p:spPr>
        <p:txBody>
          <a:bodyPr wrap="square" lIns="0" tIns="0" rIns="0" bIns="0" rtlCol="0" anchor="ctr"/>
          <a:lstStyle/>
          <a:p>
            <a:pPr algn="ctr" indent="0" marL="0">
              <a:buNone/>
            </a:pPr>
            <a:r>
              <a:rPr lang="en-US" sz="1600" b="1" dirty="0">
                <a:solidFill>
                  <a:srgbClr val="374151"/>
                </a:solidFill>
              </a:rPr>
              <a:t>+0.3</a:t>
            </a:r>
            <a:pPr algn="ctr" indent="0" marL="0">
              <a:buNone/>
            </a:pPr>
            <a:r>
              <a:rPr lang="en-US" sz="1600" dirty="0">
                <a:solidFill>
                  <a:srgbClr val="374151"/>
                </a:solidFill>
              </a:rPr>
              <a:t> if you only test in French</a:t>
            </a:r>
            <a:endParaRPr lang="en-US" sz="1600" dirty="0"/>
          </a:p>
        </p:txBody>
      </p:sp>
      <p:sp>
        <p:nvSpPr>
          <p:cNvPr id="13"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Forgetting, in a new disguise. </a:t>
            </a:r>
            <a:pPr indent="0" marL="0">
              <a:buNone/>
            </a:pPr>
            <a:r>
              <a:rPr lang="en-US" sz="1800" b="1" i="1" dirty="0">
                <a:solidFill>
                  <a:srgbClr val="6B7280"/>
                </a:solidFill>
              </a:rPr>
              <a:t>You only see it if you test beyond the training language.</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THE OBVIOUS FIX</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Mixing helps. </a:t>
            </a:r>
            <a:pPr algn="l" indent="0" marL="0">
              <a:buNone/>
            </a:pPr>
            <a:r>
              <a:rPr lang="en-US" sz="3200" b="1" i="1" dirty="0">
                <a:solidFill>
                  <a:srgbClr val="6B7280"/>
                </a:solidFill>
              </a:rPr>
              <a:t>But can we do better without training at all?</a:t>
            </a:r>
            <a:endParaRPr lang="en-US" sz="3200" dirty="0"/>
          </a:p>
        </p:txBody>
      </p:sp>
      <p:sp>
        <p:nvSpPr>
          <p:cNvPr id="4" name="Text 2"/>
          <p:cNvSpPr txBox="1"/>
          <p:nvPr/>
        </p:nvSpPr>
        <p:spPr>
          <a:xfrm>
            <a:off x="822960" y="2148840"/>
            <a:ext cx="4023360" cy="320040"/>
          </a:xfrm>
          <a:prstGeom prst="rect">
            <a:avLst/>
          </a:prstGeom>
          <a:noFill/>
          <a:ln/>
        </p:spPr>
        <p:txBody>
          <a:bodyPr wrap="square" lIns="0" tIns="0" rIns="0" bIns="0" rtlCol="0" anchor="ctr"/>
          <a:lstStyle/>
          <a:p>
            <a:pPr algn="ctr" indent="0" marL="0">
              <a:buNone/>
            </a:pPr>
            <a:r>
              <a:rPr lang="en-US" sz="1400" b="1" dirty="0">
                <a:solidFill>
                  <a:srgbClr val="6B7280"/>
                </a:solidFill>
              </a:rPr>
              <a:t>new facts learned</a:t>
            </a:r>
            <a:endParaRPr lang="en-US" sz="1400" dirty="0"/>
          </a:p>
        </p:txBody>
      </p:sp>
      <p:sp>
        <p:nvSpPr>
          <p:cNvPr id="5" name="Shape 3"/>
          <p:cNvSpPr/>
          <p:nvPr/>
        </p:nvSpPr>
        <p:spPr>
          <a:xfrm>
            <a:off x="914400" y="3474720"/>
            <a:ext cx="731520" cy="1371600"/>
          </a:xfrm>
          <a:prstGeom prst="rect">
            <a:avLst/>
          </a:prstGeom>
          <a:solidFill>
            <a:srgbClr val="2563EB"/>
          </a:solidFill>
          <a:ln w="12700">
            <a:solidFill>
              <a:srgbClr val="2563EB"/>
            </a:solidFill>
            <a:prstDash val="solid"/>
          </a:ln>
        </p:spPr>
      </p:sp>
      <p:sp>
        <p:nvSpPr>
          <p:cNvPr id="6" name="Text 4"/>
          <p:cNvSpPr txBox="1"/>
          <p:nvPr/>
        </p:nvSpPr>
        <p:spPr>
          <a:xfrm>
            <a:off x="731520" y="3090672"/>
            <a:ext cx="1097280" cy="365760"/>
          </a:xfrm>
          <a:prstGeom prst="rect">
            <a:avLst/>
          </a:prstGeom>
          <a:noFill/>
          <a:ln/>
        </p:spPr>
        <p:txBody>
          <a:bodyPr wrap="square" lIns="0" tIns="0" rIns="0" bIns="0" rtlCol="0" anchor="ctr"/>
          <a:lstStyle/>
          <a:p>
            <a:pPr algn="ctr" indent="0" marL="0">
              <a:buNone/>
            </a:pPr>
            <a:r>
              <a:rPr lang="en-US" sz="1600" b="1" dirty="0">
                <a:solidFill>
                  <a:srgbClr val="111827"/>
                </a:solidFill>
              </a:rPr>
              <a:t>+3.4</a:t>
            </a:r>
            <a:endParaRPr lang="en-US" sz="1600" dirty="0"/>
          </a:p>
        </p:txBody>
      </p:sp>
      <p:sp>
        <p:nvSpPr>
          <p:cNvPr id="7" name="Text 5"/>
          <p:cNvSpPr txBox="1"/>
          <p:nvPr/>
        </p:nvSpPr>
        <p:spPr>
          <a:xfrm>
            <a:off x="822960" y="4919472"/>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EN</a:t>
            </a:r>
            <a:endParaRPr lang="en-US" sz="1400" dirty="0"/>
          </a:p>
        </p:txBody>
      </p:sp>
      <p:sp>
        <p:nvSpPr>
          <p:cNvPr id="8" name="Shape 6"/>
          <p:cNvSpPr/>
          <p:nvPr/>
        </p:nvSpPr>
        <p:spPr>
          <a:xfrm>
            <a:off x="1874520" y="3794760"/>
            <a:ext cx="731520" cy="1051560"/>
          </a:xfrm>
          <a:prstGeom prst="rect">
            <a:avLst/>
          </a:prstGeom>
          <a:solidFill>
            <a:srgbClr val="D97706"/>
          </a:solidFill>
          <a:ln w="12700">
            <a:solidFill>
              <a:srgbClr val="D97706"/>
            </a:solidFill>
            <a:prstDash val="solid"/>
          </a:ln>
        </p:spPr>
      </p:sp>
      <p:sp>
        <p:nvSpPr>
          <p:cNvPr id="9" name="Text 7"/>
          <p:cNvSpPr txBox="1"/>
          <p:nvPr/>
        </p:nvSpPr>
        <p:spPr>
          <a:xfrm>
            <a:off x="1691640" y="3410712"/>
            <a:ext cx="1097280" cy="365760"/>
          </a:xfrm>
          <a:prstGeom prst="rect">
            <a:avLst/>
          </a:prstGeom>
          <a:noFill/>
          <a:ln/>
        </p:spPr>
        <p:txBody>
          <a:bodyPr wrap="square" lIns="0" tIns="0" rIns="0" bIns="0" rtlCol="0" anchor="ctr"/>
          <a:lstStyle/>
          <a:p>
            <a:pPr algn="ctr" indent="0" marL="0">
              <a:buNone/>
            </a:pPr>
            <a:r>
              <a:rPr lang="en-US" sz="1600" b="1" dirty="0">
                <a:solidFill>
                  <a:srgbClr val="111827"/>
                </a:solidFill>
              </a:rPr>
              <a:t>+2.6</a:t>
            </a:r>
            <a:endParaRPr lang="en-US" sz="1600" dirty="0"/>
          </a:p>
        </p:txBody>
      </p:sp>
      <p:sp>
        <p:nvSpPr>
          <p:cNvPr id="10" name="Text 8"/>
          <p:cNvSpPr txBox="1"/>
          <p:nvPr/>
        </p:nvSpPr>
        <p:spPr>
          <a:xfrm>
            <a:off x="1783080" y="4919472"/>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DE</a:t>
            </a:r>
            <a:endParaRPr lang="en-US" sz="1400" dirty="0"/>
          </a:p>
        </p:txBody>
      </p:sp>
      <p:sp>
        <p:nvSpPr>
          <p:cNvPr id="11" name="Shape 9"/>
          <p:cNvSpPr/>
          <p:nvPr/>
        </p:nvSpPr>
        <p:spPr>
          <a:xfrm>
            <a:off x="2834640" y="3520440"/>
            <a:ext cx="731520" cy="1325880"/>
          </a:xfrm>
          <a:prstGeom prst="rect">
            <a:avLst/>
          </a:prstGeom>
          <a:solidFill>
            <a:srgbClr val="7C3AED"/>
          </a:solidFill>
          <a:ln w="12700">
            <a:solidFill>
              <a:srgbClr val="7C3AED"/>
            </a:solidFill>
            <a:prstDash val="solid"/>
          </a:ln>
        </p:spPr>
      </p:sp>
      <p:sp>
        <p:nvSpPr>
          <p:cNvPr id="12" name="Text 10"/>
          <p:cNvSpPr txBox="1"/>
          <p:nvPr/>
        </p:nvSpPr>
        <p:spPr>
          <a:xfrm>
            <a:off x="2651760" y="3136392"/>
            <a:ext cx="1097280" cy="365760"/>
          </a:xfrm>
          <a:prstGeom prst="rect">
            <a:avLst/>
          </a:prstGeom>
          <a:noFill/>
          <a:ln/>
        </p:spPr>
        <p:txBody>
          <a:bodyPr wrap="square" lIns="0" tIns="0" rIns="0" bIns="0" rtlCol="0" anchor="ctr"/>
          <a:lstStyle/>
          <a:p>
            <a:pPr algn="ctr" indent="0" marL="0">
              <a:buNone/>
            </a:pPr>
            <a:r>
              <a:rPr lang="en-US" sz="1600" b="1" dirty="0">
                <a:solidFill>
                  <a:srgbClr val="111827"/>
                </a:solidFill>
              </a:rPr>
              <a:t>+3.3</a:t>
            </a:r>
            <a:endParaRPr lang="en-US" sz="1600" dirty="0"/>
          </a:p>
        </p:txBody>
      </p:sp>
      <p:sp>
        <p:nvSpPr>
          <p:cNvPr id="13" name="Text 11"/>
          <p:cNvSpPr txBox="1"/>
          <p:nvPr/>
        </p:nvSpPr>
        <p:spPr>
          <a:xfrm>
            <a:off x="2743200" y="4919472"/>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FR</a:t>
            </a:r>
            <a:endParaRPr lang="en-US" sz="1400" dirty="0"/>
          </a:p>
        </p:txBody>
      </p:sp>
      <p:sp>
        <p:nvSpPr>
          <p:cNvPr id="14" name="Shape 12"/>
          <p:cNvSpPr/>
          <p:nvPr/>
        </p:nvSpPr>
        <p:spPr>
          <a:xfrm>
            <a:off x="3794760" y="2834640"/>
            <a:ext cx="731520" cy="2011680"/>
          </a:xfrm>
          <a:prstGeom prst="rect">
            <a:avLst/>
          </a:prstGeom>
          <a:solidFill>
            <a:srgbClr val="C2410C"/>
          </a:solidFill>
          <a:ln w="12700">
            <a:solidFill>
              <a:srgbClr val="C2410C"/>
            </a:solidFill>
            <a:prstDash val="solid"/>
          </a:ln>
        </p:spPr>
      </p:sp>
      <p:sp>
        <p:nvSpPr>
          <p:cNvPr id="15" name="Text 13"/>
          <p:cNvSpPr txBox="1"/>
          <p:nvPr/>
        </p:nvSpPr>
        <p:spPr>
          <a:xfrm>
            <a:off x="3611880" y="2450592"/>
            <a:ext cx="1097280" cy="365760"/>
          </a:xfrm>
          <a:prstGeom prst="rect">
            <a:avLst/>
          </a:prstGeom>
          <a:noFill/>
          <a:ln/>
        </p:spPr>
        <p:txBody>
          <a:bodyPr wrap="square" lIns="0" tIns="0" rIns="0" bIns="0" rtlCol="0" anchor="ctr"/>
          <a:lstStyle/>
          <a:p>
            <a:pPr algn="ctr" indent="0" marL="0">
              <a:buNone/>
            </a:pPr>
            <a:r>
              <a:rPr lang="en-US" sz="1600" b="1" dirty="0">
                <a:solidFill>
                  <a:srgbClr val="C2410C"/>
                </a:solidFill>
              </a:rPr>
              <a:t>+5.0</a:t>
            </a:r>
            <a:endParaRPr lang="en-US" sz="1600" dirty="0"/>
          </a:p>
        </p:txBody>
      </p:sp>
      <p:sp>
        <p:nvSpPr>
          <p:cNvPr id="16" name="Text 14"/>
          <p:cNvSpPr txBox="1"/>
          <p:nvPr/>
        </p:nvSpPr>
        <p:spPr>
          <a:xfrm>
            <a:off x="3703320" y="4919472"/>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Mix</a:t>
            </a:r>
            <a:endParaRPr lang="en-US" sz="1400" dirty="0"/>
          </a:p>
        </p:txBody>
      </p:sp>
      <p:sp>
        <p:nvSpPr>
          <p:cNvPr id="17" name="Shape 15"/>
          <p:cNvSpPr/>
          <p:nvPr/>
        </p:nvSpPr>
        <p:spPr>
          <a:xfrm>
            <a:off x="777240" y="4846320"/>
            <a:ext cx="3840480" cy="0"/>
          </a:xfrm>
          <a:prstGeom prst="line">
            <a:avLst/>
          </a:prstGeom>
          <a:noFill/>
          <a:ln w="25400">
            <a:solidFill>
              <a:srgbClr val="111827"/>
            </a:solidFill>
            <a:prstDash val="solid"/>
          </a:ln>
        </p:spPr>
      </p:sp>
      <p:sp>
        <p:nvSpPr>
          <p:cNvPr id="18" name="Text 16"/>
          <p:cNvSpPr txBox="1"/>
          <p:nvPr/>
        </p:nvSpPr>
        <p:spPr>
          <a:xfrm>
            <a:off x="6583680" y="2148840"/>
            <a:ext cx="4023360" cy="320040"/>
          </a:xfrm>
          <a:prstGeom prst="rect">
            <a:avLst/>
          </a:prstGeom>
          <a:noFill/>
          <a:ln/>
        </p:spPr>
        <p:txBody>
          <a:bodyPr wrap="square" lIns="0" tIns="0" rIns="0" bIns="0" rtlCol="0" anchor="ctr"/>
          <a:lstStyle/>
          <a:p>
            <a:pPr algn="ctr" indent="0" marL="0">
              <a:buNone/>
            </a:pPr>
            <a:r>
              <a:rPr lang="en-US" sz="1400" b="1" dirty="0">
                <a:solidFill>
                  <a:srgbClr val="6B7280"/>
                </a:solidFill>
              </a:rPr>
              <a:t>skills lost</a:t>
            </a:r>
            <a:endParaRPr lang="en-US" sz="1400" dirty="0"/>
          </a:p>
        </p:txBody>
      </p:sp>
      <p:sp>
        <p:nvSpPr>
          <p:cNvPr id="19" name="Shape 17"/>
          <p:cNvSpPr/>
          <p:nvPr/>
        </p:nvSpPr>
        <p:spPr>
          <a:xfrm>
            <a:off x="6537960" y="2651760"/>
            <a:ext cx="3840480" cy="0"/>
          </a:xfrm>
          <a:prstGeom prst="line">
            <a:avLst/>
          </a:prstGeom>
          <a:noFill/>
          <a:ln w="25400">
            <a:solidFill>
              <a:srgbClr val="111827"/>
            </a:solidFill>
            <a:prstDash val="solid"/>
          </a:ln>
        </p:spPr>
      </p:sp>
      <p:sp>
        <p:nvSpPr>
          <p:cNvPr id="20" name="Shape 18"/>
          <p:cNvSpPr/>
          <p:nvPr/>
        </p:nvSpPr>
        <p:spPr>
          <a:xfrm>
            <a:off x="6675120" y="2651760"/>
            <a:ext cx="731520" cy="640080"/>
          </a:xfrm>
          <a:prstGeom prst="rect">
            <a:avLst/>
          </a:prstGeom>
          <a:solidFill>
            <a:srgbClr val="2563EB"/>
          </a:solidFill>
          <a:ln w="12700">
            <a:solidFill>
              <a:srgbClr val="2563EB"/>
            </a:solidFill>
            <a:prstDash val="solid"/>
          </a:ln>
        </p:spPr>
      </p:sp>
      <p:sp>
        <p:nvSpPr>
          <p:cNvPr id="21" name="Text 19"/>
          <p:cNvSpPr txBox="1"/>
          <p:nvPr/>
        </p:nvSpPr>
        <p:spPr>
          <a:xfrm>
            <a:off x="6492240" y="3337560"/>
            <a:ext cx="1097280" cy="320040"/>
          </a:xfrm>
          <a:prstGeom prst="rect">
            <a:avLst/>
          </a:prstGeom>
          <a:noFill/>
          <a:ln/>
        </p:spPr>
        <p:txBody>
          <a:bodyPr wrap="square" lIns="0" tIns="0" rIns="0" bIns="0" rtlCol="0" anchor="ctr"/>
          <a:lstStyle/>
          <a:p>
            <a:pPr algn="ctr" indent="0" marL="0">
              <a:buNone/>
            </a:pPr>
            <a:r>
              <a:rPr lang="en-US" sz="1600" b="1" dirty="0">
                <a:solidFill>
                  <a:srgbClr val="111827"/>
                </a:solidFill>
              </a:rPr>
              <a:t>−0.5</a:t>
            </a:r>
            <a:endParaRPr lang="en-US" sz="1600" dirty="0"/>
          </a:p>
        </p:txBody>
      </p:sp>
      <p:sp>
        <p:nvSpPr>
          <p:cNvPr id="22" name="Text 20"/>
          <p:cNvSpPr txBox="1"/>
          <p:nvPr/>
        </p:nvSpPr>
        <p:spPr>
          <a:xfrm>
            <a:off x="6583680" y="3657600"/>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EN</a:t>
            </a:r>
            <a:endParaRPr lang="en-US" sz="1400" dirty="0"/>
          </a:p>
        </p:txBody>
      </p:sp>
      <p:sp>
        <p:nvSpPr>
          <p:cNvPr id="23" name="Shape 21"/>
          <p:cNvSpPr/>
          <p:nvPr/>
        </p:nvSpPr>
        <p:spPr>
          <a:xfrm>
            <a:off x="7635240" y="2651760"/>
            <a:ext cx="731520" cy="1645920"/>
          </a:xfrm>
          <a:prstGeom prst="rect">
            <a:avLst/>
          </a:prstGeom>
          <a:solidFill>
            <a:srgbClr val="D97706"/>
          </a:solidFill>
          <a:ln w="12700">
            <a:solidFill>
              <a:srgbClr val="D97706"/>
            </a:solidFill>
            <a:prstDash val="solid"/>
          </a:ln>
        </p:spPr>
      </p:sp>
      <p:sp>
        <p:nvSpPr>
          <p:cNvPr id="24" name="Text 22"/>
          <p:cNvSpPr txBox="1"/>
          <p:nvPr/>
        </p:nvSpPr>
        <p:spPr>
          <a:xfrm>
            <a:off x="7452360" y="4343400"/>
            <a:ext cx="1097280" cy="320040"/>
          </a:xfrm>
          <a:prstGeom prst="rect">
            <a:avLst/>
          </a:prstGeom>
          <a:noFill/>
          <a:ln/>
        </p:spPr>
        <p:txBody>
          <a:bodyPr wrap="square" lIns="0" tIns="0" rIns="0" bIns="0" rtlCol="0" anchor="ctr"/>
          <a:lstStyle/>
          <a:p>
            <a:pPr algn="ctr" indent="0" marL="0">
              <a:buNone/>
            </a:pPr>
            <a:r>
              <a:rPr lang="en-US" sz="1600" b="1" dirty="0">
                <a:solidFill>
                  <a:srgbClr val="C2410C"/>
                </a:solidFill>
              </a:rPr>
              <a:t>−1.3</a:t>
            </a:r>
            <a:endParaRPr lang="en-US" sz="1600" dirty="0"/>
          </a:p>
        </p:txBody>
      </p:sp>
      <p:sp>
        <p:nvSpPr>
          <p:cNvPr id="25" name="Text 23"/>
          <p:cNvSpPr txBox="1"/>
          <p:nvPr/>
        </p:nvSpPr>
        <p:spPr>
          <a:xfrm>
            <a:off x="7543800" y="4663440"/>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DE</a:t>
            </a:r>
            <a:endParaRPr lang="en-US" sz="1400" dirty="0"/>
          </a:p>
        </p:txBody>
      </p:sp>
      <p:sp>
        <p:nvSpPr>
          <p:cNvPr id="26" name="Shape 24"/>
          <p:cNvSpPr/>
          <p:nvPr/>
        </p:nvSpPr>
        <p:spPr>
          <a:xfrm>
            <a:off x="8595360" y="2651760"/>
            <a:ext cx="731520" cy="1508760"/>
          </a:xfrm>
          <a:prstGeom prst="rect">
            <a:avLst/>
          </a:prstGeom>
          <a:solidFill>
            <a:srgbClr val="7C3AED"/>
          </a:solidFill>
          <a:ln w="12700">
            <a:solidFill>
              <a:srgbClr val="7C3AED"/>
            </a:solidFill>
            <a:prstDash val="solid"/>
          </a:ln>
        </p:spPr>
      </p:sp>
      <p:sp>
        <p:nvSpPr>
          <p:cNvPr id="27" name="Text 25"/>
          <p:cNvSpPr txBox="1"/>
          <p:nvPr/>
        </p:nvSpPr>
        <p:spPr>
          <a:xfrm>
            <a:off x="8412480" y="4206240"/>
            <a:ext cx="1097280" cy="320040"/>
          </a:xfrm>
          <a:prstGeom prst="rect">
            <a:avLst/>
          </a:prstGeom>
          <a:noFill/>
          <a:ln/>
        </p:spPr>
        <p:txBody>
          <a:bodyPr wrap="square" lIns="0" tIns="0" rIns="0" bIns="0" rtlCol="0" anchor="ctr"/>
          <a:lstStyle/>
          <a:p>
            <a:pPr algn="ctr" indent="0" marL="0">
              <a:buNone/>
            </a:pPr>
            <a:r>
              <a:rPr lang="en-US" sz="1600" b="1" dirty="0">
                <a:solidFill>
                  <a:srgbClr val="C2410C"/>
                </a:solidFill>
              </a:rPr>
              <a:t>−1.2</a:t>
            </a:r>
            <a:endParaRPr lang="en-US" sz="1600" dirty="0"/>
          </a:p>
        </p:txBody>
      </p:sp>
      <p:sp>
        <p:nvSpPr>
          <p:cNvPr id="28" name="Text 26"/>
          <p:cNvSpPr txBox="1"/>
          <p:nvPr/>
        </p:nvSpPr>
        <p:spPr>
          <a:xfrm>
            <a:off x="8503920" y="4526280"/>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FR</a:t>
            </a:r>
            <a:endParaRPr lang="en-US" sz="1400" dirty="0"/>
          </a:p>
        </p:txBody>
      </p:sp>
      <p:sp>
        <p:nvSpPr>
          <p:cNvPr id="29" name="Shape 27"/>
          <p:cNvSpPr/>
          <p:nvPr/>
        </p:nvSpPr>
        <p:spPr>
          <a:xfrm>
            <a:off x="9555480" y="2651760"/>
            <a:ext cx="731520" cy="384048"/>
          </a:xfrm>
          <a:prstGeom prst="rect">
            <a:avLst/>
          </a:prstGeom>
          <a:solidFill>
            <a:srgbClr val="C2410C"/>
          </a:solidFill>
          <a:ln w="12700">
            <a:solidFill>
              <a:srgbClr val="C2410C"/>
            </a:solidFill>
            <a:prstDash val="solid"/>
          </a:ln>
        </p:spPr>
      </p:sp>
      <p:sp>
        <p:nvSpPr>
          <p:cNvPr id="30" name="Text 28"/>
          <p:cNvSpPr txBox="1"/>
          <p:nvPr/>
        </p:nvSpPr>
        <p:spPr>
          <a:xfrm>
            <a:off x="9372600" y="3081528"/>
            <a:ext cx="1097280" cy="320040"/>
          </a:xfrm>
          <a:prstGeom prst="rect">
            <a:avLst/>
          </a:prstGeom>
          <a:noFill/>
          <a:ln/>
        </p:spPr>
        <p:txBody>
          <a:bodyPr wrap="square" lIns="0" tIns="0" rIns="0" bIns="0" rtlCol="0" anchor="ctr"/>
          <a:lstStyle/>
          <a:p>
            <a:pPr algn="ctr" indent="0" marL="0">
              <a:buNone/>
            </a:pPr>
            <a:r>
              <a:rPr lang="en-US" sz="1600" b="1" dirty="0">
                <a:solidFill>
                  <a:srgbClr val="111827"/>
                </a:solidFill>
              </a:rPr>
              <a:t>−0.3</a:t>
            </a:r>
            <a:endParaRPr lang="en-US" sz="1600" dirty="0"/>
          </a:p>
        </p:txBody>
      </p:sp>
      <p:sp>
        <p:nvSpPr>
          <p:cNvPr id="31" name="Text 29"/>
          <p:cNvSpPr txBox="1"/>
          <p:nvPr/>
        </p:nvSpPr>
        <p:spPr>
          <a:xfrm>
            <a:off x="9464040" y="3401568"/>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Mix</a:t>
            </a:r>
            <a:endParaRPr lang="en-US" sz="1400" dirty="0"/>
          </a:p>
        </p:txBody>
      </p:sp>
      <p:sp>
        <p:nvSpPr>
          <p:cNvPr id="32"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Your intuition is right: mix all three. </a:t>
            </a:r>
            <a:pPr indent="0" marL="0">
              <a:buNone/>
            </a:pPr>
            <a:r>
              <a:rPr lang="en-US" sz="1800" b="1" i="1" dirty="0">
                <a:solidFill>
                  <a:srgbClr val="6B7280"/>
                </a:solidFill>
              </a:rPr>
              <a:t>More facts, less damage.</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THE TRICK</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Three models, one average. </a:t>
            </a:r>
            <a:pPr algn="l" indent="0" marL="0">
              <a:buNone/>
            </a:pPr>
            <a:r>
              <a:rPr lang="en-US" sz="3200" b="1" i="1" dirty="0">
                <a:solidFill>
                  <a:srgbClr val="6B7280"/>
                </a:solidFill>
              </a:rPr>
              <a:t>All the facts, none of the damage.</a:t>
            </a:r>
            <a:endParaRPr lang="en-US" sz="3200" dirty="0"/>
          </a:p>
        </p:txBody>
      </p:sp>
      <p:sp>
        <p:nvSpPr>
          <p:cNvPr id="4" name="Shape 2"/>
          <p:cNvSpPr/>
          <p:nvPr/>
        </p:nvSpPr>
        <p:spPr>
          <a:xfrm>
            <a:off x="1280160" y="2743200"/>
            <a:ext cx="1005840" cy="1005840"/>
          </a:xfrm>
          <a:prstGeom prst="ellipse">
            <a:avLst/>
          </a:prstGeom>
          <a:solidFill>
            <a:srgbClr val="2563EB"/>
          </a:solidFill>
          <a:ln w="12700">
            <a:solidFill>
              <a:srgbClr val="2563EB"/>
            </a:solidFill>
            <a:prstDash val="solid"/>
          </a:ln>
        </p:spPr>
      </p:sp>
      <p:sp>
        <p:nvSpPr>
          <p:cNvPr id="5" name="Text 3"/>
          <p:cNvSpPr txBox="1"/>
          <p:nvPr/>
        </p:nvSpPr>
        <p:spPr>
          <a:xfrm>
            <a:off x="1280160" y="2743200"/>
            <a:ext cx="1005840" cy="1005840"/>
          </a:xfrm>
          <a:prstGeom prst="rect">
            <a:avLst/>
          </a:prstGeom>
          <a:noFill/>
          <a:ln/>
        </p:spPr>
        <p:txBody>
          <a:bodyPr wrap="square" lIns="0" tIns="0" rIns="0" bIns="0" rtlCol="0" anchor="ctr"/>
          <a:lstStyle/>
          <a:p>
            <a:pPr algn="ctr" indent="0" marL="0">
              <a:buNone/>
            </a:pPr>
            <a:r>
              <a:rPr lang="en-US" sz="2600" b="1" dirty="0">
                <a:solidFill>
                  <a:srgbClr val="FFFFFF"/>
                </a:solidFill>
              </a:rPr>
              <a:t>EN</a:t>
            </a:r>
            <a:endParaRPr lang="en-US" sz="2600" dirty="0"/>
          </a:p>
        </p:txBody>
      </p:sp>
      <p:sp>
        <p:nvSpPr>
          <p:cNvPr id="6" name="Text 4"/>
          <p:cNvSpPr txBox="1"/>
          <p:nvPr/>
        </p:nvSpPr>
        <p:spPr>
          <a:xfrm>
            <a:off x="2377440" y="2743200"/>
            <a:ext cx="457200" cy="1005840"/>
          </a:xfrm>
          <a:prstGeom prst="rect">
            <a:avLst/>
          </a:prstGeom>
          <a:noFill/>
          <a:ln/>
        </p:spPr>
        <p:txBody>
          <a:bodyPr wrap="square" lIns="0" tIns="0" rIns="0" bIns="0" rtlCol="0" anchor="ctr"/>
          <a:lstStyle/>
          <a:p>
            <a:pPr algn="ctr" indent="0" marL="0">
              <a:buNone/>
            </a:pPr>
            <a:r>
              <a:rPr lang="en-US" sz="3600" b="1" dirty="0">
                <a:solidFill>
                  <a:srgbClr val="9CA3AF"/>
                </a:solidFill>
              </a:rPr>
              <a:t>+</a:t>
            </a:r>
            <a:endParaRPr lang="en-US" sz="3600" dirty="0"/>
          </a:p>
        </p:txBody>
      </p:sp>
      <p:sp>
        <p:nvSpPr>
          <p:cNvPr id="7" name="Shape 5"/>
          <p:cNvSpPr/>
          <p:nvPr/>
        </p:nvSpPr>
        <p:spPr>
          <a:xfrm>
            <a:off x="2926080" y="2743200"/>
            <a:ext cx="1005840" cy="1005840"/>
          </a:xfrm>
          <a:prstGeom prst="ellipse">
            <a:avLst/>
          </a:prstGeom>
          <a:solidFill>
            <a:srgbClr val="D97706"/>
          </a:solidFill>
          <a:ln w="12700">
            <a:solidFill>
              <a:srgbClr val="D97706"/>
            </a:solidFill>
            <a:prstDash val="solid"/>
          </a:ln>
        </p:spPr>
      </p:sp>
      <p:sp>
        <p:nvSpPr>
          <p:cNvPr id="8" name="Text 6"/>
          <p:cNvSpPr txBox="1"/>
          <p:nvPr/>
        </p:nvSpPr>
        <p:spPr>
          <a:xfrm>
            <a:off x="2926080" y="2743200"/>
            <a:ext cx="1005840" cy="1005840"/>
          </a:xfrm>
          <a:prstGeom prst="rect">
            <a:avLst/>
          </a:prstGeom>
          <a:noFill/>
          <a:ln/>
        </p:spPr>
        <p:txBody>
          <a:bodyPr wrap="square" lIns="0" tIns="0" rIns="0" bIns="0" rtlCol="0" anchor="ctr"/>
          <a:lstStyle/>
          <a:p>
            <a:pPr algn="ctr" indent="0" marL="0">
              <a:buNone/>
            </a:pPr>
            <a:r>
              <a:rPr lang="en-US" sz="2600" b="1" dirty="0">
                <a:solidFill>
                  <a:srgbClr val="FFFFFF"/>
                </a:solidFill>
              </a:rPr>
              <a:t>DE</a:t>
            </a:r>
            <a:endParaRPr lang="en-US" sz="2600" dirty="0"/>
          </a:p>
        </p:txBody>
      </p:sp>
      <p:sp>
        <p:nvSpPr>
          <p:cNvPr id="9" name="Text 7"/>
          <p:cNvSpPr txBox="1"/>
          <p:nvPr/>
        </p:nvSpPr>
        <p:spPr>
          <a:xfrm>
            <a:off x="4023360" y="2743200"/>
            <a:ext cx="457200" cy="1005840"/>
          </a:xfrm>
          <a:prstGeom prst="rect">
            <a:avLst/>
          </a:prstGeom>
          <a:noFill/>
          <a:ln/>
        </p:spPr>
        <p:txBody>
          <a:bodyPr wrap="square" lIns="0" tIns="0" rIns="0" bIns="0" rtlCol="0" anchor="ctr"/>
          <a:lstStyle/>
          <a:p>
            <a:pPr algn="ctr" indent="0" marL="0">
              <a:buNone/>
            </a:pPr>
            <a:r>
              <a:rPr lang="en-US" sz="3600" b="1" dirty="0">
                <a:solidFill>
                  <a:srgbClr val="9CA3AF"/>
                </a:solidFill>
              </a:rPr>
              <a:t>+</a:t>
            </a:r>
            <a:endParaRPr lang="en-US" sz="3600" dirty="0"/>
          </a:p>
        </p:txBody>
      </p:sp>
      <p:sp>
        <p:nvSpPr>
          <p:cNvPr id="10" name="Shape 8"/>
          <p:cNvSpPr/>
          <p:nvPr/>
        </p:nvSpPr>
        <p:spPr>
          <a:xfrm>
            <a:off x="4572000" y="2743200"/>
            <a:ext cx="1005840" cy="1005840"/>
          </a:xfrm>
          <a:prstGeom prst="ellipse">
            <a:avLst/>
          </a:prstGeom>
          <a:solidFill>
            <a:srgbClr val="7C3AED"/>
          </a:solidFill>
          <a:ln w="12700">
            <a:solidFill>
              <a:srgbClr val="7C3AED"/>
            </a:solidFill>
            <a:prstDash val="solid"/>
          </a:ln>
        </p:spPr>
      </p:sp>
      <p:sp>
        <p:nvSpPr>
          <p:cNvPr id="11" name="Text 9"/>
          <p:cNvSpPr txBox="1"/>
          <p:nvPr/>
        </p:nvSpPr>
        <p:spPr>
          <a:xfrm>
            <a:off x="4572000" y="2743200"/>
            <a:ext cx="1005840" cy="1005840"/>
          </a:xfrm>
          <a:prstGeom prst="rect">
            <a:avLst/>
          </a:prstGeom>
          <a:noFill/>
          <a:ln/>
        </p:spPr>
        <p:txBody>
          <a:bodyPr wrap="square" lIns="0" tIns="0" rIns="0" bIns="0" rtlCol="0" anchor="ctr"/>
          <a:lstStyle/>
          <a:p>
            <a:pPr algn="ctr" indent="0" marL="0">
              <a:buNone/>
            </a:pPr>
            <a:r>
              <a:rPr lang="en-US" sz="2600" b="1" dirty="0">
                <a:solidFill>
                  <a:srgbClr val="FFFFFF"/>
                </a:solidFill>
              </a:rPr>
              <a:t>FR</a:t>
            </a:r>
            <a:endParaRPr lang="en-US" sz="2600" dirty="0"/>
          </a:p>
        </p:txBody>
      </p:sp>
      <p:sp>
        <p:nvSpPr>
          <p:cNvPr id="12" name="Text 10"/>
          <p:cNvSpPr txBox="1"/>
          <p:nvPr/>
        </p:nvSpPr>
        <p:spPr>
          <a:xfrm>
            <a:off x="5669280" y="2743200"/>
            <a:ext cx="1463040" cy="1005840"/>
          </a:xfrm>
          <a:prstGeom prst="rect">
            <a:avLst/>
          </a:prstGeom>
          <a:noFill/>
          <a:ln/>
        </p:spPr>
        <p:txBody>
          <a:bodyPr wrap="square" lIns="0" tIns="0" rIns="0" bIns="0" rtlCol="0" anchor="ctr"/>
          <a:lstStyle/>
          <a:p>
            <a:pPr algn="ctr" indent="0" marL="0">
              <a:buNone/>
            </a:pPr>
            <a:r>
              <a:rPr lang="en-US" sz="3600" b="1" dirty="0">
                <a:solidFill>
                  <a:srgbClr val="9CA3AF"/>
                </a:solidFill>
              </a:rPr>
              <a:t>÷ 3  =</a:t>
            </a:r>
            <a:endParaRPr lang="en-US" sz="3600" dirty="0"/>
          </a:p>
        </p:txBody>
      </p:sp>
      <p:sp>
        <p:nvSpPr>
          <p:cNvPr id="13" name="Shape 11"/>
          <p:cNvSpPr/>
          <p:nvPr/>
        </p:nvSpPr>
        <p:spPr>
          <a:xfrm>
            <a:off x="7315200" y="2560320"/>
            <a:ext cx="1371600" cy="1371600"/>
          </a:xfrm>
          <a:prstGeom prst="ellipse">
            <a:avLst/>
          </a:prstGeom>
          <a:solidFill>
            <a:srgbClr val="C2410C"/>
          </a:solidFill>
          <a:ln w="12700">
            <a:solidFill>
              <a:srgbClr val="C2410C"/>
            </a:solidFill>
            <a:prstDash val="solid"/>
          </a:ln>
        </p:spPr>
      </p:sp>
      <p:sp>
        <p:nvSpPr>
          <p:cNvPr id="14" name="Text 12"/>
          <p:cNvSpPr txBox="1"/>
          <p:nvPr/>
        </p:nvSpPr>
        <p:spPr>
          <a:xfrm>
            <a:off x="7315200" y="2560320"/>
            <a:ext cx="1371600" cy="1371600"/>
          </a:xfrm>
          <a:prstGeom prst="rect">
            <a:avLst/>
          </a:prstGeom>
          <a:noFill/>
          <a:ln/>
        </p:spPr>
        <p:txBody>
          <a:bodyPr wrap="square" lIns="0" tIns="0" rIns="0" bIns="0" rtlCol="0" anchor="ctr"/>
          <a:lstStyle/>
          <a:p>
            <a:pPr algn="ctr" indent="0" marL="0">
              <a:buNone/>
            </a:pPr>
            <a:r>
              <a:rPr lang="en-US" sz="4800" dirty="0">
                <a:solidFill>
                  <a:srgbClr val="FFFFFF"/>
                </a:solidFill>
              </a:rPr>
              <a:t>★</a:t>
            </a:r>
            <a:endParaRPr lang="en-US" sz="4800" dirty="0"/>
          </a:p>
        </p:txBody>
      </p:sp>
      <p:sp>
        <p:nvSpPr>
          <p:cNvPr id="15" name="Text 13"/>
          <p:cNvSpPr txBox="1"/>
          <p:nvPr/>
        </p:nvSpPr>
        <p:spPr>
          <a:xfrm>
            <a:off x="1280160" y="4206240"/>
            <a:ext cx="2377440" cy="914400"/>
          </a:xfrm>
          <a:prstGeom prst="rect">
            <a:avLst/>
          </a:prstGeom>
          <a:noFill/>
          <a:ln/>
        </p:spPr>
        <p:txBody>
          <a:bodyPr wrap="square" lIns="0" tIns="0" rIns="0" bIns="0" rtlCol="0" anchor="ctr"/>
          <a:lstStyle/>
          <a:p>
            <a:pPr algn="ctr" indent="0" marL="0">
              <a:buNone/>
            </a:pPr>
            <a:r>
              <a:rPr lang="en-US" sz="6000" b="1" dirty="0">
                <a:solidFill>
                  <a:srgbClr val="C2410C"/>
                </a:solidFill>
                <a:latin typeface="Cambria" pitchFamily="34" charset="0"/>
                <a:ea typeface="Cambria" pitchFamily="34" charset="-122"/>
                <a:cs typeface="Cambria" pitchFamily="34" charset="-120"/>
              </a:rPr>
              <a:t>+5.1</a:t>
            </a:r>
            <a:endParaRPr lang="en-US" sz="6000" dirty="0"/>
          </a:p>
        </p:txBody>
      </p:sp>
      <p:sp>
        <p:nvSpPr>
          <p:cNvPr id="16" name="Text 14"/>
          <p:cNvSpPr txBox="1"/>
          <p:nvPr/>
        </p:nvSpPr>
        <p:spPr>
          <a:xfrm>
            <a:off x="1280160" y="5120640"/>
            <a:ext cx="2377440" cy="365760"/>
          </a:xfrm>
          <a:prstGeom prst="rect">
            <a:avLst/>
          </a:prstGeom>
          <a:noFill/>
          <a:ln/>
        </p:spPr>
        <p:txBody>
          <a:bodyPr wrap="square" lIns="0" tIns="0" rIns="0" bIns="0" rtlCol="0" anchor="ctr"/>
          <a:lstStyle/>
          <a:p>
            <a:pPr algn="ctr" indent="0" marL="0">
              <a:buNone/>
            </a:pPr>
            <a:r>
              <a:rPr lang="en-US" sz="1500" dirty="0">
                <a:solidFill>
                  <a:srgbClr val="6B7280"/>
                </a:solidFill>
              </a:rPr>
              <a:t>new facts</a:t>
            </a:r>
            <a:endParaRPr lang="en-US" sz="1500" dirty="0"/>
          </a:p>
        </p:txBody>
      </p:sp>
      <p:sp>
        <p:nvSpPr>
          <p:cNvPr id="17" name="Text 15"/>
          <p:cNvSpPr txBox="1"/>
          <p:nvPr/>
        </p:nvSpPr>
        <p:spPr>
          <a:xfrm>
            <a:off x="4023360" y="4206240"/>
            <a:ext cx="2377440" cy="914400"/>
          </a:xfrm>
          <a:prstGeom prst="rect">
            <a:avLst/>
          </a:prstGeom>
          <a:noFill/>
          <a:ln/>
        </p:spPr>
        <p:txBody>
          <a:bodyPr wrap="square" lIns="0" tIns="0" rIns="0" bIns="0" rtlCol="0" anchor="ctr"/>
          <a:lstStyle/>
          <a:p>
            <a:pPr algn="ctr" indent="0" marL="0">
              <a:buNone/>
            </a:pPr>
            <a:r>
              <a:rPr lang="en-US" sz="6000" b="1" dirty="0">
                <a:solidFill>
                  <a:srgbClr val="111827"/>
                </a:solidFill>
                <a:latin typeface="Cambria" pitchFamily="34" charset="0"/>
                <a:ea typeface="Cambria" pitchFamily="34" charset="-122"/>
                <a:cs typeface="Cambria" pitchFamily="34" charset="-120"/>
              </a:rPr>
              <a:t>+0.2</a:t>
            </a:r>
            <a:endParaRPr lang="en-US" sz="6000" dirty="0"/>
          </a:p>
        </p:txBody>
      </p:sp>
      <p:sp>
        <p:nvSpPr>
          <p:cNvPr id="18" name="Text 16"/>
          <p:cNvSpPr txBox="1"/>
          <p:nvPr/>
        </p:nvSpPr>
        <p:spPr>
          <a:xfrm>
            <a:off x="4023360" y="5120640"/>
            <a:ext cx="2377440" cy="365760"/>
          </a:xfrm>
          <a:prstGeom prst="rect">
            <a:avLst/>
          </a:prstGeom>
          <a:noFill/>
          <a:ln/>
        </p:spPr>
        <p:txBody>
          <a:bodyPr wrap="square" lIns="0" tIns="0" rIns="0" bIns="0" rtlCol="0" anchor="ctr"/>
          <a:lstStyle/>
          <a:p>
            <a:pPr algn="ctr" indent="0" marL="0">
              <a:buNone/>
            </a:pPr>
            <a:r>
              <a:rPr lang="en-US" sz="1500" dirty="0">
                <a:solidFill>
                  <a:srgbClr val="6B7280"/>
                </a:solidFill>
              </a:rPr>
              <a:t>skills, nothing lost</a:t>
            </a:r>
            <a:endParaRPr lang="en-US" sz="1500" dirty="0"/>
          </a:p>
        </p:txBody>
      </p:sp>
      <p:sp>
        <p:nvSpPr>
          <p:cNvPr id="19" name="Shape 17"/>
          <p:cNvSpPr/>
          <p:nvPr/>
        </p:nvSpPr>
        <p:spPr>
          <a:xfrm>
            <a:off x="6949440" y="4526280"/>
            <a:ext cx="4206240" cy="384048"/>
          </a:xfrm>
          <a:prstGeom prst="roundRect">
            <a:avLst>
              <a:gd name="adj" fmla="val 50000"/>
            </a:avLst>
          </a:prstGeom>
          <a:solidFill>
            <a:srgbClr val="DCFCE7"/>
          </a:solidFill>
          <a:ln w="12700">
            <a:solidFill>
              <a:srgbClr val="DCFCE7"/>
            </a:solidFill>
            <a:prstDash val="solid"/>
          </a:ln>
        </p:spPr>
      </p:sp>
      <p:sp>
        <p:nvSpPr>
          <p:cNvPr id="20" name="Text 18"/>
          <p:cNvSpPr txBox="1"/>
          <p:nvPr/>
        </p:nvSpPr>
        <p:spPr>
          <a:xfrm>
            <a:off x="6949440" y="4526280"/>
            <a:ext cx="4206240" cy="384048"/>
          </a:xfrm>
          <a:prstGeom prst="rect">
            <a:avLst/>
          </a:prstGeom>
          <a:noFill/>
          <a:ln/>
        </p:spPr>
        <p:txBody>
          <a:bodyPr wrap="square" lIns="0" tIns="0" rIns="0" bIns="0" rtlCol="0" anchor="ctr"/>
          <a:lstStyle/>
          <a:p>
            <a:pPr algn="ctr" indent="0" marL="0">
              <a:buNone/>
            </a:pPr>
            <a:r>
              <a:rPr lang="en-US" sz="1300" b="1" dirty="0">
                <a:solidFill>
                  <a:srgbClr val="166534"/>
                </a:solidFill>
              </a:rPr>
              <a:t>zero training  ·  just average the weights</a:t>
            </a:r>
            <a:endParaRPr lang="en-US" sz="1300" dirty="0"/>
          </a:p>
        </p:txBody>
      </p:sp>
      <p:sp>
        <p:nvSpPr>
          <p:cNvPr id="21"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Train separately, merge afterwards. </a:t>
            </a:r>
            <a:pPr indent="0" marL="0">
              <a:buNone/>
            </a:pPr>
            <a:r>
              <a:rPr lang="en-US" sz="1800" b="1" i="1" dirty="0">
                <a:solidFill>
                  <a:srgbClr val="6B7280"/>
                </a:solidFill>
              </a:rPr>
              <a:t>The first time we get the facts without the price.</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WHY IT WORKS · WORK IN PROGRESS</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New knowledge is a direction. </a:t>
            </a:r>
            <a:pPr algn="l" indent="0" marL="0">
              <a:buNone/>
            </a:pPr>
            <a:r>
              <a:rPr lang="en-US" sz="3200" b="1" i="1" dirty="0">
                <a:solidFill>
                  <a:srgbClr val="6B7280"/>
                </a:solidFill>
              </a:rPr>
              <a:t>Averaging keeps the shared part.</a:t>
            </a:r>
            <a:endParaRPr lang="en-US" sz="3200" dirty="0"/>
          </a:p>
        </p:txBody>
      </p:sp>
      <p:sp>
        <p:nvSpPr>
          <p:cNvPr id="4" name="Shape 2"/>
          <p:cNvSpPr/>
          <p:nvPr/>
        </p:nvSpPr>
        <p:spPr>
          <a:xfrm flipV="1">
            <a:off x="1463040" y="4206240"/>
            <a:ext cx="3657600" cy="731520"/>
          </a:xfrm>
          <a:prstGeom prst="line">
            <a:avLst/>
          </a:prstGeom>
          <a:noFill/>
          <a:ln w="50800">
            <a:solidFill>
              <a:srgbClr val="2563EB"/>
            </a:solidFill>
            <a:prstDash val="solid"/>
            <a:tailEnd type="triangle"/>
          </a:ln>
        </p:spPr>
      </p:sp>
      <p:sp>
        <p:nvSpPr>
          <p:cNvPr id="5" name="Shape 3"/>
          <p:cNvSpPr/>
          <p:nvPr/>
        </p:nvSpPr>
        <p:spPr>
          <a:xfrm flipV="1">
            <a:off x="1463040" y="2194560"/>
            <a:ext cx="1188720" cy="2743200"/>
          </a:xfrm>
          <a:prstGeom prst="line">
            <a:avLst/>
          </a:prstGeom>
          <a:noFill/>
          <a:ln w="50800">
            <a:solidFill>
              <a:srgbClr val="D97706"/>
            </a:solidFill>
            <a:prstDash val="solid"/>
            <a:tailEnd type="triangle"/>
          </a:ln>
        </p:spPr>
      </p:sp>
      <p:sp>
        <p:nvSpPr>
          <p:cNvPr id="6" name="Shape 4"/>
          <p:cNvSpPr/>
          <p:nvPr/>
        </p:nvSpPr>
        <p:spPr>
          <a:xfrm flipV="1">
            <a:off x="1463040" y="2286000"/>
            <a:ext cx="3017520" cy="2651760"/>
          </a:xfrm>
          <a:prstGeom prst="line">
            <a:avLst/>
          </a:prstGeom>
          <a:noFill/>
          <a:ln w="50800">
            <a:solidFill>
              <a:srgbClr val="7C3AED"/>
            </a:solidFill>
            <a:prstDash val="solid"/>
            <a:tailEnd type="triangle"/>
          </a:ln>
        </p:spPr>
      </p:sp>
      <p:sp>
        <p:nvSpPr>
          <p:cNvPr id="7" name="Shape 5"/>
          <p:cNvSpPr/>
          <p:nvPr/>
        </p:nvSpPr>
        <p:spPr>
          <a:xfrm flipV="1">
            <a:off x="1463040" y="3657600"/>
            <a:ext cx="2194560" cy="1280160"/>
          </a:xfrm>
          <a:prstGeom prst="line">
            <a:avLst/>
          </a:prstGeom>
          <a:noFill/>
          <a:ln w="88900">
            <a:solidFill>
              <a:srgbClr val="C2410C"/>
            </a:solidFill>
            <a:prstDash val="solid"/>
            <a:tailEnd type="triangle"/>
          </a:ln>
        </p:spPr>
      </p:sp>
      <p:sp>
        <p:nvSpPr>
          <p:cNvPr id="8" name="Shape 6"/>
          <p:cNvSpPr/>
          <p:nvPr/>
        </p:nvSpPr>
        <p:spPr>
          <a:xfrm>
            <a:off x="1325880" y="4800600"/>
            <a:ext cx="274320" cy="274320"/>
          </a:xfrm>
          <a:prstGeom prst="ellipse">
            <a:avLst/>
          </a:prstGeom>
          <a:solidFill>
            <a:srgbClr val="FFFFFF"/>
          </a:solidFill>
          <a:ln w="38100">
            <a:solidFill>
              <a:srgbClr val="111827"/>
            </a:solidFill>
            <a:prstDash val="solid"/>
          </a:ln>
        </p:spPr>
      </p:sp>
      <p:sp>
        <p:nvSpPr>
          <p:cNvPr id="9" name="Text 7"/>
          <p:cNvSpPr txBox="1"/>
          <p:nvPr/>
        </p:nvSpPr>
        <p:spPr>
          <a:xfrm>
            <a:off x="640080" y="5120640"/>
            <a:ext cx="1645920" cy="320040"/>
          </a:xfrm>
          <a:prstGeom prst="rect">
            <a:avLst/>
          </a:prstGeom>
          <a:noFill/>
          <a:ln/>
        </p:spPr>
        <p:txBody>
          <a:bodyPr wrap="square" lIns="0" tIns="0" rIns="0" bIns="0" rtlCol="0" anchor="ctr"/>
          <a:lstStyle/>
          <a:p>
            <a:pPr algn="ctr" indent="0" marL="0">
              <a:buNone/>
            </a:pPr>
            <a:r>
              <a:rPr lang="en-US" sz="1400" b="1" dirty="0">
                <a:solidFill>
                  <a:srgbClr val="111827"/>
                </a:solidFill>
              </a:rPr>
              <a:t>base model</a:t>
            </a:r>
            <a:endParaRPr lang="en-US" sz="1400" dirty="0"/>
          </a:p>
        </p:txBody>
      </p:sp>
      <p:sp>
        <p:nvSpPr>
          <p:cNvPr id="10" name="Text 8"/>
          <p:cNvSpPr txBox="1"/>
          <p:nvPr/>
        </p:nvSpPr>
        <p:spPr>
          <a:xfrm>
            <a:off x="5212080" y="4023360"/>
            <a:ext cx="548640" cy="320040"/>
          </a:xfrm>
          <a:prstGeom prst="rect">
            <a:avLst/>
          </a:prstGeom>
          <a:noFill/>
          <a:ln/>
        </p:spPr>
        <p:txBody>
          <a:bodyPr wrap="square" lIns="0" tIns="0" rIns="0" bIns="0" rtlCol="0" anchor="ctr"/>
          <a:lstStyle/>
          <a:p>
            <a:pPr indent="0" marL="0">
              <a:buNone/>
            </a:pPr>
            <a:r>
              <a:rPr lang="en-US" sz="1600" b="1" dirty="0">
                <a:solidFill>
                  <a:srgbClr val="2563EB"/>
                </a:solidFill>
              </a:rPr>
              <a:t>EN</a:t>
            </a:r>
            <a:endParaRPr lang="en-US" sz="1600" dirty="0"/>
          </a:p>
        </p:txBody>
      </p:sp>
      <p:sp>
        <p:nvSpPr>
          <p:cNvPr id="11" name="Text 9"/>
          <p:cNvSpPr txBox="1"/>
          <p:nvPr/>
        </p:nvSpPr>
        <p:spPr>
          <a:xfrm>
            <a:off x="2377440" y="1874520"/>
            <a:ext cx="548640" cy="320040"/>
          </a:xfrm>
          <a:prstGeom prst="rect">
            <a:avLst/>
          </a:prstGeom>
          <a:noFill/>
          <a:ln/>
        </p:spPr>
        <p:txBody>
          <a:bodyPr wrap="square" lIns="0" tIns="0" rIns="0" bIns="0" rtlCol="0" anchor="ctr"/>
          <a:lstStyle/>
          <a:p>
            <a:pPr indent="0" marL="0">
              <a:buNone/>
            </a:pPr>
            <a:r>
              <a:rPr lang="en-US" sz="1600" b="1" dirty="0">
                <a:solidFill>
                  <a:srgbClr val="D97706"/>
                </a:solidFill>
              </a:rPr>
              <a:t>DE</a:t>
            </a:r>
            <a:endParaRPr lang="en-US" sz="1600" dirty="0"/>
          </a:p>
        </p:txBody>
      </p:sp>
      <p:sp>
        <p:nvSpPr>
          <p:cNvPr id="12" name="Text 10"/>
          <p:cNvSpPr txBox="1"/>
          <p:nvPr/>
        </p:nvSpPr>
        <p:spPr>
          <a:xfrm>
            <a:off x="4526280" y="1965960"/>
            <a:ext cx="548640" cy="320040"/>
          </a:xfrm>
          <a:prstGeom prst="rect">
            <a:avLst/>
          </a:prstGeom>
          <a:noFill/>
          <a:ln/>
        </p:spPr>
        <p:txBody>
          <a:bodyPr wrap="square" lIns="0" tIns="0" rIns="0" bIns="0" rtlCol="0" anchor="ctr"/>
          <a:lstStyle/>
          <a:p>
            <a:pPr indent="0" marL="0">
              <a:buNone/>
            </a:pPr>
            <a:r>
              <a:rPr lang="en-US" sz="1600" b="1" dirty="0">
                <a:solidFill>
                  <a:srgbClr val="7C3AED"/>
                </a:solidFill>
              </a:rPr>
              <a:t>FR</a:t>
            </a:r>
            <a:endParaRPr lang="en-US" sz="1600" dirty="0"/>
          </a:p>
        </p:txBody>
      </p:sp>
      <p:sp>
        <p:nvSpPr>
          <p:cNvPr id="13" name="Text 11"/>
          <p:cNvSpPr txBox="1"/>
          <p:nvPr/>
        </p:nvSpPr>
        <p:spPr>
          <a:xfrm>
            <a:off x="3749040" y="3429000"/>
            <a:ext cx="1463040" cy="320040"/>
          </a:xfrm>
          <a:prstGeom prst="rect">
            <a:avLst/>
          </a:prstGeom>
          <a:noFill/>
          <a:ln/>
        </p:spPr>
        <p:txBody>
          <a:bodyPr wrap="square" lIns="0" tIns="0" rIns="0" bIns="0" rtlCol="0" anchor="ctr"/>
          <a:lstStyle/>
          <a:p>
            <a:pPr indent="0" marL="0">
              <a:buNone/>
            </a:pPr>
            <a:r>
              <a:rPr lang="en-US" sz="1600" b="1" dirty="0">
                <a:solidFill>
                  <a:srgbClr val="C2410C"/>
                </a:solidFill>
              </a:rPr>
              <a:t>average ★</a:t>
            </a:r>
            <a:endParaRPr lang="en-US" sz="1600" dirty="0"/>
          </a:p>
        </p:txBody>
      </p:sp>
      <p:sp>
        <p:nvSpPr>
          <p:cNvPr id="14" name="Text 12"/>
          <p:cNvSpPr txBox="1"/>
          <p:nvPr/>
        </p:nvSpPr>
        <p:spPr>
          <a:xfrm>
            <a:off x="6400800" y="2286000"/>
            <a:ext cx="1737360" cy="731520"/>
          </a:xfrm>
          <a:prstGeom prst="rect">
            <a:avLst/>
          </a:prstGeom>
          <a:noFill/>
          <a:ln/>
        </p:spPr>
        <p:txBody>
          <a:bodyPr wrap="square" lIns="0" tIns="0" rIns="0" bIns="0" rtlCol="0" anchor="ctr"/>
          <a:lstStyle/>
          <a:p>
            <a:pPr indent="0" marL="0">
              <a:buNone/>
            </a:pPr>
            <a:r>
              <a:rPr lang="en-US" sz="4000" b="1" dirty="0">
                <a:solidFill>
                  <a:srgbClr val="111827"/>
                </a:solidFill>
                <a:latin typeface="Cambria" pitchFamily="34" charset="0"/>
                <a:ea typeface="Cambria" pitchFamily="34" charset="-122"/>
                <a:cs typeface="Cambria" pitchFamily="34" charset="-120"/>
              </a:rPr>
              <a:t>≈0.15</a:t>
            </a:r>
            <a:endParaRPr lang="en-US" sz="4000" dirty="0"/>
          </a:p>
        </p:txBody>
      </p:sp>
      <p:sp>
        <p:nvSpPr>
          <p:cNvPr id="15" name="Text 13"/>
          <p:cNvSpPr txBox="1"/>
          <p:nvPr/>
        </p:nvSpPr>
        <p:spPr>
          <a:xfrm>
            <a:off x="8229600" y="2331720"/>
            <a:ext cx="3383280" cy="731520"/>
          </a:xfrm>
          <a:prstGeom prst="rect">
            <a:avLst/>
          </a:prstGeom>
          <a:noFill/>
          <a:ln/>
        </p:spPr>
        <p:txBody>
          <a:bodyPr wrap="square" lIns="0" tIns="0" rIns="0" bIns="0" rtlCol="0" anchor="ctr"/>
          <a:lstStyle/>
          <a:p>
            <a:pPr indent="0" marL="0">
              <a:buNone/>
            </a:pPr>
            <a:r>
              <a:rPr lang="en-US" sz="1400" dirty="0">
                <a:solidFill>
                  <a:srgbClr val="374151"/>
                </a:solidFill>
              </a:rPr>
              <a:t>similarity of the three updates: nearly unrelated directions</a:t>
            </a:r>
            <a:endParaRPr lang="en-US" sz="1400" dirty="0"/>
          </a:p>
        </p:txBody>
      </p:sp>
      <p:sp>
        <p:nvSpPr>
          <p:cNvPr id="16" name="Text 14"/>
          <p:cNvSpPr txBox="1"/>
          <p:nvPr/>
        </p:nvSpPr>
        <p:spPr>
          <a:xfrm>
            <a:off x="6400800" y="3337560"/>
            <a:ext cx="1737360" cy="731520"/>
          </a:xfrm>
          <a:prstGeom prst="rect">
            <a:avLst/>
          </a:prstGeom>
          <a:noFill/>
          <a:ln/>
        </p:spPr>
        <p:txBody>
          <a:bodyPr wrap="square" lIns="0" tIns="0" rIns="0" bIns="0" rtlCol="0" anchor="ctr"/>
          <a:lstStyle/>
          <a:p>
            <a:pPr indent="0" marL="0">
              <a:buNone/>
            </a:pPr>
            <a:r>
              <a:rPr lang="en-US" sz="4000" b="1" dirty="0">
                <a:solidFill>
                  <a:srgbClr val="C2410C"/>
                </a:solidFill>
                <a:latin typeface="Cambria" pitchFamily="34" charset="0"/>
                <a:ea typeface="Cambria" pitchFamily="34" charset="-122"/>
                <a:cs typeface="Cambria" pitchFamily="34" charset="-120"/>
              </a:rPr>
              <a:t>≈65%</a:t>
            </a:r>
            <a:endParaRPr lang="en-US" sz="4000" dirty="0"/>
          </a:p>
        </p:txBody>
      </p:sp>
      <p:sp>
        <p:nvSpPr>
          <p:cNvPr id="17" name="Text 15"/>
          <p:cNvSpPr txBox="1"/>
          <p:nvPr/>
        </p:nvSpPr>
        <p:spPr>
          <a:xfrm>
            <a:off x="8229600" y="3383280"/>
            <a:ext cx="3383280" cy="731520"/>
          </a:xfrm>
          <a:prstGeom prst="rect">
            <a:avLst/>
          </a:prstGeom>
          <a:noFill/>
          <a:ln/>
        </p:spPr>
        <p:txBody>
          <a:bodyPr wrap="square" lIns="0" tIns="0" rIns="0" bIns="0" rtlCol="0" anchor="ctr"/>
          <a:lstStyle/>
          <a:p>
            <a:pPr indent="0" marL="0">
              <a:buNone/>
            </a:pPr>
            <a:r>
              <a:rPr lang="en-US" sz="1400" dirty="0">
                <a:solidFill>
                  <a:srgbClr val="374151"/>
                </a:solidFill>
              </a:rPr>
              <a:t>of one update's length: language-specific parts cancel, the shared part stays</a:t>
            </a:r>
            <a:endParaRPr lang="en-US" sz="1400" dirty="0"/>
          </a:p>
        </p:txBody>
      </p:sp>
      <p:sp>
        <p:nvSpPr>
          <p:cNvPr id="18" name="Text 16"/>
          <p:cNvSpPr txBox="1"/>
          <p:nvPr/>
        </p:nvSpPr>
        <p:spPr>
          <a:xfrm>
            <a:off x="6400800" y="4389120"/>
            <a:ext cx="1737360" cy="731520"/>
          </a:xfrm>
          <a:prstGeom prst="rect">
            <a:avLst/>
          </a:prstGeom>
          <a:noFill/>
          <a:ln/>
        </p:spPr>
        <p:txBody>
          <a:bodyPr wrap="square" lIns="0" tIns="0" rIns="0" bIns="0" rtlCol="0" anchor="ctr"/>
          <a:lstStyle/>
          <a:p>
            <a:pPr indent="0" marL="0">
              <a:buNone/>
            </a:pPr>
            <a:r>
              <a:rPr lang="en-US" sz="4000" b="1" dirty="0">
                <a:solidFill>
                  <a:srgbClr val="111827"/>
                </a:solidFill>
                <a:latin typeface="Cambria" pitchFamily="34" charset="0"/>
                <a:ea typeface="Cambria" pitchFamily="34" charset="-122"/>
                <a:cs typeface="Cambria" pitchFamily="34" charset="-120"/>
              </a:rPr>
              <a:t>MLPs</a:t>
            </a:r>
            <a:endParaRPr lang="en-US" sz="4000" dirty="0"/>
          </a:p>
        </p:txBody>
      </p:sp>
      <p:sp>
        <p:nvSpPr>
          <p:cNvPr id="19" name="Text 17"/>
          <p:cNvSpPr txBox="1"/>
          <p:nvPr/>
        </p:nvSpPr>
        <p:spPr>
          <a:xfrm>
            <a:off x="8229600" y="4434840"/>
            <a:ext cx="3383280" cy="731520"/>
          </a:xfrm>
          <a:prstGeom prst="rect">
            <a:avLst/>
          </a:prstGeom>
          <a:noFill/>
          <a:ln/>
        </p:spPr>
        <p:txBody>
          <a:bodyPr wrap="square" lIns="0" tIns="0" rIns="0" bIns="0" rtlCol="0" anchor="ctr"/>
          <a:lstStyle/>
          <a:p>
            <a:pPr indent="0" marL="0">
              <a:buNone/>
            </a:pPr>
            <a:r>
              <a:rPr lang="en-US" sz="1400" dirty="0">
                <a:solidFill>
                  <a:srgbClr val="374151"/>
                </a:solidFill>
              </a:rPr>
              <a:t>carry 92–100% of the new facts, the same place steering found in part 1</a:t>
            </a:r>
            <a:endParaRPr lang="en-US" sz="1400" dirty="0"/>
          </a:p>
        </p:txBody>
      </p:sp>
      <p:sp>
        <p:nvSpPr>
          <p:cNvPr id="20"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Running now: is it the shorter step or the better direction? </a:t>
            </a:r>
            <a:pPr indent="0" marL="0">
              <a:buNone/>
            </a:pPr>
            <a:r>
              <a:rPr lang="en-US" sz="1800" b="1" i="1" dirty="0">
                <a:solidFill>
                  <a:srgbClr val="6B7280"/>
                </a:solidFill>
              </a:rPr>
              <a:t>And can we walk further along it?</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PART 2 · IN ONE PICTURE</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Every update learns. </a:t>
            </a:r>
            <a:pPr algn="l" indent="0" marL="0">
              <a:buNone/>
            </a:pPr>
            <a:r>
              <a:rPr lang="en-US" sz="3200" b="1" i="1" dirty="0">
                <a:solidFill>
                  <a:srgbClr val="6B7280"/>
                </a:solidFill>
              </a:rPr>
              <a:t>Only the average learns without losing.</a:t>
            </a:r>
            <a:endParaRPr lang="en-US" sz="3200" dirty="0"/>
          </a:p>
        </p:txBody>
      </p:sp>
      <p:pic>
        <p:nvPicPr>
          <p:cNvPr id="4" name="Image 0" descr="/tmp/claude-0/-home-user-Claude-expo-repo-36501/d3d88de1-f67d-5aa6-8097-3ece5ccf8bcb/scratchpad/build/summary_part2.png">    </p:cNvPr>
          <p:cNvPicPr>
            <a:picLocks noChangeAspect="1"/>
          </p:cNvPicPr>
          <p:nvPr/>
        </p:nvPicPr>
        <p:blipFill>
          <a:blip r:embed="rId1"/>
          <a:stretch>
            <a:fillRect/>
          </a:stretch>
        </p:blipFill>
        <p:spPr>
          <a:xfrm>
            <a:off x="2331720" y="1965960"/>
            <a:ext cx="7498080" cy="3994831"/>
          </a:xfrm>
          <a:prstGeom prst="rect">
            <a:avLst/>
          </a:prstGeom>
        </p:spPr>
      </p:pic>
      <p:sp>
        <p:nvSpPr>
          <p:cNvPr id="5"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Right = more new facts. Up = nothing forgotten. </a:t>
            </a:r>
            <a:pPr indent="0" marL="0">
              <a:buNone/>
            </a:pPr>
            <a:r>
              <a:rPr lang="en-US" sz="1800" b="1" i="1" dirty="0">
                <a:solidFill>
                  <a:srgbClr val="6B7280"/>
                </a:solidFill>
              </a:rPr>
              <a:t>Top right is where we want to be.</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SUMMARY</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Retraining is the brute-force option. </a:t>
            </a:r>
            <a:pPr algn="l" indent="0" marL="0">
              <a:buNone/>
            </a:pPr>
            <a:r>
              <a:rPr lang="en-US" sz="3200" b="1" i="1" dirty="0">
                <a:solidFill>
                  <a:srgbClr val="6B7280"/>
                </a:solidFill>
              </a:rPr>
              <a:t>Looking inside is the smart one.</a:t>
            </a:r>
            <a:endParaRPr lang="en-US" sz="3200" dirty="0"/>
          </a:p>
        </p:txBody>
      </p:sp>
      <p:sp>
        <p:nvSpPr>
          <p:cNvPr id="4" name="Shape 2"/>
          <p:cNvSpPr/>
          <p:nvPr/>
        </p:nvSpPr>
        <p:spPr>
          <a:xfrm>
            <a:off x="640080" y="2286000"/>
            <a:ext cx="5212080" cy="3017520"/>
          </a:xfrm>
          <a:prstGeom prst="roundRect">
            <a:avLst>
              <a:gd name="adj" fmla="val 3636"/>
            </a:avLst>
          </a:prstGeom>
          <a:solidFill>
            <a:srgbClr val="F9FAFB"/>
          </a:solidFill>
          <a:ln w="12700">
            <a:solidFill>
              <a:srgbClr val="E5E7EB"/>
            </a:solidFill>
            <a:prstDash val="solid"/>
          </a:ln>
        </p:spPr>
      </p:sp>
      <p:sp>
        <p:nvSpPr>
          <p:cNvPr id="5" name="Text 3"/>
          <p:cNvSpPr txBox="1"/>
          <p:nvPr/>
        </p:nvSpPr>
        <p:spPr>
          <a:xfrm>
            <a:off x="914400" y="2468880"/>
            <a:ext cx="4663440" cy="320040"/>
          </a:xfrm>
          <a:prstGeom prst="rect">
            <a:avLst/>
          </a:prstGeom>
          <a:noFill/>
          <a:ln/>
        </p:spPr>
        <p:txBody>
          <a:bodyPr wrap="square" lIns="0" tIns="0" rIns="0" bIns="0" rtlCol="0" anchor="ctr"/>
          <a:lstStyle/>
          <a:p>
            <a:pPr indent="0" marL="0">
              <a:buNone/>
            </a:pPr>
            <a:r>
              <a:rPr lang="en-US" sz="1200" b="1" spc="200" kern="0" dirty="0">
                <a:solidFill>
                  <a:srgbClr val="6B7280"/>
                </a:solidFill>
              </a:rPr>
              <a:t>RETRAIN OR TEACH?</a:t>
            </a:r>
            <a:endParaRPr lang="en-US" sz="1200" dirty="0"/>
          </a:p>
        </p:txBody>
      </p:sp>
      <p:sp>
        <p:nvSpPr>
          <p:cNvPr id="6" name="Text 4"/>
          <p:cNvSpPr txBox="1"/>
          <p:nvPr/>
        </p:nvSpPr>
        <p:spPr>
          <a:xfrm>
            <a:off x="914400" y="2834640"/>
            <a:ext cx="4663440" cy="822960"/>
          </a:xfrm>
          <a:prstGeom prst="rect">
            <a:avLst/>
          </a:prstGeom>
          <a:noFill/>
          <a:ln/>
        </p:spPr>
        <p:txBody>
          <a:bodyPr wrap="square" lIns="0" tIns="0" rIns="0" bIns="0" rtlCol="0" anchor="ctr"/>
          <a:lstStyle/>
          <a:p>
            <a:pPr indent="0" marL="0">
              <a:buNone/>
            </a:pPr>
            <a:r>
              <a:rPr lang="en-US" sz="4000" b="1" dirty="0">
                <a:solidFill>
                  <a:srgbClr val="C2410C"/>
                </a:solidFill>
                <a:latin typeface="Cambria" pitchFamily="34" charset="0"/>
                <a:ea typeface="Cambria" pitchFamily="34" charset="-122"/>
                <a:cs typeface="Cambria" pitchFamily="34" charset="-120"/>
              </a:rPr>
              <a:t>Teach.</a:t>
            </a:r>
            <a:endParaRPr lang="en-US" sz="4000" dirty="0"/>
          </a:p>
        </p:txBody>
      </p:sp>
      <p:sp>
        <p:nvSpPr>
          <p:cNvPr id="7" name="Text 5"/>
          <p:cNvSpPr txBox="1"/>
          <p:nvPr/>
        </p:nvSpPr>
        <p:spPr>
          <a:xfrm>
            <a:off x="914400" y="3749040"/>
            <a:ext cx="4663440" cy="1280160"/>
          </a:xfrm>
          <a:prstGeom prst="rect">
            <a:avLst/>
          </a:prstGeom>
          <a:noFill/>
          <a:ln/>
        </p:spPr>
        <p:txBody>
          <a:bodyPr wrap="square" lIns="0" tIns="0" rIns="0" bIns="0" rtlCol="0" anchor="ctr"/>
          <a:lstStyle/>
          <a:p>
            <a:pPr indent="0" marL="0">
              <a:buNone/>
            </a:pPr>
            <a:r>
              <a:rPr lang="en-US" sz="1600" dirty="0">
                <a:solidFill>
                  <a:srgbClr val="374151"/>
                </a:solidFill>
              </a:rPr>
              <a:t>Steer it for what it already knows. Let it read for what's new. Average to keep what it had.</a:t>
            </a:r>
            <a:endParaRPr lang="en-US" sz="1600" dirty="0"/>
          </a:p>
        </p:txBody>
      </p:sp>
      <p:sp>
        <p:nvSpPr>
          <p:cNvPr id="8" name="Shape 6"/>
          <p:cNvSpPr/>
          <p:nvPr/>
        </p:nvSpPr>
        <p:spPr>
          <a:xfrm>
            <a:off x="6355080" y="2286000"/>
            <a:ext cx="5212080" cy="3017520"/>
          </a:xfrm>
          <a:prstGeom prst="roundRect">
            <a:avLst>
              <a:gd name="adj" fmla="val 3636"/>
            </a:avLst>
          </a:prstGeom>
          <a:solidFill>
            <a:srgbClr val="F9FAFB"/>
          </a:solidFill>
          <a:ln w="12700">
            <a:solidFill>
              <a:srgbClr val="E5E7EB"/>
            </a:solidFill>
            <a:prstDash val="solid"/>
          </a:ln>
        </p:spPr>
      </p:sp>
      <p:sp>
        <p:nvSpPr>
          <p:cNvPr id="9" name="Text 7"/>
          <p:cNvSpPr txBox="1"/>
          <p:nvPr/>
        </p:nvSpPr>
        <p:spPr>
          <a:xfrm>
            <a:off x="6629400" y="2468880"/>
            <a:ext cx="4663440" cy="320040"/>
          </a:xfrm>
          <a:prstGeom prst="rect">
            <a:avLst/>
          </a:prstGeom>
          <a:noFill/>
          <a:ln/>
        </p:spPr>
        <p:txBody>
          <a:bodyPr wrap="square" lIns="0" tIns="0" rIns="0" bIns="0" rtlCol="0" anchor="ctr"/>
          <a:lstStyle/>
          <a:p>
            <a:pPr indent="0" marL="0">
              <a:buNone/>
            </a:pPr>
            <a:r>
              <a:rPr lang="en-US" sz="1200" b="1" spc="200" kern="0" dirty="0">
                <a:solidFill>
                  <a:srgbClr val="6B7280"/>
                </a:solidFill>
              </a:rPr>
              <a:t>DOES THE LANGUAGE MATTER?</a:t>
            </a:r>
            <a:endParaRPr lang="en-US" sz="1200" dirty="0"/>
          </a:p>
        </p:txBody>
      </p:sp>
      <p:sp>
        <p:nvSpPr>
          <p:cNvPr id="10" name="Text 8"/>
          <p:cNvSpPr txBox="1"/>
          <p:nvPr/>
        </p:nvSpPr>
        <p:spPr>
          <a:xfrm>
            <a:off x="6629400" y="2834640"/>
            <a:ext cx="4663440" cy="822960"/>
          </a:xfrm>
          <a:prstGeom prst="rect">
            <a:avLst/>
          </a:prstGeom>
          <a:noFill/>
          <a:ln/>
        </p:spPr>
        <p:txBody>
          <a:bodyPr wrap="square" lIns="0" tIns="0" rIns="0" bIns="0" rtlCol="0" anchor="ctr"/>
          <a:lstStyle/>
          <a:p>
            <a:pPr indent="0" marL="0">
              <a:buNone/>
            </a:pPr>
            <a:r>
              <a:rPr lang="en-US" sz="4000" b="1" dirty="0">
                <a:solidFill>
                  <a:srgbClr val="C2410C"/>
                </a:solidFill>
                <a:latin typeface="Cambria" pitchFamily="34" charset="0"/>
                <a:ea typeface="Cambria" pitchFamily="34" charset="-122"/>
                <a:cs typeface="Cambria" pitchFamily="34" charset="-120"/>
              </a:rPr>
              <a:t>Less than you'd think.</a:t>
            </a:r>
            <a:endParaRPr lang="en-US" sz="4000" dirty="0"/>
          </a:p>
        </p:txBody>
      </p:sp>
      <p:sp>
        <p:nvSpPr>
          <p:cNvPr id="11" name="Text 9"/>
          <p:cNvSpPr txBox="1"/>
          <p:nvPr/>
        </p:nvSpPr>
        <p:spPr>
          <a:xfrm>
            <a:off x="6629400" y="3749040"/>
            <a:ext cx="4663440" cy="1280160"/>
          </a:xfrm>
          <a:prstGeom prst="rect">
            <a:avLst/>
          </a:prstGeom>
          <a:noFill/>
          <a:ln/>
        </p:spPr>
        <p:txBody>
          <a:bodyPr wrap="square" lIns="0" tIns="0" rIns="0" bIns="0" rtlCol="0" anchor="ctr"/>
          <a:lstStyle/>
          <a:p>
            <a:pPr indent="0" marL="0">
              <a:buNone/>
            </a:pPr>
            <a:r>
              <a:rPr lang="en-US" sz="1600" dirty="0">
                <a:solidFill>
                  <a:srgbClr val="374151"/>
                </a:solidFill>
              </a:rPr>
              <a:t>Facts cross languages. Costs hide in the others. Test in all of them, then merge.</a:t>
            </a:r>
            <a:endParaRPr lang="en-US" sz="1600" dirty="0"/>
          </a:p>
        </p:txBody>
      </p:sp>
      <p:sp>
        <p:nvSpPr>
          <p:cNvPr id="12"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If new knowledge is a direction we can add, average, and steer: </a:t>
            </a:r>
            <a:pPr indent="0" marL="0">
              <a:buNone/>
            </a:pPr>
            <a:r>
              <a:rPr lang="en-US" sz="1800" b="1" i="1" dirty="0">
                <a:solidFill>
                  <a:srgbClr val="6B7280"/>
                </a:solidFill>
              </a:rPr>
              <a:t>do we ever need to retrain from scratch?</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14</a:t>
            </a:fld>
            <a:endParaRPr lang="en-US"/>
          </a:p>
        </p:txBody>
      </p:sp>
    </p:spTree>
  </p:cSld>
  <p:clrMapOvr>
    <a:masterClrMapping/>
  </p:clrMapOvr>
  <p:transition spd="med">
    <p:fade/>
  </p:transition>
</p:sld>
</file>

<file path=ppt/theme/theme1.xml><?xml version="1.0" encoding="utf-8"?>
<a:theme xmlns:a="http://schemas.openxmlformats.org/drawingml/2006/main" name="Retrain or teach">
  <a:themeElements>
    <a:clrScheme name="Retrain or teach">
      <a:dk1>
        <a:srgbClr val="111827"/>
      </a:dk1>
      <a:lt1>
        <a:srgbClr val="FFFFFF"/>
      </a:lt1>
      <a:dk2>
        <a:srgbClr val="374151"/>
      </a:dk2>
      <a:lt2>
        <a:srgbClr val="F9FAFB"/>
      </a:lt2>
      <a:accent1>
        <a:srgbClr val="C2410C"/>
      </a:accent1>
      <a:accent2>
        <a:srgbClr val="2563EB"/>
      </a:accent2>
      <a:accent3>
        <a:srgbClr val="D97706"/>
      </a:accent3>
      <a:accent4>
        <a:srgbClr val="7C3AED"/>
      </a:accent4>
      <a:accent5>
        <a:srgbClr val="9CA3AF"/>
      </a:accent5>
      <a:accent6>
        <a:srgbClr val="166534"/>
      </a:accent6>
      <a:hlink>
        <a:srgbClr val="2563EB"/>
      </a:hlink>
      <a:folHlink>
        <a:srgbClr val="7C3AED"/>
      </a:folHlink>
    </a:clrScheme>
    <a:fontScheme name="Retrain or tea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Retrain or teach? How AI learns after it's built. Does the language matter?</dc:title>
  <dc:subject>PptxGenJS Presentation</dc:subject>
  <dc:creator>Nitin Sharma</dc:creator>
  <cp:lastModifiedBy>Nitin Sharma</cp:lastModifiedBy>
  <cp:revision>1</cp:revision>
  <dcterms:created xsi:type="dcterms:W3CDTF">2026-10-19T10:24:25Z</dcterms:created>
  <dcterms:modified xsi:type="dcterms:W3CDTF">2026-10-19T10:24:25Z</dcterms:modified>
</cp:coreProperties>
</file>